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7556500" cy="10680700"/>
  <p:notesSz cx="7556500" cy="106807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1958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1017"/>
            <a:ext cx="6423025" cy="2242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1192"/>
            <a:ext cx="5289550" cy="2670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56561"/>
            <a:ext cx="3287077" cy="7049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56561"/>
            <a:ext cx="3287077" cy="7049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7228"/>
            <a:ext cx="6800850" cy="17089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56561"/>
            <a:ext cx="6800850" cy="7049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33051"/>
            <a:ext cx="2418080" cy="534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33051"/>
            <a:ext cx="1737995" cy="534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33051"/>
            <a:ext cx="1737995" cy="534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1285"/>
            <a:ext cx="3782060" cy="108458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2112645" marR="5080" indent="-58419">
              <a:lnSpc>
                <a:spcPts val="1380"/>
              </a:lnSpc>
              <a:spcBef>
                <a:spcPts val="195"/>
              </a:spcBef>
            </a:pPr>
            <a:r>
              <a:rPr sz="1200" b="1" spc="-10" dirty="0">
                <a:latin typeface="Times New Roman"/>
                <a:cs typeface="Times New Roman"/>
              </a:rPr>
              <a:t>SIMATS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ENGINEERING </a:t>
            </a:r>
            <a:r>
              <a:rPr sz="1200" b="1" dirty="0">
                <a:latin typeface="Times New Roman"/>
                <a:cs typeface="Times New Roman"/>
              </a:rPr>
              <a:t>ASSESSMENT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TOOL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5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12700" marR="733425">
              <a:lnSpc>
                <a:spcPts val="1380"/>
              </a:lnSpc>
            </a:pPr>
            <a:r>
              <a:rPr sz="1200" b="1" spc="-10" dirty="0">
                <a:latin typeface="Times New Roman"/>
                <a:cs typeface="Times New Roman"/>
              </a:rPr>
              <a:t>COURSE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NAME: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COMPUTER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NETWORKS </a:t>
            </a:r>
            <a:r>
              <a:rPr sz="1200" b="1" dirty="0">
                <a:latin typeface="Times New Roman"/>
                <a:cs typeface="Times New Roman"/>
              </a:rPr>
              <a:t>COURSE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CODE:</a:t>
            </a:r>
            <a:r>
              <a:rPr sz="1200" b="1" spc="-10" dirty="0">
                <a:latin typeface="Times New Roman"/>
                <a:cs typeface="Times New Roman"/>
              </a:rPr>
              <a:t> CSA0706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2468626"/>
            <a:ext cx="5588635" cy="1085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COURSE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OUTCOME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COVERED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</a:pPr>
            <a:r>
              <a:rPr sz="1200" b="1" i="1" dirty="0">
                <a:latin typeface="Times New Roman"/>
                <a:cs typeface="Times New Roman"/>
              </a:rPr>
              <a:t>CO2:</a:t>
            </a:r>
            <a:r>
              <a:rPr sz="1200" b="1" i="1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Configure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IP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addressing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schemes,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subnetting,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basic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routing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techniques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using </a:t>
            </a:r>
            <a:r>
              <a:rPr sz="1200" dirty="0">
                <a:latin typeface="Times New Roman"/>
                <a:cs typeface="Times New Roman"/>
              </a:rPr>
              <a:t>simulation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tool,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efficient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network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topology</a:t>
            </a:r>
            <a:r>
              <a:rPr sz="1200" i="1" dirty="0">
                <a:latin typeface="Times New Roman"/>
                <a:cs typeface="Times New Roman"/>
              </a:rPr>
              <a:t>.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(BL3)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1200" i="1" dirty="0">
                <a:latin typeface="Times New Roman"/>
                <a:cs typeface="Times New Roman"/>
              </a:rPr>
              <a:t>Assessment</a:t>
            </a:r>
            <a:r>
              <a:rPr sz="1200" i="1" spc="-1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Tool</a:t>
            </a:r>
            <a:r>
              <a:rPr sz="1200" i="1" spc="-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Weightage: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spc="-25" dirty="0">
                <a:latin typeface="Times New Roman"/>
                <a:cs typeface="Times New Roman"/>
              </a:rPr>
              <a:t>30%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4044823"/>
            <a:ext cx="9385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Dr.V.Parthipan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21991" y="4220083"/>
            <a:ext cx="2139315" cy="560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879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Annexure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1200" b="1" dirty="0">
                <a:latin typeface="Times New Roman"/>
                <a:cs typeface="Times New Roman"/>
              </a:rPr>
              <a:t>Debugging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&amp;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Optimisation</a:t>
            </a:r>
            <a:r>
              <a:rPr sz="1200" b="1" spc="-20" dirty="0">
                <a:latin typeface="Times New Roman"/>
                <a:cs typeface="Times New Roman"/>
              </a:rPr>
              <a:t> Task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19682" y="5805805"/>
            <a:ext cx="38100" cy="7620"/>
          </a:xfrm>
          <a:custGeom>
            <a:avLst/>
            <a:gdLst/>
            <a:ahLst/>
            <a:cxnLst/>
            <a:rect l="l" t="t" r="r" b="b"/>
            <a:pathLst>
              <a:path w="38100" h="7620">
                <a:moveTo>
                  <a:pt x="38100" y="0"/>
                </a:moveTo>
                <a:lnTo>
                  <a:pt x="0" y="0"/>
                </a:lnTo>
                <a:lnTo>
                  <a:pt x="0" y="7620"/>
                </a:lnTo>
                <a:lnTo>
                  <a:pt x="38100" y="762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02004" y="5271897"/>
            <a:ext cx="5612130" cy="1261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Times New Roman"/>
                <a:cs typeface="Times New Roman"/>
              </a:rPr>
              <a:t>Code</a:t>
            </a:r>
            <a:r>
              <a:rPr sz="1200" b="1" i="1" spc="-20" dirty="0">
                <a:latin typeface="Times New Roman"/>
                <a:cs typeface="Times New Roman"/>
              </a:rPr>
              <a:t> </a:t>
            </a:r>
            <a:r>
              <a:rPr sz="1200" b="1" i="1" dirty="0">
                <a:latin typeface="Times New Roman"/>
                <a:cs typeface="Times New Roman"/>
              </a:rPr>
              <a:t>of</a:t>
            </a:r>
            <a:r>
              <a:rPr sz="1200" b="1" i="1" spc="-20" dirty="0">
                <a:latin typeface="Times New Roman"/>
                <a:cs typeface="Times New Roman"/>
              </a:rPr>
              <a:t> </a:t>
            </a:r>
            <a:r>
              <a:rPr sz="1200" b="1" i="1" spc="-10" dirty="0">
                <a:latin typeface="Times New Roman"/>
                <a:cs typeface="Times New Roman"/>
              </a:rPr>
              <a:t>Conduct: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 marR="285750">
              <a:lnSpc>
                <a:spcPts val="1380"/>
              </a:lnSpc>
            </a:pPr>
            <a:r>
              <a:rPr lang="en-US" sz="1200" i="1" spc="85" dirty="0">
                <a:latin typeface="Times New Roman"/>
                <a:cs typeface="Times New Roman"/>
              </a:rPr>
              <a:t>GODDAVULA NITISH KANTH</a:t>
            </a:r>
            <a:r>
              <a:rPr sz="1200" i="1" spc="8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(192</a:t>
            </a:r>
            <a:r>
              <a:rPr lang="en-US" sz="1200" i="1" dirty="0">
                <a:latin typeface="Times New Roman"/>
                <a:cs typeface="Times New Roman"/>
              </a:rPr>
              <a:t>512232</a:t>
            </a:r>
            <a:r>
              <a:rPr sz="1200" i="1" dirty="0">
                <a:latin typeface="Times New Roman"/>
                <a:cs typeface="Times New Roman"/>
              </a:rPr>
              <a:t>)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certify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that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this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submission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is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my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original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work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that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spc="-20" dirty="0">
                <a:latin typeface="Times New Roman"/>
                <a:cs typeface="Times New Roman"/>
              </a:rPr>
              <a:t>have </a:t>
            </a:r>
            <a:r>
              <a:rPr sz="1200" i="1" dirty="0">
                <a:latin typeface="Times New Roman"/>
                <a:cs typeface="Times New Roman"/>
              </a:rPr>
              <a:t>adhered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to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guidelines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specified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for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this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assessment.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ts val="1345"/>
              </a:lnSpc>
            </a:pPr>
            <a:r>
              <a:rPr sz="1200" i="1" dirty="0">
                <a:latin typeface="Times New Roman"/>
                <a:cs typeface="Times New Roman"/>
              </a:rPr>
              <a:t>I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understand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that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any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violation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of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academic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integrity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rules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will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result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disciplinary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action.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200" b="1" i="1" dirty="0">
                <a:latin typeface="Times New Roman"/>
                <a:cs typeface="Times New Roman"/>
              </a:rPr>
              <a:t>Signature</a:t>
            </a:r>
            <a:r>
              <a:rPr sz="1200" b="1" i="1" spc="-30" dirty="0">
                <a:latin typeface="Times New Roman"/>
                <a:cs typeface="Times New Roman"/>
              </a:rPr>
              <a:t> </a:t>
            </a:r>
            <a:r>
              <a:rPr sz="1200" b="1" i="1" dirty="0">
                <a:latin typeface="Times New Roman"/>
                <a:cs typeface="Times New Roman"/>
              </a:rPr>
              <a:t>of</a:t>
            </a:r>
            <a:r>
              <a:rPr sz="1200" b="1" i="1" spc="-20" dirty="0">
                <a:latin typeface="Times New Roman"/>
                <a:cs typeface="Times New Roman"/>
              </a:rPr>
              <a:t> </a:t>
            </a:r>
            <a:r>
              <a:rPr sz="1200" b="1" i="1" dirty="0">
                <a:latin typeface="Times New Roman"/>
                <a:cs typeface="Times New Roman"/>
              </a:rPr>
              <a:t>the</a:t>
            </a:r>
            <a:r>
              <a:rPr sz="1200" b="1" i="1" spc="-30" dirty="0">
                <a:latin typeface="Times New Roman"/>
                <a:cs typeface="Times New Roman"/>
              </a:rPr>
              <a:t> </a:t>
            </a:r>
            <a:r>
              <a:rPr sz="1200" b="1" i="1" spc="-10" dirty="0">
                <a:latin typeface="Times New Roman"/>
                <a:cs typeface="Times New Roman"/>
              </a:rPr>
              <a:t>student</a:t>
            </a:r>
            <a:r>
              <a:rPr sz="1200" b="1" i="1" spc="-40" dirty="0">
                <a:latin typeface="Times New Roman"/>
                <a:cs typeface="Times New Roman"/>
              </a:rPr>
              <a:t> </a:t>
            </a:r>
            <a:r>
              <a:rPr sz="1200" b="1" i="1" dirty="0">
                <a:latin typeface="Times New Roman"/>
                <a:cs typeface="Times New Roman"/>
              </a:rPr>
              <a:t>:</a:t>
            </a:r>
            <a:r>
              <a:rPr lang="en-US" sz="1200" b="1" i="1" dirty="0">
                <a:latin typeface="Times New Roman"/>
                <a:cs typeface="Times New Roman"/>
              </a:rPr>
              <a:t>G . Nitish Kanth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3152" y="891285"/>
            <a:ext cx="5747385" cy="77793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69900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Annexure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  <a:p>
            <a:pPr marR="33655" algn="ctr">
              <a:lnSpc>
                <a:spcPct val="100000"/>
              </a:lnSpc>
              <a:spcBef>
                <a:spcPts val="1320"/>
              </a:spcBef>
            </a:pPr>
            <a:r>
              <a:rPr sz="1200" b="1" dirty="0">
                <a:latin typeface="Times New Roman"/>
                <a:cs typeface="Times New Roman"/>
              </a:rPr>
              <a:t>Debugging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&amp;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Optimisation</a:t>
            </a:r>
            <a:r>
              <a:rPr sz="1200" b="1" spc="-20" dirty="0">
                <a:latin typeface="Times New Roman"/>
                <a:cs typeface="Times New Roman"/>
              </a:rPr>
              <a:t> Task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 marR="7620" indent="-228600" algn="just">
              <a:lnSpc>
                <a:spcPct val="95900"/>
              </a:lnSpc>
              <a:buAutoNum type="arabicPeriod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rapidly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growing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company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shifted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operations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newly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constructed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six-</a:t>
            </a:r>
            <a:r>
              <a:rPr sz="1200" spc="-10" dirty="0">
                <a:latin typeface="Times New Roman"/>
                <a:cs typeface="Times New Roman"/>
              </a:rPr>
              <a:t>storey </a:t>
            </a:r>
            <a:r>
              <a:rPr sz="1200" dirty="0">
                <a:latin typeface="Times New Roman"/>
                <a:cs typeface="Times New Roman"/>
              </a:rPr>
              <a:t>smart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office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building.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1,200</a:t>
            </a:r>
            <a:r>
              <a:rPr sz="1200" b="1" spc="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employees</a:t>
            </a:r>
            <a:r>
              <a:rPr sz="1200" b="1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wireless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laptops,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smartphones,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IP </a:t>
            </a:r>
            <a:r>
              <a:rPr sz="1200" dirty="0">
                <a:latin typeface="Times New Roman"/>
                <a:cs typeface="Times New Roman"/>
              </a:rPr>
              <a:t>phones,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printers,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IoT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devices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connected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company's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Wireless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Local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Area </a:t>
            </a:r>
            <a:r>
              <a:rPr sz="1200" b="1" dirty="0">
                <a:latin typeface="Times New Roman"/>
                <a:cs typeface="Times New Roman"/>
              </a:rPr>
              <a:t>Network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(WLAN)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office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relies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heavily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cloud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computing,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online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meetings,</a:t>
            </a:r>
            <a:r>
              <a:rPr sz="1200" spc="-10" dirty="0">
                <a:latin typeface="Times New Roman"/>
                <a:cs typeface="Times New Roman"/>
              </a:rPr>
              <a:t> video </a:t>
            </a:r>
            <a:r>
              <a:rPr sz="1200" dirty="0">
                <a:latin typeface="Times New Roman"/>
                <a:cs typeface="Times New Roman"/>
              </a:rPr>
              <a:t>conferencing,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sharing,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making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uninterrupted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wireless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connectivity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essential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for </a:t>
            </a:r>
            <a:r>
              <a:rPr sz="1200" dirty="0">
                <a:latin typeface="Times New Roman"/>
                <a:cs typeface="Times New Roman"/>
              </a:rPr>
              <a:t>daily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operations.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addition,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company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team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field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engineers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sales executives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who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travel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across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different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cities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4G/5G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Wireless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Wide</a:t>
            </a:r>
            <a:r>
              <a:rPr sz="1200" b="1" spc="-6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Area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Network </a:t>
            </a:r>
            <a:r>
              <a:rPr sz="1200" b="1" dirty="0">
                <a:latin typeface="Times New Roman"/>
                <a:cs typeface="Times New Roman"/>
              </a:rPr>
              <a:t>(WWAN)</a:t>
            </a:r>
            <a:r>
              <a:rPr sz="1200" b="1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services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company's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servers,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customer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databases,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business applications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remote</a:t>
            </a:r>
            <a:r>
              <a:rPr sz="1200" spc="-10" dirty="0">
                <a:latin typeface="Times New Roman"/>
                <a:cs typeface="Times New Roman"/>
              </a:rPr>
              <a:t> locations.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241300" marR="5080" algn="just">
              <a:lnSpc>
                <a:spcPct val="95800"/>
              </a:lnSpc>
            </a:pPr>
            <a:r>
              <a:rPr sz="1200" dirty="0">
                <a:latin typeface="Times New Roman"/>
                <a:cs typeface="Times New Roman"/>
              </a:rPr>
              <a:t>During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last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few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weeks,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employees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have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reported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several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connectivity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issues.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Users experience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slow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internet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speeds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during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peak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hours,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frequent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Wi-</a:t>
            </a:r>
            <a:r>
              <a:rPr sz="1200" dirty="0">
                <a:latin typeface="Times New Roman"/>
                <a:cs typeface="Times New Roman"/>
              </a:rPr>
              <a:t>Fi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disconnections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moving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floors,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weak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wireless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signals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conference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rooms.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Video </a:t>
            </a:r>
            <a:r>
              <a:rPr sz="1200" dirty="0">
                <a:latin typeface="Times New Roman"/>
                <a:cs typeface="Times New Roman"/>
              </a:rPr>
              <a:t>conferencing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applications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often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freeze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disconnect,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affecting</a:t>
            </a:r>
            <a:r>
              <a:rPr sz="1200" spc="3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communication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with </a:t>
            </a:r>
            <a:r>
              <a:rPr sz="1200" spc="-10" dirty="0">
                <a:latin typeface="Times New Roman"/>
                <a:cs typeface="Times New Roman"/>
              </a:rPr>
              <a:t>international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clients.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Network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administrators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also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observed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some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wireless</a:t>
            </a:r>
            <a:r>
              <a:rPr sz="1200" spc="-10" dirty="0">
                <a:latin typeface="Times New Roman"/>
                <a:cs typeface="Times New Roman"/>
              </a:rPr>
              <a:t> access </a:t>
            </a:r>
            <a:r>
              <a:rPr sz="1200" dirty="0">
                <a:latin typeface="Times New Roman"/>
                <a:cs typeface="Times New Roman"/>
              </a:rPr>
              <a:t>points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overloaded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others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remain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underutilized,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leading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uneven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traffic </a:t>
            </a:r>
            <a:r>
              <a:rPr sz="1200" dirty="0">
                <a:latin typeface="Times New Roman"/>
                <a:cs typeface="Times New Roman"/>
              </a:rPr>
              <a:t>distribution.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Furthermore,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field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engineers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working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rural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highway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areas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frequently </a:t>
            </a:r>
            <a:r>
              <a:rPr sz="1200" dirty="0">
                <a:latin typeface="Times New Roman"/>
                <a:cs typeface="Times New Roman"/>
              </a:rPr>
              <a:t>lose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WWAN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connectivity,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delaying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upload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maintenance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reports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customer </a:t>
            </a:r>
            <a:r>
              <a:rPr sz="1200" dirty="0">
                <a:latin typeface="Times New Roman"/>
                <a:cs typeface="Times New Roman"/>
              </a:rPr>
              <a:t>information.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Security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audits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reveal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few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wireless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devices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still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connected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using </a:t>
            </a:r>
            <a:r>
              <a:rPr sz="1200" dirty="0">
                <a:latin typeface="Times New Roman"/>
                <a:cs typeface="Times New Roman"/>
              </a:rPr>
              <a:t>outdated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security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protocols,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exposing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sensitive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company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information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potential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cyber </a:t>
            </a:r>
            <a:r>
              <a:rPr sz="1200" dirty="0">
                <a:latin typeface="Times New Roman"/>
                <a:cs typeface="Times New Roman"/>
              </a:rPr>
              <a:t>threats.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management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requested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network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engineering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team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investigate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these </a:t>
            </a:r>
            <a:r>
              <a:rPr sz="1200" dirty="0">
                <a:latin typeface="Times New Roman"/>
                <a:cs typeface="Times New Roman"/>
              </a:rPr>
              <a:t>issues,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identify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root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causes,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optimize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both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WLAN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WWAN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infrastructure to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ensure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high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performance,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secure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communication,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seamless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connectivity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all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users.</a:t>
            </a: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20"/>
              </a:spcBef>
            </a:pPr>
            <a:r>
              <a:rPr sz="1200" spc="-20" dirty="0">
                <a:latin typeface="Times New Roman"/>
                <a:cs typeface="Times New Roman"/>
              </a:rPr>
              <a:t>ANS:</a:t>
            </a: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10"/>
              </a:spcBef>
            </a:pPr>
            <a:r>
              <a:rPr sz="1400" b="1" dirty="0">
                <a:latin typeface="Times New Roman"/>
                <a:cs typeface="Times New Roman"/>
              </a:rPr>
              <a:t>WLAN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WWAN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Debugging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&amp;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Optimization</a:t>
            </a:r>
            <a:endParaRPr sz="1400">
              <a:latin typeface="Times New Roman"/>
              <a:cs typeface="Times New Roman"/>
            </a:endParaRPr>
          </a:p>
          <a:p>
            <a:pPr marL="469265" lvl="1" indent="-227965">
              <a:lnSpc>
                <a:spcPct val="100000"/>
              </a:lnSpc>
              <a:spcBef>
                <a:spcPts val="1315"/>
              </a:spcBef>
              <a:buAutoNum type="arabicPeriod"/>
              <a:tabLst>
                <a:tab pos="469265" algn="l"/>
              </a:tabLst>
            </a:pPr>
            <a:r>
              <a:rPr sz="1200" b="1" dirty="0">
                <a:latin typeface="Times New Roman"/>
                <a:cs typeface="Times New Roman"/>
              </a:rPr>
              <a:t>Problem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Identification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 marR="889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company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1,200</a:t>
            </a:r>
            <a:r>
              <a:rPr sz="1200" b="1" spc="3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employees</a:t>
            </a:r>
            <a:r>
              <a:rPr sz="1200" b="1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3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WLAN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WWAN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services.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following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issues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identified:</a:t>
            </a:r>
            <a:endParaRPr sz="1200">
              <a:latin typeface="Times New Roman"/>
              <a:cs typeface="Times New Roman"/>
            </a:endParaRPr>
          </a:p>
          <a:p>
            <a:pPr marL="323215" indent="-228600">
              <a:lnSpc>
                <a:spcPts val="1315"/>
              </a:lnSpc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dirty="0">
                <a:latin typeface="Times New Roman"/>
                <a:cs typeface="Times New Roman"/>
              </a:rPr>
              <a:t>Slow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internet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during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peak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hours.</a:t>
            </a:r>
            <a:endParaRPr sz="1200">
              <a:latin typeface="Times New Roman"/>
              <a:cs typeface="Times New Roman"/>
            </a:endParaRPr>
          </a:p>
          <a:p>
            <a:pPr marL="323215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dirty="0">
                <a:latin typeface="Times New Roman"/>
                <a:cs typeface="Times New Roman"/>
              </a:rPr>
              <a:t>Frequent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Wi-</a:t>
            </a:r>
            <a:r>
              <a:rPr sz="1200" dirty="0">
                <a:latin typeface="Times New Roman"/>
                <a:cs typeface="Times New Roman"/>
              </a:rPr>
              <a:t>Fi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disconnections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moving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floors.</a:t>
            </a:r>
            <a:endParaRPr sz="1200">
              <a:latin typeface="Times New Roman"/>
              <a:cs typeface="Times New Roman"/>
            </a:endParaRPr>
          </a:p>
          <a:p>
            <a:pPr marL="323215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dirty="0">
                <a:latin typeface="Times New Roman"/>
                <a:cs typeface="Times New Roman"/>
              </a:rPr>
              <a:t>Weak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wireless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conference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rooms.</a:t>
            </a:r>
            <a:endParaRPr sz="1200">
              <a:latin typeface="Times New Roman"/>
              <a:cs typeface="Times New Roman"/>
            </a:endParaRPr>
          </a:p>
          <a:p>
            <a:pPr marL="323215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dirty="0">
                <a:latin typeface="Times New Roman"/>
                <a:cs typeface="Times New Roman"/>
              </a:rPr>
              <a:t>Video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conferencing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freezes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packet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loss.</a:t>
            </a:r>
            <a:endParaRPr sz="1200">
              <a:latin typeface="Times New Roman"/>
              <a:cs typeface="Times New Roman"/>
            </a:endParaRPr>
          </a:p>
          <a:p>
            <a:pPr marL="323215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dirty="0">
                <a:latin typeface="Times New Roman"/>
                <a:cs typeface="Times New Roman"/>
              </a:rPr>
              <a:t>Some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Points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(APs)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overloaded.</a:t>
            </a:r>
            <a:endParaRPr sz="1200">
              <a:latin typeface="Times New Roman"/>
              <a:cs typeface="Times New Roman"/>
            </a:endParaRPr>
          </a:p>
          <a:p>
            <a:pPr marL="323215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dirty="0">
                <a:latin typeface="Times New Roman"/>
                <a:cs typeface="Times New Roman"/>
              </a:rPr>
              <a:t>Field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engineers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lose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WWAN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connectivity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rural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areas.</a:t>
            </a:r>
            <a:endParaRPr sz="1200">
              <a:latin typeface="Times New Roman"/>
              <a:cs typeface="Times New Roman"/>
            </a:endParaRPr>
          </a:p>
          <a:p>
            <a:pPr marL="323215" indent="-228600">
              <a:lnSpc>
                <a:spcPts val="1410"/>
              </a:lnSpc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few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devices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still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outdated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security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protocols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(WEP/WPA).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1752" y="8791194"/>
            <a:ext cx="1515110" cy="150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 marR="5080" indent="-29209">
              <a:lnSpc>
                <a:spcPct val="1117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2.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Root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Cause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Analysis Problem</a:t>
            </a:r>
            <a:endParaRPr sz="1200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  <a:spcBef>
                <a:spcPts val="240"/>
              </a:spcBef>
            </a:pPr>
            <a:r>
              <a:rPr sz="1200" dirty="0">
                <a:latin typeface="Times New Roman"/>
                <a:cs typeface="Times New Roman"/>
              </a:rPr>
              <a:t>Slow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Internet</a:t>
            </a:r>
            <a:endParaRPr sz="1200">
              <a:latin typeface="Times New Roman"/>
              <a:cs typeface="Times New Roman"/>
            </a:endParaRPr>
          </a:p>
          <a:p>
            <a:pPr marL="41275" marR="184150">
              <a:lnSpc>
                <a:spcPts val="1680"/>
              </a:lnSpc>
              <a:spcBef>
                <a:spcPts val="95"/>
              </a:spcBef>
            </a:pPr>
            <a:r>
              <a:rPr sz="1200" spc="-10" dirty="0">
                <a:latin typeface="Times New Roman"/>
                <a:cs typeface="Times New Roman"/>
              </a:rPr>
              <a:t>Wi-</a:t>
            </a:r>
            <a:r>
              <a:rPr sz="1200" dirty="0">
                <a:latin typeface="Times New Roman"/>
                <a:cs typeface="Times New Roman"/>
              </a:rPr>
              <a:t>Fi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Disconnection </a:t>
            </a:r>
            <a:r>
              <a:rPr sz="1200" dirty="0">
                <a:latin typeface="Times New Roman"/>
                <a:cs typeface="Times New Roman"/>
              </a:rPr>
              <a:t>Weak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Signal</a:t>
            </a:r>
            <a:endParaRPr sz="1200">
              <a:latin typeface="Times New Roman"/>
              <a:cs typeface="Times New Roman"/>
            </a:endParaRPr>
          </a:p>
          <a:p>
            <a:pPr marL="41275" marR="391160">
              <a:lnSpc>
                <a:spcPts val="1680"/>
              </a:lnSpc>
            </a:pPr>
            <a:r>
              <a:rPr sz="1200" dirty="0">
                <a:latin typeface="Times New Roman"/>
                <a:cs typeface="Times New Roman"/>
              </a:rPr>
              <a:t>Video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Call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Issues </a:t>
            </a:r>
            <a:r>
              <a:rPr sz="1200" dirty="0">
                <a:latin typeface="Times New Roman"/>
                <a:cs typeface="Times New Roman"/>
              </a:rPr>
              <a:t>WWAN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Failure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68879" y="8986266"/>
            <a:ext cx="2600960" cy="130619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200" b="1" dirty="0">
                <a:latin typeface="Times New Roman"/>
                <a:cs typeface="Times New Roman"/>
              </a:rPr>
              <a:t>Root</a:t>
            </a:r>
            <a:r>
              <a:rPr sz="1200" b="1" spc="-20" dirty="0">
                <a:latin typeface="Times New Roman"/>
                <a:cs typeface="Times New Roman"/>
              </a:rPr>
              <a:t> Cause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16599"/>
              </a:lnSpc>
            </a:pPr>
            <a:r>
              <a:rPr sz="1200" dirty="0">
                <a:latin typeface="Times New Roman"/>
                <a:cs typeface="Times New Roman"/>
              </a:rPr>
              <a:t>Overloaded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Points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traffic </a:t>
            </a:r>
            <a:r>
              <a:rPr sz="1200" dirty="0">
                <a:latin typeface="Times New Roman"/>
                <a:cs typeface="Times New Roman"/>
              </a:rPr>
              <a:t>Improper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roaming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configuration</a:t>
            </a:r>
            <a:endParaRPr sz="1200">
              <a:latin typeface="Times New Roman"/>
              <a:cs typeface="Times New Roman"/>
            </a:endParaRPr>
          </a:p>
          <a:p>
            <a:pPr marL="12700" marR="125730">
              <a:lnSpc>
                <a:spcPct val="116700"/>
              </a:lnSpc>
            </a:pPr>
            <a:r>
              <a:rPr sz="1200" dirty="0">
                <a:latin typeface="Times New Roman"/>
                <a:cs typeface="Times New Roman"/>
              </a:rPr>
              <a:t>Poor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placement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interference </a:t>
            </a:r>
            <a:r>
              <a:rPr sz="1200" dirty="0">
                <a:latin typeface="Times New Roman"/>
                <a:cs typeface="Times New Roman"/>
              </a:rPr>
              <a:t>High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latency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insufficient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bandwidth </a:t>
            </a:r>
            <a:r>
              <a:rPr sz="1200" dirty="0">
                <a:latin typeface="Times New Roman"/>
                <a:cs typeface="Times New Roman"/>
              </a:rPr>
              <a:t>Weak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4G/5G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coverage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0708" y="851662"/>
            <a:ext cx="850900" cy="45212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200" b="1" spc="-10" dirty="0">
                <a:latin typeface="Times New Roman"/>
                <a:cs typeface="Times New Roman"/>
              </a:rPr>
              <a:t>Problem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200" dirty="0">
                <a:latin typeface="Times New Roman"/>
                <a:cs typeface="Times New Roman"/>
              </a:rPr>
              <a:t>Security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Risk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68879" y="851662"/>
            <a:ext cx="2285365" cy="45212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200" b="1" dirty="0">
                <a:latin typeface="Times New Roman"/>
                <a:cs typeface="Times New Roman"/>
              </a:rPr>
              <a:t>Root</a:t>
            </a:r>
            <a:r>
              <a:rPr sz="1200" b="1" spc="-20" dirty="0">
                <a:latin typeface="Times New Roman"/>
                <a:cs typeface="Times New Roman"/>
              </a:rPr>
              <a:t> Cause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outdated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encryption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protocols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5448" y="1471930"/>
            <a:ext cx="5660390" cy="8916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0">
              <a:lnSpc>
                <a:spcPts val="1655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3.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Debugging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Steps</a:t>
            </a:r>
            <a:endParaRPr sz="1400">
              <a:latin typeface="Times New Roman"/>
              <a:cs typeface="Times New Roman"/>
            </a:endParaRPr>
          </a:p>
          <a:p>
            <a:pPr marL="241300" indent="-228600">
              <a:lnSpc>
                <a:spcPts val="1385"/>
              </a:lnSpc>
              <a:buAutoNum type="arabicPeriod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Perform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Wi-</a:t>
            </a:r>
            <a:r>
              <a:rPr sz="1200" dirty="0">
                <a:latin typeface="Times New Roman"/>
                <a:cs typeface="Times New Roman"/>
              </a:rPr>
              <a:t>Fi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site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survey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detect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weak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signal</a:t>
            </a:r>
            <a:r>
              <a:rPr sz="1200" spc="-10" dirty="0">
                <a:latin typeface="Times New Roman"/>
                <a:cs typeface="Times New Roman"/>
              </a:rPr>
              <a:t> areas.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ts val="1380"/>
              </a:lnSpc>
              <a:buAutoNum type="arabicPeriod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Check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connected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Point.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ts val="1380"/>
              </a:lnSpc>
              <a:buAutoNum type="arabicPeriod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Analyse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channel</a:t>
            </a:r>
            <a:r>
              <a:rPr sz="1200" spc="-10" dirty="0">
                <a:latin typeface="Times New Roman"/>
                <a:cs typeface="Times New Roman"/>
              </a:rPr>
              <a:t> interference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Wi-</a:t>
            </a:r>
            <a:r>
              <a:rPr sz="1200" dirty="0">
                <a:latin typeface="Times New Roman"/>
                <a:cs typeface="Times New Roman"/>
              </a:rPr>
              <a:t>Fi </a:t>
            </a:r>
            <a:r>
              <a:rPr sz="1200" spc="-10" dirty="0">
                <a:latin typeface="Times New Roman"/>
                <a:cs typeface="Times New Roman"/>
              </a:rPr>
              <a:t>analyser.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ts val="1380"/>
              </a:lnSpc>
              <a:buAutoNum type="arabicPeriod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Test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roaming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floors.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ts val="1380"/>
              </a:lnSpc>
              <a:buAutoNum type="arabicPeriod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Measure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WWAN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strength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remote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locations.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ts val="1380"/>
              </a:lnSpc>
              <a:buAutoNum type="arabicPeriod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Verify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wireless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security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settings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(WEP/WPA/WPA2/WPA3).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ts val="1410"/>
              </a:lnSpc>
              <a:buAutoNum type="arabicPeriod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Monitor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bandwidth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usage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during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peak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hours.</a:t>
            </a:r>
            <a:endParaRPr sz="1200">
              <a:latin typeface="Times New Roman"/>
              <a:cs typeface="Times New Roman"/>
            </a:endParaRPr>
          </a:p>
          <a:p>
            <a:pPr marL="158750">
              <a:lnSpc>
                <a:spcPts val="1650"/>
              </a:lnSpc>
              <a:spcBef>
                <a:spcPts val="1315"/>
              </a:spcBef>
            </a:pPr>
            <a:r>
              <a:rPr sz="1400" b="1" dirty="0">
                <a:latin typeface="Times New Roman"/>
                <a:cs typeface="Times New Roman"/>
              </a:rPr>
              <a:t>4.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Optimization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Techniques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380"/>
              </a:lnSpc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sz="1200" dirty="0">
                <a:latin typeface="Times New Roman"/>
                <a:cs typeface="Times New Roman"/>
              </a:rPr>
              <a:t>Install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additional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Points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crowded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areas.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ts val="1380"/>
              </a:lnSpc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sz="1200" dirty="0">
                <a:latin typeface="Times New Roman"/>
                <a:cs typeface="Times New Roman"/>
              </a:rPr>
              <a:t>Enable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Load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Balancing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distribute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evenly.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ts val="1380"/>
              </a:lnSpc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sz="1200" dirty="0">
                <a:latin typeface="Times New Roman"/>
                <a:cs typeface="Times New Roman"/>
              </a:rPr>
              <a:t>Configure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IEEE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802.11r,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802.11k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802.11v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fast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roaming.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ts val="1380"/>
              </a:lnSpc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non-</a:t>
            </a:r>
            <a:r>
              <a:rPr sz="1200" dirty="0">
                <a:latin typeface="Times New Roman"/>
                <a:cs typeface="Times New Roman"/>
              </a:rPr>
              <a:t>overlapping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Wi-</a:t>
            </a:r>
            <a:r>
              <a:rPr sz="1200" dirty="0">
                <a:latin typeface="Times New Roman"/>
                <a:cs typeface="Times New Roman"/>
              </a:rPr>
              <a:t>Fi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channels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(1,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6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11).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ts val="1380"/>
              </a:lnSpc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sz="1200" dirty="0">
                <a:latin typeface="Times New Roman"/>
                <a:cs typeface="Times New Roman"/>
              </a:rPr>
              <a:t>Upgrade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security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WEP/WPA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WPA3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ts val="1380"/>
              </a:lnSpc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sz="1200" dirty="0">
                <a:latin typeface="Times New Roman"/>
                <a:cs typeface="Times New Roman"/>
              </a:rPr>
              <a:t>Configure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Quality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Service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(QoS)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prioritise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VoIP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video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conferencing.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ts val="1410"/>
              </a:lnSpc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sz="1200" dirty="0">
                <a:latin typeface="Times New Roman"/>
                <a:cs typeface="Times New Roman"/>
              </a:rPr>
              <a:t>Improve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WWAN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automatic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carrier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selection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dual-</a:t>
            </a:r>
            <a:r>
              <a:rPr sz="1200" dirty="0">
                <a:latin typeface="Times New Roman"/>
                <a:cs typeface="Times New Roman"/>
              </a:rPr>
              <a:t>SIM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failover.</a:t>
            </a:r>
            <a:endParaRPr sz="1200">
              <a:latin typeface="Times New Roman"/>
              <a:cs typeface="Times New Roman"/>
            </a:endParaRPr>
          </a:p>
          <a:p>
            <a:pPr marL="335915" lvl="1" indent="-177165" algn="just">
              <a:lnSpc>
                <a:spcPts val="1650"/>
              </a:lnSpc>
              <a:spcBef>
                <a:spcPts val="1315"/>
              </a:spcBef>
              <a:buAutoNum type="arabicPeriod" startAt="5"/>
              <a:tabLst>
                <a:tab pos="335915" algn="l"/>
              </a:tabLst>
            </a:pPr>
            <a:r>
              <a:rPr sz="1400" b="1" spc="-10" dirty="0">
                <a:latin typeface="Times New Roman"/>
                <a:cs typeface="Times New Roman"/>
              </a:rPr>
              <a:t>Analysis</a:t>
            </a:r>
            <a:endParaRPr sz="1400">
              <a:latin typeface="Times New Roman"/>
              <a:cs typeface="Times New Roman"/>
            </a:endParaRPr>
          </a:p>
          <a:p>
            <a:pPr marL="158750" marR="5080" algn="just">
              <a:lnSpc>
                <a:spcPct val="95900"/>
              </a:lnSpc>
              <a:spcBef>
                <a:spcPts val="25"/>
              </a:spcBef>
            </a:pPr>
            <a:r>
              <a:rPr sz="1200" dirty="0">
                <a:latin typeface="Times New Roman"/>
                <a:cs typeface="Times New Roman"/>
              </a:rPr>
              <a:t>After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debugging,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found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network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congestion,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poor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roaming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configuration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weak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signal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coverage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reasons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performance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degradation.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Implementing </a:t>
            </a:r>
            <a:r>
              <a:rPr sz="1200" dirty="0">
                <a:latin typeface="Times New Roman"/>
                <a:cs typeface="Times New Roman"/>
              </a:rPr>
              <a:t>additional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Points,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load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balancing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QoS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significantly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improves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throughput. </a:t>
            </a:r>
            <a:r>
              <a:rPr sz="1200" dirty="0">
                <a:latin typeface="Times New Roman"/>
                <a:cs typeface="Times New Roman"/>
              </a:rPr>
              <a:t>WPA3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better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security,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WWAN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optimisation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reliable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connectivity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field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engineers.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z="1200">
              <a:latin typeface="Times New Roman"/>
              <a:cs typeface="Times New Roman"/>
            </a:endParaRPr>
          </a:p>
          <a:p>
            <a:pPr marL="335915" lvl="1" indent="-177165" algn="just">
              <a:lnSpc>
                <a:spcPct val="100000"/>
              </a:lnSpc>
              <a:buAutoNum type="arabicPeriod" startAt="6"/>
              <a:tabLst>
                <a:tab pos="335915" algn="l"/>
              </a:tabLst>
            </a:pPr>
            <a:r>
              <a:rPr sz="1400" b="1" dirty="0">
                <a:latin typeface="Times New Roman"/>
                <a:cs typeface="Times New Roman"/>
              </a:rPr>
              <a:t>Sample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Pseudocode</a:t>
            </a:r>
            <a:endParaRPr sz="1400">
              <a:latin typeface="Times New Roman"/>
              <a:cs typeface="Times New Roman"/>
            </a:endParaRPr>
          </a:p>
          <a:p>
            <a:pPr marL="158750">
              <a:lnSpc>
                <a:spcPct val="100000"/>
              </a:lnSpc>
              <a:spcBef>
                <a:spcPts val="1315"/>
              </a:spcBef>
            </a:pPr>
            <a:r>
              <a:rPr sz="1200" spc="-10" dirty="0">
                <a:latin typeface="Times New Roman"/>
                <a:cs typeface="Times New Roman"/>
              </a:rPr>
              <a:t>START</a:t>
            </a:r>
            <a:endParaRPr sz="1200">
              <a:latin typeface="Times New Roman"/>
              <a:cs typeface="Times New Roman"/>
            </a:endParaRPr>
          </a:p>
          <a:p>
            <a:pPr marL="158750" marR="3825875">
              <a:lnSpc>
                <a:spcPct val="191700"/>
              </a:lnSpc>
            </a:pPr>
            <a:r>
              <a:rPr sz="1200" dirty="0">
                <a:latin typeface="Times New Roman"/>
                <a:cs typeface="Times New Roman"/>
              </a:rPr>
              <a:t>Check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Point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Load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overloaded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THEN</a:t>
            </a:r>
            <a:endParaRPr sz="1200">
              <a:latin typeface="Times New Roman"/>
              <a:cs typeface="Times New Roman"/>
            </a:endParaRPr>
          </a:p>
          <a:p>
            <a:pPr marL="158750" marR="3910329" indent="151765">
              <a:lnSpc>
                <a:spcPts val="1380"/>
              </a:lnSpc>
              <a:spcBef>
                <a:spcPts val="35"/>
              </a:spcBef>
            </a:pPr>
            <a:r>
              <a:rPr sz="1200" dirty="0">
                <a:latin typeface="Times New Roman"/>
                <a:cs typeface="Times New Roman"/>
              </a:rPr>
              <a:t>Enable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Load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Balancing ENDIF</a:t>
            </a:r>
            <a:endParaRPr sz="1200">
              <a:latin typeface="Times New Roman"/>
              <a:cs typeface="Times New Roman"/>
            </a:endParaRPr>
          </a:p>
          <a:p>
            <a:pPr marL="158750">
              <a:lnSpc>
                <a:spcPct val="100000"/>
              </a:lnSpc>
              <a:spcBef>
                <a:spcPts val="1285"/>
              </a:spcBef>
            </a:pPr>
            <a:r>
              <a:rPr sz="1200" dirty="0">
                <a:latin typeface="Times New Roman"/>
                <a:cs typeface="Times New Roman"/>
              </a:rPr>
              <a:t>Check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Strength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imes New Roman"/>
              <a:cs typeface="Times New Roman"/>
            </a:endParaRPr>
          </a:p>
          <a:p>
            <a:pPr marL="311150" marR="3705860" indent="-152400">
              <a:lnSpc>
                <a:spcPts val="138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&lt;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Threshold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THEN </a:t>
            </a:r>
            <a:r>
              <a:rPr sz="1200" dirty="0">
                <a:latin typeface="Times New Roman"/>
                <a:cs typeface="Times New Roman"/>
              </a:rPr>
              <a:t>Install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Point</a:t>
            </a:r>
            <a:endParaRPr sz="1200">
              <a:latin typeface="Times New Roman"/>
              <a:cs typeface="Times New Roman"/>
            </a:endParaRPr>
          </a:p>
          <a:p>
            <a:pPr marL="158750">
              <a:lnSpc>
                <a:spcPts val="1345"/>
              </a:lnSpc>
            </a:pPr>
            <a:r>
              <a:rPr sz="1200" spc="-10" dirty="0">
                <a:latin typeface="Times New Roman"/>
                <a:cs typeface="Times New Roman"/>
              </a:rPr>
              <a:t>ENDIF</a:t>
            </a:r>
            <a:endParaRPr sz="1200">
              <a:latin typeface="Times New Roman"/>
              <a:cs typeface="Times New Roman"/>
            </a:endParaRPr>
          </a:p>
          <a:p>
            <a:pPr marL="158750">
              <a:lnSpc>
                <a:spcPct val="100000"/>
              </a:lnSpc>
              <a:spcBef>
                <a:spcPts val="1320"/>
              </a:spcBef>
            </a:pPr>
            <a:r>
              <a:rPr sz="1200" dirty="0">
                <a:latin typeface="Times New Roman"/>
                <a:cs typeface="Times New Roman"/>
              </a:rPr>
              <a:t>Check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Roaming</a:t>
            </a:r>
            <a:endParaRPr sz="1200">
              <a:latin typeface="Times New Roman"/>
              <a:cs typeface="Times New Roman"/>
            </a:endParaRPr>
          </a:p>
          <a:p>
            <a:pPr marL="158750">
              <a:lnSpc>
                <a:spcPct val="100000"/>
              </a:lnSpc>
              <a:spcBef>
                <a:spcPts val="1320"/>
              </a:spcBef>
            </a:pPr>
            <a:r>
              <a:rPr sz="1200" dirty="0">
                <a:latin typeface="Times New Roman"/>
                <a:cs typeface="Times New Roman"/>
              </a:rPr>
              <a:t>Enable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802.11r,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802.11k,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802.11v</a:t>
            </a:r>
            <a:endParaRPr sz="1200">
              <a:latin typeface="Times New Roman"/>
              <a:cs typeface="Times New Roman"/>
            </a:endParaRPr>
          </a:p>
          <a:p>
            <a:pPr marL="158750">
              <a:lnSpc>
                <a:spcPct val="100000"/>
              </a:lnSpc>
              <a:spcBef>
                <a:spcPts val="1320"/>
              </a:spcBef>
            </a:pPr>
            <a:r>
              <a:rPr sz="1200" dirty="0">
                <a:latin typeface="Times New Roman"/>
                <a:cs typeface="Times New Roman"/>
              </a:rPr>
              <a:t>Check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Security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imes New Roman"/>
              <a:cs typeface="Times New Roman"/>
            </a:endParaRPr>
          </a:p>
          <a:p>
            <a:pPr marL="311150" marR="3467100" indent="-15240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WPA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detected</a:t>
            </a:r>
            <a:r>
              <a:rPr sz="1200" spc="-20" dirty="0">
                <a:latin typeface="Times New Roman"/>
                <a:cs typeface="Times New Roman"/>
              </a:rPr>
              <a:t> THEN </a:t>
            </a:r>
            <a:r>
              <a:rPr sz="1200" dirty="0">
                <a:latin typeface="Times New Roman"/>
                <a:cs typeface="Times New Roman"/>
              </a:rPr>
              <a:t>Upgrade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WPA3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3152" y="852932"/>
            <a:ext cx="5747385" cy="964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ENDIF</a:t>
            </a:r>
            <a:endParaRPr sz="1200">
              <a:latin typeface="Times New Roman"/>
              <a:cs typeface="Times New Roman"/>
            </a:endParaRPr>
          </a:p>
          <a:p>
            <a:pPr marL="241300" marR="4572000">
              <a:lnSpc>
                <a:spcPct val="191700"/>
              </a:lnSpc>
            </a:pPr>
            <a:r>
              <a:rPr sz="1200" dirty="0">
                <a:latin typeface="Times New Roman"/>
                <a:cs typeface="Times New Roman"/>
              </a:rPr>
              <a:t>Configure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QoS </a:t>
            </a:r>
            <a:r>
              <a:rPr sz="1200" spc="-10" dirty="0">
                <a:latin typeface="Times New Roman"/>
                <a:cs typeface="Times New Roman"/>
              </a:rPr>
              <a:t>Prioritise:</a:t>
            </a: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ts val="1350"/>
              </a:lnSpc>
            </a:pPr>
            <a:r>
              <a:rPr sz="1200" spc="-20" dirty="0">
                <a:latin typeface="Times New Roman"/>
                <a:cs typeface="Times New Roman"/>
              </a:rPr>
              <a:t>VoIP</a:t>
            </a: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ts val="1410"/>
              </a:lnSpc>
            </a:pPr>
            <a:r>
              <a:rPr sz="1200" dirty="0">
                <a:latin typeface="Times New Roman"/>
                <a:cs typeface="Times New Roman"/>
              </a:rPr>
              <a:t>Video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Conference</a:t>
            </a: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20"/>
              </a:spcBef>
            </a:pPr>
            <a:r>
              <a:rPr sz="1200" spc="-20" dirty="0">
                <a:latin typeface="Times New Roman"/>
                <a:cs typeface="Times New Roman"/>
              </a:rPr>
              <a:t>STOP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ts val="1650"/>
              </a:lnSpc>
            </a:pPr>
            <a:r>
              <a:rPr sz="1400" b="1" dirty="0">
                <a:latin typeface="Times New Roman"/>
                <a:cs typeface="Times New Roman"/>
              </a:rPr>
              <a:t>7.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Expected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Result</a:t>
            </a:r>
            <a:endParaRPr sz="1400">
              <a:latin typeface="Times New Roman"/>
              <a:cs typeface="Times New Roman"/>
            </a:endParaRPr>
          </a:p>
          <a:p>
            <a:pPr marL="323215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dirty="0">
                <a:latin typeface="Times New Roman"/>
                <a:cs typeface="Times New Roman"/>
              </a:rPr>
              <a:t>Faster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internet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during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peak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hours.</a:t>
            </a:r>
            <a:endParaRPr sz="1200">
              <a:latin typeface="Times New Roman"/>
              <a:cs typeface="Times New Roman"/>
            </a:endParaRPr>
          </a:p>
          <a:p>
            <a:pPr marL="323215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dirty="0">
                <a:latin typeface="Times New Roman"/>
                <a:cs typeface="Times New Roman"/>
              </a:rPr>
              <a:t>Seamless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Wi-</a:t>
            </a:r>
            <a:r>
              <a:rPr sz="1200" dirty="0">
                <a:latin typeface="Times New Roman"/>
                <a:cs typeface="Times New Roman"/>
              </a:rPr>
              <a:t>Fi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roaming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floors.</a:t>
            </a:r>
            <a:endParaRPr sz="1200">
              <a:latin typeface="Times New Roman"/>
              <a:cs typeface="Times New Roman"/>
            </a:endParaRPr>
          </a:p>
          <a:p>
            <a:pPr marL="323215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dirty="0">
                <a:latin typeface="Times New Roman"/>
                <a:cs typeface="Times New Roman"/>
              </a:rPr>
              <a:t>Strong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wireless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coverage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conference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rooms.</a:t>
            </a:r>
            <a:endParaRPr sz="1200">
              <a:latin typeface="Times New Roman"/>
              <a:cs typeface="Times New Roman"/>
            </a:endParaRPr>
          </a:p>
          <a:p>
            <a:pPr marL="323215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dirty="0">
                <a:latin typeface="Times New Roman"/>
                <a:cs typeface="Times New Roman"/>
              </a:rPr>
              <a:t>Better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video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conferencing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quality.</a:t>
            </a:r>
            <a:endParaRPr sz="1200">
              <a:latin typeface="Times New Roman"/>
              <a:cs typeface="Times New Roman"/>
            </a:endParaRPr>
          </a:p>
          <a:p>
            <a:pPr marL="323215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dirty="0">
                <a:latin typeface="Times New Roman"/>
                <a:cs typeface="Times New Roman"/>
              </a:rPr>
              <a:t>Balanced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traffic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across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Points.</a:t>
            </a:r>
            <a:endParaRPr sz="1200">
              <a:latin typeface="Times New Roman"/>
              <a:cs typeface="Times New Roman"/>
            </a:endParaRPr>
          </a:p>
          <a:p>
            <a:pPr marL="323215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dirty="0">
                <a:latin typeface="Times New Roman"/>
                <a:cs typeface="Times New Roman"/>
              </a:rPr>
              <a:t>Improved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WWAN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connectivity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remote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users.</a:t>
            </a:r>
            <a:endParaRPr sz="1200">
              <a:latin typeface="Times New Roman"/>
              <a:cs typeface="Times New Roman"/>
            </a:endParaRPr>
          </a:p>
          <a:p>
            <a:pPr marL="323215" indent="-228600">
              <a:lnSpc>
                <a:spcPts val="1410"/>
              </a:lnSpc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dirty="0">
                <a:latin typeface="Times New Roman"/>
                <a:cs typeface="Times New Roman"/>
              </a:rPr>
              <a:t>Secure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wireless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communication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WPA3.</a:t>
            </a: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ts val="1650"/>
              </a:lnSpc>
              <a:spcBef>
                <a:spcPts val="1310"/>
              </a:spcBef>
            </a:pPr>
            <a:r>
              <a:rPr sz="1400" b="1" spc="-10" dirty="0">
                <a:latin typeface="Times New Roman"/>
                <a:cs typeface="Times New Roman"/>
              </a:rPr>
              <a:t>Conclusion</a:t>
            </a:r>
            <a:endParaRPr sz="1400">
              <a:latin typeface="Times New Roman"/>
              <a:cs typeface="Times New Roman"/>
            </a:endParaRPr>
          </a:p>
          <a:p>
            <a:pPr marL="241300" marR="8255" algn="just">
              <a:lnSpc>
                <a:spcPct val="95900"/>
              </a:lnSpc>
              <a:spcBef>
                <a:spcPts val="30"/>
              </a:spcBef>
            </a:pP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identifying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overloaded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Points,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poor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roaming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settings,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weak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signal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areas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outdated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security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protocols,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WLAN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WWAN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infrastructure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effectively </a:t>
            </a:r>
            <a:r>
              <a:rPr sz="1200" dirty="0">
                <a:latin typeface="Times New Roman"/>
                <a:cs typeface="Times New Roman"/>
              </a:rPr>
              <a:t>optimised.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proposed</a:t>
            </a:r>
            <a:r>
              <a:rPr sz="1200" spc="40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debugging</a:t>
            </a:r>
            <a:r>
              <a:rPr sz="1200" spc="40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optimisation</a:t>
            </a:r>
            <a:r>
              <a:rPr sz="1200" spc="40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techniques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improve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network </a:t>
            </a:r>
            <a:r>
              <a:rPr sz="1200" dirty="0">
                <a:latin typeface="Times New Roman"/>
                <a:cs typeface="Times New Roman"/>
              </a:rPr>
              <a:t>performance,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reliability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security,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ensuring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uninterrupted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communication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all </a:t>
            </a:r>
            <a:r>
              <a:rPr sz="1200" spc="-10" dirty="0">
                <a:latin typeface="Times New Roman"/>
                <a:cs typeface="Times New Roman"/>
              </a:rPr>
              <a:t>employees.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0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105500"/>
              </a:lnSpc>
            </a:pPr>
            <a:r>
              <a:rPr sz="1100" dirty="0">
                <a:latin typeface="Cambria"/>
                <a:cs typeface="Cambria"/>
              </a:rPr>
              <a:t>2.</a:t>
            </a:r>
            <a:r>
              <a:rPr sz="1100" spc="204" dirty="0">
                <a:latin typeface="Cambria"/>
                <a:cs typeface="Cambria"/>
              </a:rPr>
              <a:t>  </a:t>
            </a:r>
            <a:r>
              <a:rPr sz="1100" dirty="0">
                <a:latin typeface="Cambria"/>
                <a:cs typeface="Cambria"/>
              </a:rPr>
              <a:t>A</a:t>
            </a:r>
            <a:r>
              <a:rPr sz="1100" spc="32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multinational</a:t>
            </a:r>
            <a:r>
              <a:rPr sz="1100" spc="32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financial</a:t>
            </a:r>
            <a:r>
              <a:rPr sz="1100" spc="32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organization</a:t>
            </a:r>
            <a:r>
              <a:rPr sz="1100" spc="32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operates</a:t>
            </a:r>
            <a:r>
              <a:rPr sz="1100" spc="31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its</a:t>
            </a:r>
            <a:r>
              <a:rPr sz="1100" spc="32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headquarters,</a:t>
            </a:r>
            <a:r>
              <a:rPr sz="1100" spc="33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regional</a:t>
            </a:r>
            <a:r>
              <a:rPr sz="1100" spc="33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offices,</a:t>
            </a:r>
            <a:r>
              <a:rPr sz="1100" spc="330" dirty="0">
                <a:latin typeface="Cambria"/>
                <a:cs typeface="Cambria"/>
              </a:rPr>
              <a:t> </a:t>
            </a:r>
            <a:r>
              <a:rPr sz="1100" spc="-25" dirty="0">
                <a:latin typeface="Cambria"/>
                <a:cs typeface="Cambria"/>
              </a:rPr>
              <a:t>and </a:t>
            </a:r>
            <a:r>
              <a:rPr sz="1100" dirty="0">
                <a:latin typeface="Cambria"/>
                <a:cs typeface="Cambria"/>
              </a:rPr>
              <a:t>multiple</a:t>
            </a:r>
            <a:r>
              <a:rPr sz="1100" spc="3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data</a:t>
            </a:r>
            <a:r>
              <a:rPr sz="1100" spc="3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centers</a:t>
            </a:r>
            <a:r>
              <a:rPr sz="1100" spc="3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using</a:t>
            </a:r>
            <a:r>
              <a:rPr sz="1100" spc="3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an</a:t>
            </a:r>
            <a:r>
              <a:rPr sz="1100" spc="40" dirty="0">
                <a:latin typeface="Cambria"/>
                <a:cs typeface="Cambria"/>
              </a:rPr>
              <a:t> </a:t>
            </a:r>
            <a:r>
              <a:rPr sz="1100" b="1" dirty="0">
                <a:latin typeface="Cambria"/>
                <a:cs typeface="Cambria"/>
              </a:rPr>
              <a:t>Asynchronous</a:t>
            </a:r>
            <a:r>
              <a:rPr sz="1100" b="1" spc="25" dirty="0">
                <a:latin typeface="Cambria"/>
                <a:cs typeface="Cambria"/>
              </a:rPr>
              <a:t> </a:t>
            </a:r>
            <a:r>
              <a:rPr sz="1100" b="1" dirty="0">
                <a:latin typeface="Cambria"/>
                <a:cs typeface="Cambria"/>
              </a:rPr>
              <a:t>Transfer</a:t>
            </a:r>
            <a:r>
              <a:rPr sz="1100" b="1" spc="25" dirty="0">
                <a:latin typeface="Cambria"/>
                <a:cs typeface="Cambria"/>
              </a:rPr>
              <a:t> </a:t>
            </a:r>
            <a:r>
              <a:rPr sz="1100" b="1" dirty="0">
                <a:latin typeface="Cambria"/>
                <a:cs typeface="Cambria"/>
              </a:rPr>
              <a:t>Mode</a:t>
            </a:r>
            <a:r>
              <a:rPr sz="1100" b="1" spc="30" dirty="0">
                <a:latin typeface="Cambria"/>
                <a:cs typeface="Cambria"/>
              </a:rPr>
              <a:t> </a:t>
            </a:r>
            <a:r>
              <a:rPr sz="1100" b="1" dirty="0">
                <a:latin typeface="Cambria"/>
                <a:cs typeface="Cambria"/>
              </a:rPr>
              <a:t>(ATM)</a:t>
            </a:r>
            <a:r>
              <a:rPr sz="1100" b="1" spc="35" dirty="0">
                <a:latin typeface="Cambria"/>
                <a:cs typeface="Cambria"/>
              </a:rPr>
              <a:t> </a:t>
            </a:r>
            <a:r>
              <a:rPr sz="1100" b="1" dirty="0">
                <a:latin typeface="Cambria"/>
                <a:cs typeface="Cambria"/>
              </a:rPr>
              <a:t>network</a:t>
            </a:r>
            <a:r>
              <a:rPr sz="1100" b="1" spc="4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to</a:t>
            </a:r>
            <a:r>
              <a:rPr sz="1100" spc="4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support mission-critical</a:t>
            </a:r>
            <a:r>
              <a:rPr sz="1100" spc="-3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services</a:t>
            </a:r>
            <a:r>
              <a:rPr sz="1100" spc="-2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such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spc="-20" dirty="0">
                <a:latin typeface="Cambria"/>
                <a:cs typeface="Cambria"/>
              </a:rPr>
              <a:t>as</a:t>
            </a:r>
            <a:r>
              <a:rPr sz="1100" spc="-10" dirty="0">
                <a:latin typeface="Cambria"/>
                <a:cs typeface="Cambria"/>
              </a:rPr>
              <a:t> online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banking,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video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conferencing, Voice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over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IP</a:t>
            </a:r>
            <a:r>
              <a:rPr sz="1100" spc="-2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(VoIP),</a:t>
            </a:r>
            <a:r>
              <a:rPr sz="1100" spc="-20" dirty="0">
                <a:latin typeface="Cambria"/>
                <a:cs typeface="Cambria"/>
              </a:rPr>
              <a:t> </a:t>
            </a:r>
            <a:r>
              <a:rPr sz="1100" spc="-25" dirty="0">
                <a:latin typeface="Cambria"/>
                <a:cs typeface="Cambria"/>
              </a:rPr>
              <a:t>and </a:t>
            </a:r>
            <a:r>
              <a:rPr sz="1100" spc="-10" dirty="0">
                <a:latin typeface="Cambria"/>
                <a:cs typeface="Cambria"/>
              </a:rPr>
              <a:t>real-</a:t>
            </a:r>
            <a:r>
              <a:rPr sz="1100" dirty="0">
                <a:latin typeface="Cambria"/>
                <a:cs typeface="Cambria"/>
              </a:rPr>
              <a:t>time</a:t>
            </a:r>
            <a:r>
              <a:rPr sz="1100" spc="34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financial</a:t>
            </a:r>
            <a:r>
              <a:rPr sz="1100" spc="35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transactions.</a:t>
            </a:r>
            <a:r>
              <a:rPr sz="1100" spc="34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</a:t>
            </a:r>
            <a:r>
              <a:rPr sz="1100" spc="35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ATM</a:t>
            </a:r>
            <a:r>
              <a:rPr sz="1100" spc="35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network</a:t>
            </a:r>
            <a:r>
              <a:rPr sz="1100" spc="34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uses</a:t>
            </a:r>
            <a:r>
              <a:rPr sz="1100" spc="35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fixed-size</a:t>
            </a:r>
            <a:r>
              <a:rPr sz="1100" spc="355" dirty="0">
                <a:latin typeface="Cambria"/>
                <a:cs typeface="Cambria"/>
              </a:rPr>
              <a:t> </a:t>
            </a:r>
            <a:r>
              <a:rPr sz="1100" b="1" spc="-10" dirty="0">
                <a:latin typeface="Cambria"/>
                <a:cs typeface="Cambria"/>
              </a:rPr>
              <a:t>53-</a:t>
            </a:r>
            <a:r>
              <a:rPr sz="1100" b="1" dirty="0">
                <a:latin typeface="Cambria"/>
                <a:cs typeface="Cambria"/>
              </a:rPr>
              <a:t>byte</a:t>
            </a:r>
            <a:r>
              <a:rPr sz="1100" b="1" spc="350" dirty="0">
                <a:latin typeface="Cambria"/>
                <a:cs typeface="Cambria"/>
              </a:rPr>
              <a:t> </a:t>
            </a:r>
            <a:r>
              <a:rPr sz="1100" b="1" dirty="0">
                <a:latin typeface="Cambria"/>
                <a:cs typeface="Cambria"/>
              </a:rPr>
              <a:t>cells</a:t>
            </a:r>
            <a:r>
              <a:rPr sz="1100" b="1" spc="355" dirty="0">
                <a:latin typeface="Cambria"/>
                <a:cs typeface="Cambria"/>
              </a:rPr>
              <a:t> </a:t>
            </a:r>
            <a:r>
              <a:rPr sz="1100" spc="-25" dirty="0">
                <a:latin typeface="Cambria"/>
                <a:cs typeface="Cambria"/>
              </a:rPr>
              <a:t>and </a:t>
            </a:r>
            <a:r>
              <a:rPr sz="1100" dirty="0">
                <a:latin typeface="Cambria"/>
                <a:cs typeface="Cambria"/>
              </a:rPr>
              <a:t>establishes</a:t>
            </a:r>
            <a:r>
              <a:rPr sz="1100" spc="165" dirty="0">
                <a:latin typeface="Cambria"/>
                <a:cs typeface="Cambria"/>
              </a:rPr>
              <a:t> </a:t>
            </a:r>
            <a:r>
              <a:rPr sz="1100" b="1" dirty="0">
                <a:latin typeface="Cambria"/>
                <a:cs typeface="Cambria"/>
              </a:rPr>
              <a:t>Virtual</a:t>
            </a:r>
            <a:r>
              <a:rPr sz="1100" b="1" spc="160" dirty="0">
                <a:latin typeface="Cambria"/>
                <a:cs typeface="Cambria"/>
              </a:rPr>
              <a:t> </a:t>
            </a:r>
            <a:r>
              <a:rPr sz="1100" b="1" dirty="0">
                <a:latin typeface="Cambria"/>
                <a:cs typeface="Cambria"/>
              </a:rPr>
              <a:t>Circuits</a:t>
            </a:r>
            <a:r>
              <a:rPr sz="1100" b="1" spc="155" dirty="0">
                <a:latin typeface="Cambria"/>
                <a:cs typeface="Cambria"/>
              </a:rPr>
              <a:t> </a:t>
            </a:r>
            <a:r>
              <a:rPr sz="1100" b="1" dirty="0">
                <a:latin typeface="Cambria"/>
                <a:cs typeface="Cambria"/>
              </a:rPr>
              <a:t>(VCs)</a:t>
            </a:r>
            <a:r>
              <a:rPr sz="1100" b="1" spc="17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to</a:t>
            </a:r>
            <a:r>
              <a:rPr sz="1100" spc="16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provide</a:t>
            </a:r>
            <a:r>
              <a:rPr sz="1100" spc="16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reliable</a:t>
            </a:r>
            <a:r>
              <a:rPr sz="1100" spc="16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and</a:t>
            </a:r>
            <a:r>
              <a:rPr sz="1100" spc="15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predictable</a:t>
            </a:r>
            <a:r>
              <a:rPr sz="1100" spc="16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Quality</a:t>
            </a:r>
            <a:r>
              <a:rPr sz="1100" spc="15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of</a:t>
            </a:r>
            <a:r>
              <a:rPr sz="1100" spc="16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Service </a:t>
            </a:r>
            <a:r>
              <a:rPr sz="1100" dirty="0">
                <a:latin typeface="Cambria"/>
                <a:cs typeface="Cambria"/>
              </a:rPr>
              <a:t>(QoS).</a:t>
            </a:r>
            <a:r>
              <a:rPr sz="1100" spc="6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Recently,</a:t>
            </a:r>
            <a:r>
              <a:rPr sz="1100" spc="7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</a:t>
            </a:r>
            <a:r>
              <a:rPr sz="1100" spc="6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organization</a:t>
            </a:r>
            <a:r>
              <a:rPr sz="1100" spc="7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has</a:t>
            </a:r>
            <a:r>
              <a:rPr sz="1100" spc="6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experienced</a:t>
            </a:r>
            <a:r>
              <a:rPr sz="1100" spc="4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several</a:t>
            </a:r>
            <a:r>
              <a:rPr sz="1100" spc="6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performance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issues</a:t>
            </a:r>
            <a:r>
              <a:rPr sz="1100" spc="8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during</a:t>
            </a:r>
            <a:r>
              <a:rPr sz="1100" spc="75" dirty="0">
                <a:latin typeface="Cambria"/>
                <a:cs typeface="Cambria"/>
              </a:rPr>
              <a:t> </a:t>
            </a:r>
            <a:r>
              <a:rPr sz="1100" spc="-20" dirty="0">
                <a:latin typeface="Cambria"/>
                <a:cs typeface="Cambria"/>
              </a:rPr>
              <a:t>peak </a:t>
            </a:r>
            <a:r>
              <a:rPr sz="1100" dirty="0">
                <a:latin typeface="Cambria"/>
                <a:cs typeface="Cambria"/>
              </a:rPr>
              <a:t>business hours. Customers report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delays</a:t>
            </a:r>
            <a:r>
              <a:rPr sz="1100" spc="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in</a:t>
            </a:r>
            <a:r>
              <a:rPr sz="1100" spc="-1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online transactions, voice</a:t>
            </a:r>
            <a:r>
              <a:rPr sz="1100" spc="-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calls</a:t>
            </a:r>
            <a:r>
              <a:rPr sz="1100" spc="-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suffer from</a:t>
            </a:r>
            <a:r>
              <a:rPr sz="1100" spc="-10" dirty="0">
                <a:latin typeface="Cambria"/>
                <a:cs typeface="Cambria"/>
              </a:rPr>
              <a:t> jitter </a:t>
            </a:r>
            <a:r>
              <a:rPr sz="1100" dirty="0">
                <a:latin typeface="Cambria"/>
                <a:cs typeface="Cambria"/>
              </a:rPr>
              <a:t>and</a:t>
            </a:r>
            <a:r>
              <a:rPr sz="1100" spc="16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occasional</a:t>
            </a:r>
            <a:r>
              <a:rPr sz="1100" spc="16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packet</a:t>
            </a:r>
            <a:r>
              <a:rPr sz="1100" spc="16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loss,</a:t>
            </a:r>
            <a:r>
              <a:rPr sz="1100" spc="17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and</a:t>
            </a:r>
            <a:r>
              <a:rPr sz="1100" spc="17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video</a:t>
            </a:r>
            <a:r>
              <a:rPr sz="1100" spc="17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conferencing</a:t>
            </a:r>
            <a:r>
              <a:rPr sz="1100" spc="17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sessions</a:t>
            </a:r>
            <a:r>
              <a:rPr sz="1100" spc="17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experience</a:t>
            </a:r>
            <a:r>
              <a:rPr sz="1100" spc="16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reduced</a:t>
            </a:r>
            <a:r>
              <a:rPr sz="1100" spc="17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quality. </a:t>
            </a:r>
            <a:r>
              <a:rPr sz="1100" dirty="0">
                <a:latin typeface="Cambria"/>
                <a:cs typeface="Cambria"/>
              </a:rPr>
              <a:t>Network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monitoring</a:t>
            </a:r>
            <a:r>
              <a:rPr sz="1100" spc="8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indicates</a:t>
            </a:r>
            <a:r>
              <a:rPr sz="1100" spc="7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that</a:t>
            </a:r>
            <a:r>
              <a:rPr sz="1100" spc="8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several</a:t>
            </a:r>
            <a:r>
              <a:rPr sz="1100" spc="7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ATM</a:t>
            </a:r>
            <a:r>
              <a:rPr sz="1100" spc="6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switches</a:t>
            </a:r>
            <a:r>
              <a:rPr sz="1100" spc="8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are</a:t>
            </a:r>
            <a:r>
              <a:rPr sz="1100" spc="8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operating</a:t>
            </a:r>
            <a:r>
              <a:rPr sz="1100" spc="8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at</a:t>
            </a:r>
            <a:r>
              <a:rPr sz="1100" spc="6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high</a:t>
            </a:r>
            <a:r>
              <a:rPr sz="1100" spc="8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utilization, some</a:t>
            </a:r>
            <a:r>
              <a:rPr sz="1100" spc="-2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Virtual</a:t>
            </a:r>
            <a:r>
              <a:rPr sz="1100" spc="-2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Circuits</a:t>
            </a:r>
            <a:r>
              <a:rPr sz="1100" spc="-2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are</a:t>
            </a:r>
            <a:r>
              <a:rPr sz="1100" spc="-2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congested,</a:t>
            </a:r>
            <a:r>
              <a:rPr sz="1100" spc="-2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and</a:t>
            </a:r>
            <a:r>
              <a:rPr sz="1100" spc="-3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available</a:t>
            </a:r>
            <a:r>
              <a:rPr sz="1100" spc="-2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bandwidth</a:t>
            </a:r>
            <a:r>
              <a:rPr sz="1100" spc="-2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is</a:t>
            </a:r>
            <a:r>
              <a:rPr sz="1100" spc="-2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not</a:t>
            </a:r>
            <a:r>
              <a:rPr sz="1100" spc="-2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being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efficiently</a:t>
            </a:r>
            <a:r>
              <a:rPr sz="1100" spc="-2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allocated </a:t>
            </a:r>
            <a:r>
              <a:rPr sz="1100" dirty="0">
                <a:latin typeface="Cambria"/>
                <a:cs typeface="Cambria"/>
              </a:rPr>
              <a:t>among</a:t>
            </a:r>
            <a:r>
              <a:rPr sz="1100" spc="8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different</a:t>
            </a:r>
            <a:r>
              <a:rPr sz="1100" spc="8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traffic</a:t>
            </a:r>
            <a:r>
              <a:rPr sz="1100" spc="9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classes.</a:t>
            </a:r>
            <a:r>
              <a:rPr sz="1100" spc="8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Engineers</a:t>
            </a:r>
            <a:r>
              <a:rPr sz="1100" spc="8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also</a:t>
            </a:r>
            <a:r>
              <a:rPr sz="1100" spc="8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discover</a:t>
            </a:r>
            <a:r>
              <a:rPr sz="1100" spc="8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that</a:t>
            </a:r>
            <a:r>
              <a:rPr sz="1100" spc="8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certain</a:t>
            </a:r>
            <a:r>
              <a:rPr sz="1100" spc="8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applications</a:t>
            </a:r>
            <a:r>
              <a:rPr sz="1100" spc="8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are</a:t>
            </a:r>
            <a:r>
              <a:rPr sz="1100" spc="8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using </a:t>
            </a:r>
            <a:r>
              <a:rPr sz="1100" dirty="0">
                <a:latin typeface="Cambria"/>
                <a:cs typeface="Cambria"/>
              </a:rPr>
              <a:t>inappropriate</a:t>
            </a:r>
            <a:r>
              <a:rPr sz="1100" spc="114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ATM</a:t>
            </a:r>
            <a:r>
              <a:rPr sz="1100" spc="11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service</a:t>
            </a:r>
            <a:r>
              <a:rPr sz="1100" spc="10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categories,</a:t>
            </a:r>
            <a:r>
              <a:rPr sz="1100" spc="12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leading</a:t>
            </a:r>
            <a:r>
              <a:rPr sz="1100" spc="12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to</a:t>
            </a:r>
            <a:r>
              <a:rPr sz="1100" spc="9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increased</a:t>
            </a:r>
            <a:r>
              <a:rPr sz="1100" spc="12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delay</a:t>
            </a:r>
            <a:r>
              <a:rPr sz="1100" spc="114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and</a:t>
            </a:r>
            <a:r>
              <a:rPr sz="1100" spc="114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inefficient</a:t>
            </a:r>
            <a:r>
              <a:rPr sz="1100" spc="114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resource </a:t>
            </a:r>
            <a:r>
              <a:rPr sz="1100" dirty="0">
                <a:latin typeface="Cambria"/>
                <a:cs typeface="Cambria"/>
              </a:rPr>
              <a:t>utilization.</a:t>
            </a:r>
            <a:r>
              <a:rPr sz="1100" spc="4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</a:t>
            </a:r>
            <a:r>
              <a:rPr sz="1100" spc="5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IT</a:t>
            </a:r>
            <a:r>
              <a:rPr sz="1100" spc="4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department</a:t>
            </a:r>
            <a:r>
              <a:rPr sz="1100" spc="4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has</a:t>
            </a:r>
            <a:r>
              <a:rPr sz="1100" spc="5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assigned</a:t>
            </a:r>
            <a:r>
              <a:rPr sz="1100" spc="4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you</a:t>
            </a:r>
            <a:r>
              <a:rPr sz="1100" spc="5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as</a:t>
            </a:r>
            <a:r>
              <a:rPr sz="1100" spc="4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</a:t>
            </a:r>
            <a:r>
              <a:rPr sz="1100" spc="4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network</a:t>
            </a:r>
            <a:r>
              <a:rPr sz="1100" spc="4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engineer</a:t>
            </a:r>
            <a:r>
              <a:rPr sz="1100" spc="7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to</a:t>
            </a:r>
            <a:r>
              <a:rPr sz="1100" spc="3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investigate</a:t>
            </a:r>
            <a:r>
              <a:rPr sz="1100" spc="45" dirty="0">
                <a:latin typeface="Cambria"/>
                <a:cs typeface="Cambria"/>
              </a:rPr>
              <a:t> </a:t>
            </a:r>
            <a:r>
              <a:rPr sz="1100" spc="-25" dirty="0">
                <a:latin typeface="Cambria"/>
                <a:cs typeface="Cambria"/>
              </a:rPr>
              <a:t>the </a:t>
            </a:r>
            <a:r>
              <a:rPr sz="1100" dirty="0">
                <a:latin typeface="Cambria"/>
                <a:cs typeface="Cambria"/>
              </a:rPr>
              <a:t>ATM</a:t>
            </a:r>
            <a:r>
              <a:rPr sz="1100" spc="49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network,</a:t>
            </a:r>
            <a:r>
              <a:rPr sz="1100" spc="484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identify</a:t>
            </a:r>
            <a:r>
              <a:rPr sz="1100" spc="484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</a:t>
            </a:r>
            <a:r>
              <a:rPr sz="1100" spc="130" dirty="0">
                <a:latin typeface="Cambria"/>
                <a:cs typeface="Cambria"/>
              </a:rPr>
              <a:t>  </a:t>
            </a:r>
            <a:r>
              <a:rPr sz="1100" dirty="0">
                <a:latin typeface="Cambria"/>
                <a:cs typeface="Cambria"/>
              </a:rPr>
              <a:t>faults,</a:t>
            </a:r>
            <a:r>
              <a:rPr sz="1100" spc="130" dirty="0">
                <a:latin typeface="Cambria"/>
                <a:cs typeface="Cambria"/>
              </a:rPr>
              <a:t>  </a:t>
            </a:r>
            <a:r>
              <a:rPr sz="1100" dirty="0">
                <a:latin typeface="Cambria"/>
                <a:cs typeface="Cambria"/>
              </a:rPr>
              <a:t>debug</a:t>
            </a:r>
            <a:r>
              <a:rPr sz="1100" spc="130" dirty="0">
                <a:latin typeface="Cambria"/>
                <a:cs typeface="Cambria"/>
              </a:rPr>
              <a:t>  </a:t>
            </a:r>
            <a:r>
              <a:rPr sz="1100" dirty="0">
                <a:latin typeface="Cambria"/>
                <a:cs typeface="Cambria"/>
              </a:rPr>
              <a:t>the</a:t>
            </a:r>
            <a:r>
              <a:rPr sz="1100" spc="49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performance</a:t>
            </a:r>
            <a:r>
              <a:rPr sz="1100" spc="49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issues,</a:t>
            </a:r>
            <a:r>
              <a:rPr sz="1100" spc="130" dirty="0">
                <a:latin typeface="Cambria"/>
                <a:cs typeface="Cambria"/>
              </a:rPr>
              <a:t>  </a:t>
            </a:r>
            <a:r>
              <a:rPr sz="1100" dirty="0">
                <a:latin typeface="Cambria"/>
                <a:cs typeface="Cambria"/>
              </a:rPr>
              <a:t>and</a:t>
            </a:r>
            <a:r>
              <a:rPr sz="1100" spc="49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recommend </a:t>
            </a:r>
            <a:r>
              <a:rPr sz="1100" dirty="0">
                <a:latin typeface="Cambria"/>
                <a:cs typeface="Cambria"/>
              </a:rPr>
              <a:t>optimization</a:t>
            </a:r>
            <a:r>
              <a:rPr sz="1100" spc="1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strategies</a:t>
            </a:r>
            <a:r>
              <a:rPr sz="1100" spc="2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to</a:t>
            </a:r>
            <a:r>
              <a:rPr sz="1100" spc="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restore</a:t>
            </a:r>
            <a:r>
              <a:rPr sz="1100" spc="1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efficient,</a:t>
            </a:r>
            <a:r>
              <a:rPr sz="1100" spc="1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reliable,</a:t>
            </a:r>
            <a:r>
              <a:rPr sz="1100" spc="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and</a:t>
            </a:r>
            <a:r>
              <a:rPr sz="1100" spc="1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high-quality</a:t>
            </a:r>
            <a:r>
              <a:rPr sz="1100" spc="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communication</a:t>
            </a:r>
            <a:r>
              <a:rPr sz="1100" spc="1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across </a:t>
            </a:r>
            <a:r>
              <a:rPr sz="1100" dirty="0">
                <a:latin typeface="Cambria"/>
                <a:cs typeface="Cambria"/>
              </a:rPr>
              <a:t>the</a:t>
            </a:r>
            <a:r>
              <a:rPr sz="1100" spc="-2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enterprise.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1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</a:pPr>
            <a:r>
              <a:rPr sz="1100" spc="-20" dirty="0">
                <a:latin typeface="Cambria"/>
                <a:cs typeface="Cambria"/>
              </a:rPr>
              <a:t>ANS: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100">
              <a:latin typeface="Cambria"/>
              <a:cs typeface="Cambria"/>
            </a:endParaRPr>
          </a:p>
          <a:p>
            <a:pPr marL="12700" algn="just">
              <a:lnSpc>
                <a:spcPct val="100000"/>
              </a:lnSpc>
            </a:pPr>
            <a:r>
              <a:rPr sz="1400" b="1" dirty="0">
                <a:latin typeface="Cambria"/>
                <a:cs typeface="Cambria"/>
              </a:rPr>
              <a:t>ATM</a:t>
            </a:r>
            <a:r>
              <a:rPr sz="1400" b="1" spc="-3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Network</a:t>
            </a:r>
            <a:r>
              <a:rPr sz="1400" b="1" spc="-2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Debugging</a:t>
            </a:r>
            <a:r>
              <a:rPr sz="1400" b="1" spc="-3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&amp;</a:t>
            </a:r>
            <a:r>
              <a:rPr sz="1400" b="1" spc="-20" dirty="0">
                <a:latin typeface="Cambria"/>
                <a:cs typeface="Cambria"/>
              </a:rPr>
              <a:t> </a:t>
            </a:r>
            <a:r>
              <a:rPr sz="1400" b="1" spc="-10" dirty="0">
                <a:latin typeface="Cambria"/>
                <a:cs typeface="Cambria"/>
              </a:rPr>
              <a:t>Optimisation</a:t>
            </a:r>
            <a:endParaRPr sz="1400">
              <a:latin typeface="Cambria"/>
              <a:cs typeface="Cambria"/>
            </a:endParaRP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mbria"/>
                <a:cs typeface="Cambria"/>
              </a:rPr>
              <a:t>1.</a:t>
            </a:r>
            <a:r>
              <a:rPr sz="1400" b="1" spc="-4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Problem</a:t>
            </a:r>
            <a:r>
              <a:rPr sz="1400" b="1" spc="-30" dirty="0">
                <a:latin typeface="Cambria"/>
                <a:cs typeface="Cambria"/>
              </a:rPr>
              <a:t> </a:t>
            </a:r>
            <a:r>
              <a:rPr sz="1400" b="1" spc="-10" dirty="0">
                <a:latin typeface="Cambria"/>
                <a:cs typeface="Cambria"/>
              </a:rPr>
              <a:t>Identification</a:t>
            </a:r>
            <a:endParaRPr sz="1400">
              <a:latin typeface="Cambria"/>
              <a:cs typeface="Cambria"/>
            </a:endParaRPr>
          </a:p>
          <a:p>
            <a:pPr marL="241300" marR="6350" indent="-228600" algn="just">
              <a:lnSpc>
                <a:spcPct val="105400"/>
              </a:lnSpc>
              <a:spcBef>
                <a:spcPts val="25"/>
              </a:spcBef>
            </a:pPr>
            <a:r>
              <a:rPr sz="1200" dirty="0">
                <a:latin typeface="Cambria"/>
                <a:cs typeface="Cambria"/>
              </a:rPr>
              <a:t>A</a:t>
            </a:r>
            <a:r>
              <a:rPr sz="1200" spc="8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multinational</a:t>
            </a:r>
            <a:r>
              <a:rPr sz="1200" spc="9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financial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organization</a:t>
            </a:r>
            <a:r>
              <a:rPr sz="1200" spc="9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uses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</a:t>
            </a:r>
            <a:r>
              <a:rPr sz="1200" spc="9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Asynchronous</a:t>
            </a:r>
            <a:r>
              <a:rPr sz="1200" b="1" spc="8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Transfer</a:t>
            </a:r>
            <a:r>
              <a:rPr sz="1200" b="1" spc="9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Mode</a:t>
            </a:r>
            <a:r>
              <a:rPr sz="1200" b="1" spc="7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(ATM) </a:t>
            </a:r>
            <a:r>
              <a:rPr sz="1200" dirty="0">
                <a:latin typeface="Cambria"/>
                <a:cs typeface="Cambria"/>
              </a:rPr>
              <a:t>network</a:t>
            </a:r>
            <a:r>
              <a:rPr sz="1200" spc="20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for</a:t>
            </a:r>
            <a:r>
              <a:rPr sz="1200" spc="20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online</a:t>
            </a:r>
            <a:r>
              <a:rPr sz="1200" spc="2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banking,</a:t>
            </a:r>
            <a:r>
              <a:rPr sz="1200" spc="2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VoIP,</a:t>
            </a:r>
            <a:r>
              <a:rPr sz="1200" spc="2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video</a:t>
            </a:r>
            <a:r>
              <a:rPr sz="1200" spc="2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conferencing</a:t>
            </a:r>
            <a:r>
              <a:rPr sz="1200" spc="20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20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financial</a:t>
            </a:r>
            <a:r>
              <a:rPr sz="1200" spc="19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transactions. </a:t>
            </a:r>
            <a:r>
              <a:rPr sz="1200" dirty="0">
                <a:latin typeface="Cambria"/>
                <a:cs typeface="Cambria"/>
              </a:rPr>
              <a:t>During</a:t>
            </a:r>
            <a:r>
              <a:rPr sz="1200" spc="-4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peak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hours,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following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problems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are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observed:</a:t>
            </a:r>
            <a:endParaRPr sz="1200">
              <a:latin typeface="Cambria"/>
              <a:cs typeface="Cambria"/>
            </a:endParaRPr>
          </a:p>
          <a:p>
            <a:pPr marL="240029" indent="-145415" algn="just">
              <a:lnSpc>
                <a:spcPct val="100000"/>
              </a:lnSpc>
              <a:spcBef>
                <a:spcPts val="85"/>
              </a:spcBef>
              <a:buSzPct val="83333"/>
              <a:buFont typeface="Symbol"/>
              <a:buChar char=""/>
              <a:tabLst>
                <a:tab pos="240029" algn="l"/>
              </a:tabLst>
            </a:pPr>
            <a:r>
              <a:rPr sz="1200" dirty="0">
                <a:latin typeface="Cambria"/>
                <a:cs typeface="Cambria"/>
              </a:rPr>
              <a:t>Delay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in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online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banking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transactions.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5448" y="846582"/>
            <a:ext cx="4186554" cy="118427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58115" indent="-145415">
              <a:lnSpc>
                <a:spcPct val="100000"/>
              </a:lnSpc>
              <a:spcBef>
                <a:spcPts val="185"/>
              </a:spcBef>
              <a:buSzPct val="83333"/>
              <a:buFont typeface="Symbol"/>
              <a:buChar char=""/>
              <a:tabLst>
                <a:tab pos="158115" algn="l"/>
              </a:tabLst>
            </a:pPr>
            <a:r>
              <a:rPr sz="1200" dirty="0">
                <a:latin typeface="Cambria"/>
                <a:cs typeface="Cambria"/>
              </a:rPr>
              <a:t>Poor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voice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quality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with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jitter.</a:t>
            </a:r>
            <a:endParaRPr sz="1200">
              <a:latin typeface="Cambria"/>
              <a:cs typeface="Cambria"/>
            </a:endParaRPr>
          </a:p>
          <a:p>
            <a:pPr marL="158115" indent="-145415">
              <a:lnSpc>
                <a:spcPct val="100000"/>
              </a:lnSpc>
              <a:spcBef>
                <a:spcPts val="85"/>
              </a:spcBef>
              <a:buSzPct val="83333"/>
              <a:buFont typeface="Symbol"/>
              <a:buChar char=""/>
              <a:tabLst>
                <a:tab pos="158115" algn="l"/>
              </a:tabLst>
            </a:pPr>
            <a:r>
              <a:rPr sz="1200" dirty="0">
                <a:latin typeface="Cambria"/>
                <a:cs typeface="Cambria"/>
              </a:rPr>
              <a:t>Video</a:t>
            </a:r>
            <a:r>
              <a:rPr sz="1200" spc="-10" dirty="0">
                <a:latin typeface="Cambria"/>
                <a:cs typeface="Cambria"/>
              </a:rPr>
              <a:t> conferencing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quality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is</a:t>
            </a:r>
            <a:r>
              <a:rPr sz="1200" spc="-10" dirty="0">
                <a:latin typeface="Cambria"/>
                <a:cs typeface="Cambria"/>
              </a:rPr>
              <a:t> reduced.</a:t>
            </a:r>
            <a:endParaRPr sz="1200">
              <a:latin typeface="Cambria"/>
              <a:cs typeface="Cambria"/>
            </a:endParaRPr>
          </a:p>
          <a:p>
            <a:pPr marL="158115" indent="-145415">
              <a:lnSpc>
                <a:spcPct val="100000"/>
              </a:lnSpc>
              <a:spcBef>
                <a:spcPts val="75"/>
              </a:spcBef>
              <a:buSzPct val="83333"/>
              <a:buFont typeface="Symbol"/>
              <a:buChar char=""/>
              <a:tabLst>
                <a:tab pos="158115" algn="l"/>
              </a:tabLst>
            </a:pPr>
            <a:r>
              <a:rPr sz="1200" dirty="0">
                <a:latin typeface="Cambria"/>
                <a:cs typeface="Cambria"/>
              </a:rPr>
              <a:t>Some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ATM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switches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are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highly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congested.</a:t>
            </a:r>
            <a:endParaRPr sz="1200">
              <a:latin typeface="Cambria"/>
              <a:cs typeface="Cambria"/>
            </a:endParaRPr>
          </a:p>
          <a:p>
            <a:pPr marL="158115" indent="-145415">
              <a:lnSpc>
                <a:spcPct val="100000"/>
              </a:lnSpc>
              <a:spcBef>
                <a:spcPts val="80"/>
              </a:spcBef>
              <a:buSzPct val="83333"/>
              <a:buFont typeface="Symbol"/>
              <a:buChar char=""/>
              <a:tabLst>
                <a:tab pos="158115" algn="l"/>
              </a:tabLst>
            </a:pPr>
            <a:r>
              <a:rPr sz="1200" spc="-10" dirty="0">
                <a:latin typeface="Cambria"/>
                <a:cs typeface="Cambria"/>
              </a:rPr>
              <a:t>Virtual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Circuits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(VCs)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are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overloaded.</a:t>
            </a:r>
            <a:endParaRPr sz="1200">
              <a:latin typeface="Cambria"/>
              <a:cs typeface="Cambria"/>
            </a:endParaRPr>
          </a:p>
          <a:p>
            <a:pPr marL="158115" indent="-145415">
              <a:lnSpc>
                <a:spcPct val="100000"/>
              </a:lnSpc>
              <a:spcBef>
                <a:spcPts val="75"/>
              </a:spcBef>
              <a:buSzPct val="83333"/>
              <a:buFont typeface="Symbol"/>
              <a:buChar char=""/>
              <a:tabLst>
                <a:tab pos="158115" algn="l"/>
              </a:tabLst>
            </a:pPr>
            <a:r>
              <a:rPr sz="1200" dirty="0">
                <a:latin typeface="Cambria"/>
                <a:cs typeface="Cambria"/>
              </a:rPr>
              <a:t>Bandwidth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is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not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efficiently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allocated.</a:t>
            </a:r>
            <a:endParaRPr sz="1200">
              <a:latin typeface="Cambria"/>
              <a:cs typeface="Cambria"/>
            </a:endParaRPr>
          </a:p>
          <a:p>
            <a:pPr marL="158115" indent="-145415">
              <a:lnSpc>
                <a:spcPct val="100000"/>
              </a:lnSpc>
              <a:spcBef>
                <a:spcPts val="80"/>
              </a:spcBef>
              <a:buSzPct val="83333"/>
              <a:buFont typeface="Symbol"/>
              <a:buChar char=""/>
              <a:tabLst>
                <a:tab pos="158115" algn="l"/>
              </a:tabLst>
            </a:pPr>
            <a:r>
              <a:rPr sz="1200" dirty="0">
                <a:latin typeface="Cambria"/>
                <a:cs typeface="Cambria"/>
              </a:rPr>
              <a:t>Incorrect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ATM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service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categories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are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assigned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to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applications.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3152" y="2155761"/>
            <a:ext cx="1840864" cy="189928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1400" b="1" dirty="0">
                <a:latin typeface="Cambria"/>
                <a:cs typeface="Cambria"/>
              </a:rPr>
              <a:t>2.</a:t>
            </a:r>
            <a:r>
              <a:rPr sz="1400" b="1" spc="-1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Root</a:t>
            </a:r>
            <a:r>
              <a:rPr sz="1400" b="1" spc="-1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Cause</a:t>
            </a:r>
            <a:r>
              <a:rPr sz="1400" b="1" spc="-15" dirty="0">
                <a:latin typeface="Cambria"/>
                <a:cs typeface="Cambria"/>
              </a:rPr>
              <a:t> </a:t>
            </a:r>
            <a:r>
              <a:rPr sz="1400" b="1" spc="-10" dirty="0">
                <a:latin typeface="Cambria"/>
                <a:cs typeface="Cambria"/>
              </a:rPr>
              <a:t>Analysis</a:t>
            </a:r>
            <a:endParaRPr sz="1400">
              <a:latin typeface="Cambria"/>
              <a:cs typeface="Cambria"/>
            </a:endParaRPr>
          </a:p>
          <a:p>
            <a:pPr marL="41275">
              <a:lnSpc>
                <a:spcPct val="100000"/>
              </a:lnSpc>
              <a:spcBef>
                <a:spcPts val="330"/>
              </a:spcBef>
            </a:pPr>
            <a:r>
              <a:rPr sz="1200" b="1" spc="-10" dirty="0">
                <a:latin typeface="Cambria"/>
                <a:cs typeface="Cambria"/>
              </a:rPr>
              <a:t>Problem</a:t>
            </a:r>
            <a:endParaRPr sz="1200">
              <a:latin typeface="Cambria"/>
              <a:cs typeface="Cambria"/>
            </a:endParaRPr>
          </a:p>
          <a:p>
            <a:pPr marL="41275" marR="625475">
              <a:lnSpc>
                <a:spcPts val="1820"/>
              </a:lnSpc>
              <a:spcBef>
                <a:spcPts val="120"/>
              </a:spcBef>
            </a:pPr>
            <a:r>
              <a:rPr sz="1200" dirty="0">
                <a:latin typeface="Cambria"/>
                <a:cs typeface="Cambria"/>
              </a:rPr>
              <a:t>Transaction</a:t>
            </a:r>
            <a:r>
              <a:rPr sz="1200" spc="-6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delay </a:t>
            </a:r>
            <a:r>
              <a:rPr sz="1200" dirty="0">
                <a:latin typeface="Cambria"/>
                <a:cs typeface="Cambria"/>
              </a:rPr>
              <a:t>VoIP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jitter</a:t>
            </a:r>
            <a:endParaRPr sz="1200">
              <a:latin typeface="Cambria"/>
              <a:cs typeface="Cambria"/>
            </a:endParaRPr>
          </a:p>
          <a:p>
            <a:pPr marL="41275" marR="599440">
              <a:lnSpc>
                <a:spcPts val="1810"/>
              </a:lnSpc>
              <a:spcBef>
                <a:spcPts val="15"/>
              </a:spcBef>
            </a:pPr>
            <a:r>
              <a:rPr sz="1200" dirty="0">
                <a:latin typeface="Cambria"/>
                <a:cs typeface="Cambria"/>
              </a:rPr>
              <a:t>Poor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video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quality </a:t>
            </a:r>
            <a:r>
              <a:rPr sz="1200" dirty="0">
                <a:latin typeface="Cambria"/>
                <a:cs typeface="Cambria"/>
              </a:rPr>
              <a:t>VC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congestion</a:t>
            </a:r>
            <a:endParaRPr sz="1200">
              <a:latin typeface="Cambria"/>
              <a:cs typeface="Cambria"/>
            </a:endParaRPr>
          </a:p>
          <a:p>
            <a:pPr marL="41275" marR="50165">
              <a:lnSpc>
                <a:spcPts val="1810"/>
              </a:lnSpc>
            </a:pPr>
            <a:r>
              <a:rPr sz="1200" dirty="0">
                <a:latin typeface="Cambria"/>
                <a:cs typeface="Cambria"/>
              </a:rPr>
              <a:t>Low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network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performance </a:t>
            </a:r>
            <a:r>
              <a:rPr sz="1200" dirty="0">
                <a:latin typeface="Cambria"/>
                <a:cs typeface="Cambria"/>
              </a:rPr>
              <a:t>Resource</a:t>
            </a:r>
            <a:r>
              <a:rPr sz="1200" spc="-5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wastage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68879" y="2413762"/>
            <a:ext cx="2974340" cy="164147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200" b="1" dirty="0">
                <a:latin typeface="Cambria"/>
                <a:cs typeface="Cambria"/>
              </a:rPr>
              <a:t>Root</a:t>
            </a:r>
            <a:r>
              <a:rPr sz="1200" b="1" spc="-4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Cause</a:t>
            </a:r>
            <a:endParaRPr sz="1200">
              <a:latin typeface="Cambria"/>
              <a:cs typeface="Cambria"/>
            </a:endParaRPr>
          </a:p>
          <a:p>
            <a:pPr marL="12700" marR="1223010">
              <a:lnSpc>
                <a:spcPts val="1820"/>
              </a:lnSpc>
              <a:spcBef>
                <a:spcPts val="114"/>
              </a:spcBef>
            </a:pPr>
            <a:r>
              <a:rPr sz="1200" dirty="0">
                <a:latin typeface="Cambria"/>
                <a:cs typeface="Cambria"/>
              </a:rPr>
              <a:t>ATM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switch</a:t>
            </a:r>
            <a:r>
              <a:rPr sz="1200" spc="-10" dirty="0">
                <a:latin typeface="Cambria"/>
                <a:cs typeface="Cambria"/>
              </a:rPr>
              <a:t> congestion </a:t>
            </a:r>
            <a:r>
              <a:rPr sz="1200" dirty="0">
                <a:latin typeface="Cambria"/>
                <a:cs typeface="Cambria"/>
              </a:rPr>
              <a:t>High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latency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cell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delay</a:t>
            </a:r>
            <a:endParaRPr sz="1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200" dirty="0">
                <a:latin typeface="Cambria"/>
                <a:cs typeface="Cambria"/>
              </a:rPr>
              <a:t>Bandwidth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shortage</a:t>
            </a:r>
            <a:endParaRPr sz="1200">
              <a:latin typeface="Cambria"/>
              <a:cs typeface="Cambria"/>
            </a:endParaRPr>
          </a:p>
          <a:p>
            <a:pPr marL="12700" marR="567055">
              <a:lnSpc>
                <a:spcPts val="1820"/>
              </a:lnSpc>
              <a:spcBef>
                <a:spcPts val="114"/>
              </a:spcBef>
            </a:pPr>
            <a:r>
              <a:rPr sz="1200" dirty="0">
                <a:latin typeface="Cambria"/>
                <a:cs typeface="Cambria"/>
              </a:rPr>
              <a:t>Too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many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users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sharing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same</a:t>
            </a:r>
            <a:r>
              <a:rPr sz="1200" spc="-25" dirty="0">
                <a:latin typeface="Cambria"/>
                <a:cs typeface="Cambria"/>
              </a:rPr>
              <a:t> VC </a:t>
            </a:r>
            <a:r>
              <a:rPr sz="1200" dirty="0">
                <a:latin typeface="Cambria"/>
                <a:cs typeface="Cambria"/>
              </a:rPr>
              <a:t>Improper</a:t>
            </a:r>
            <a:r>
              <a:rPr sz="1200" spc="-5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bandwidth</a:t>
            </a:r>
            <a:r>
              <a:rPr sz="1200" spc="-4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allocation</a:t>
            </a:r>
            <a:endParaRPr sz="1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200" dirty="0">
                <a:latin typeface="Cambria"/>
                <a:cs typeface="Cambria"/>
              </a:rPr>
              <a:t>Incorrect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ATM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service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category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configuration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3152" y="4242848"/>
            <a:ext cx="5746115" cy="594741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98120" indent="-185420">
              <a:lnSpc>
                <a:spcPct val="100000"/>
              </a:lnSpc>
              <a:spcBef>
                <a:spcPts val="225"/>
              </a:spcBef>
              <a:buAutoNum type="arabicPeriod" startAt="3"/>
              <a:tabLst>
                <a:tab pos="198120" algn="l"/>
              </a:tabLst>
            </a:pPr>
            <a:r>
              <a:rPr sz="1400" b="1" dirty="0">
                <a:latin typeface="Cambria"/>
                <a:cs typeface="Cambria"/>
              </a:rPr>
              <a:t>Debugging</a:t>
            </a:r>
            <a:r>
              <a:rPr sz="1400" b="1" spc="-45" dirty="0">
                <a:latin typeface="Cambria"/>
                <a:cs typeface="Cambria"/>
              </a:rPr>
              <a:t> </a:t>
            </a:r>
            <a:r>
              <a:rPr sz="1400" b="1" spc="-20" dirty="0">
                <a:latin typeface="Cambria"/>
                <a:cs typeface="Cambria"/>
              </a:rPr>
              <a:t>Steps</a:t>
            </a:r>
            <a:endParaRPr sz="1400">
              <a:latin typeface="Cambria"/>
              <a:cs typeface="Cambria"/>
            </a:endParaRPr>
          </a:p>
          <a:p>
            <a:pPr marL="240029" lvl="1" indent="-14541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40029" algn="l"/>
              </a:tabLst>
            </a:pPr>
            <a:r>
              <a:rPr sz="1200" dirty="0">
                <a:latin typeface="Cambria"/>
                <a:cs typeface="Cambria"/>
              </a:rPr>
              <a:t>Monitor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ATM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switch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utilization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during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peak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hours.</a:t>
            </a:r>
            <a:endParaRPr sz="1200">
              <a:latin typeface="Cambria"/>
              <a:cs typeface="Cambria"/>
            </a:endParaRPr>
          </a:p>
          <a:p>
            <a:pPr marL="240029" lvl="1" indent="-145415">
              <a:lnSpc>
                <a:spcPct val="100000"/>
              </a:lnSpc>
              <a:spcBef>
                <a:spcPts val="85"/>
              </a:spcBef>
              <a:buAutoNum type="arabicPeriod"/>
              <a:tabLst>
                <a:tab pos="240029" algn="l"/>
              </a:tabLst>
            </a:pPr>
            <a:r>
              <a:rPr sz="1200" dirty="0">
                <a:latin typeface="Cambria"/>
                <a:cs typeface="Cambria"/>
              </a:rPr>
              <a:t>Check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Virtual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Circuit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(VC)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status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traffic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20" dirty="0">
                <a:latin typeface="Cambria"/>
                <a:cs typeface="Cambria"/>
              </a:rPr>
              <a:t>load.</a:t>
            </a:r>
            <a:endParaRPr sz="1200">
              <a:latin typeface="Cambria"/>
              <a:cs typeface="Cambria"/>
            </a:endParaRPr>
          </a:p>
          <a:p>
            <a:pPr marL="240029" lvl="1" indent="-145415">
              <a:lnSpc>
                <a:spcPct val="100000"/>
              </a:lnSpc>
              <a:spcBef>
                <a:spcPts val="85"/>
              </a:spcBef>
              <a:buAutoNum type="arabicPeriod"/>
              <a:tabLst>
                <a:tab pos="240029" algn="l"/>
              </a:tabLst>
            </a:pPr>
            <a:r>
              <a:rPr sz="1200" dirty="0">
                <a:latin typeface="Cambria"/>
                <a:cs typeface="Cambria"/>
              </a:rPr>
              <a:t>Measure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latency,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jitter</a:t>
            </a:r>
            <a:r>
              <a:rPr sz="1200" spc="-4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cell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loss.</a:t>
            </a:r>
            <a:endParaRPr sz="1200">
              <a:latin typeface="Cambria"/>
              <a:cs typeface="Cambria"/>
            </a:endParaRPr>
          </a:p>
          <a:p>
            <a:pPr marL="240029" lvl="1" indent="-145415">
              <a:lnSpc>
                <a:spcPct val="100000"/>
              </a:lnSpc>
              <a:spcBef>
                <a:spcPts val="70"/>
              </a:spcBef>
              <a:buAutoNum type="arabicPeriod"/>
              <a:tabLst>
                <a:tab pos="240029" algn="l"/>
              </a:tabLst>
            </a:pPr>
            <a:r>
              <a:rPr sz="1200" dirty="0">
                <a:latin typeface="Cambria"/>
                <a:cs typeface="Cambria"/>
              </a:rPr>
              <a:t>Verify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bandwidth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allocation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for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each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service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category.</a:t>
            </a:r>
            <a:endParaRPr sz="1200">
              <a:latin typeface="Cambria"/>
              <a:cs typeface="Cambria"/>
            </a:endParaRPr>
          </a:p>
          <a:p>
            <a:pPr marL="240029" lvl="1" indent="-14541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240029" algn="l"/>
              </a:tabLst>
            </a:pPr>
            <a:r>
              <a:rPr sz="1200" dirty="0">
                <a:latin typeface="Cambria"/>
                <a:cs typeface="Cambria"/>
              </a:rPr>
              <a:t>Inspect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ATM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routing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tables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switch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configuration.</a:t>
            </a:r>
            <a:endParaRPr sz="1200">
              <a:latin typeface="Cambria"/>
              <a:cs typeface="Cambria"/>
            </a:endParaRPr>
          </a:p>
          <a:p>
            <a:pPr marL="240029" lvl="1" indent="-145415">
              <a:lnSpc>
                <a:spcPct val="100000"/>
              </a:lnSpc>
              <a:spcBef>
                <a:spcPts val="70"/>
              </a:spcBef>
              <a:buAutoNum type="arabicPeriod"/>
              <a:tabLst>
                <a:tab pos="240029" algn="l"/>
              </a:tabLst>
            </a:pPr>
            <a:r>
              <a:rPr sz="1200" dirty="0">
                <a:latin typeface="Cambria"/>
                <a:cs typeface="Cambria"/>
              </a:rPr>
              <a:t>Test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Quality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of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Service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(QoS)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parameters.</a:t>
            </a:r>
            <a:endParaRPr sz="1200">
              <a:latin typeface="Cambria"/>
              <a:cs typeface="Cambria"/>
            </a:endParaRPr>
          </a:p>
          <a:p>
            <a:pPr marL="240029" lvl="1" indent="-145415">
              <a:lnSpc>
                <a:spcPct val="100000"/>
              </a:lnSpc>
              <a:spcBef>
                <a:spcPts val="85"/>
              </a:spcBef>
              <a:buAutoNum type="arabicPeriod"/>
              <a:tabLst>
                <a:tab pos="240029" algn="l"/>
              </a:tabLst>
            </a:pPr>
            <a:r>
              <a:rPr sz="1200" dirty="0">
                <a:latin typeface="Cambria"/>
                <a:cs typeface="Cambria"/>
              </a:rPr>
              <a:t>Identify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applications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using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wrong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ATM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service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category.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200">
              <a:latin typeface="Cambria"/>
              <a:cs typeface="Cambria"/>
            </a:endParaRPr>
          </a:p>
          <a:p>
            <a:pPr marL="198120" indent="-185420">
              <a:lnSpc>
                <a:spcPct val="100000"/>
              </a:lnSpc>
              <a:spcBef>
                <a:spcPts val="5"/>
              </a:spcBef>
              <a:buAutoNum type="arabicPeriod" startAt="4"/>
              <a:tabLst>
                <a:tab pos="198120" algn="l"/>
              </a:tabLst>
            </a:pPr>
            <a:r>
              <a:rPr sz="1400" b="1" spc="-10" dirty="0">
                <a:latin typeface="Cambria"/>
                <a:cs typeface="Cambria"/>
              </a:rPr>
              <a:t>Optimization</a:t>
            </a:r>
            <a:r>
              <a:rPr sz="1400" b="1" spc="25" dirty="0">
                <a:latin typeface="Cambria"/>
                <a:cs typeface="Cambria"/>
              </a:rPr>
              <a:t> </a:t>
            </a:r>
            <a:r>
              <a:rPr sz="1400" b="1" spc="-10" dirty="0">
                <a:latin typeface="Cambria"/>
                <a:cs typeface="Cambria"/>
              </a:rPr>
              <a:t>Techniques</a:t>
            </a:r>
            <a:endParaRPr sz="1400">
              <a:latin typeface="Cambria"/>
              <a:cs typeface="Cambria"/>
            </a:endParaRPr>
          </a:p>
          <a:p>
            <a:pPr marL="240029" lvl="1" indent="-14541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029" algn="l"/>
              </a:tabLst>
            </a:pPr>
            <a:r>
              <a:rPr sz="1200" dirty="0">
                <a:latin typeface="Cambria"/>
                <a:cs typeface="Cambria"/>
              </a:rPr>
              <a:t>Balance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traffic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across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multiple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ATM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switches.</a:t>
            </a:r>
            <a:endParaRPr sz="1200">
              <a:latin typeface="Cambria"/>
              <a:cs typeface="Cambria"/>
            </a:endParaRPr>
          </a:p>
          <a:p>
            <a:pPr marL="240029" lvl="1" indent="-145415">
              <a:lnSpc>
                <a:spcPct val="100000"/>
              </a:lnSpc>
              <a:spcBef>
                <a:spcPts val="85"/>
              </a:spcBef>
              <a:buSzPct val="83333"/>
              <a:buFont typeface="Symbol"/>
              <a:buChar char=""/>
              <a:tabLst>
                <a:tab pos="240029" algn="l"/>
              </a:tabLst>
            </a:pPr>
            <a:r>
              <a:rPr sz="1200" dirty="0">
                <a:latin typeface="Cambria"/>
                <a:cs typeface="Cambria"/>
              </a:rPr>
              <a:t>Create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additional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Virtual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Circuits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to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reduce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congestion.</a:t>
            </a:r>
            <a:endParaRPr sz="1200">
              <a:latin typeface="Cambria"/>
              <a:cs typeface="Cambria"/>
            </a:endParaRPr>
          </a:p>
          <a:p>
            <a:pPr marL="240029" lvl="1" indent="-145415">
              <a:lnSpc>
                <a:spcPct val="100000"/>
              </a:lnSpc>
              <a:spcBef>
                <a:spcPts val="75"/>
              </a:spcBef>
              <a:buSzPct val="83333"/>
              <a:buFont typeface="Symbol"/>
              <a:buChar char=""/>
              <a:tabLst>
                <a:tab pos="240029" algn="l"/>
              </a:tabLst>
            </a:pPr>
            <a:r>
              <a:rPr sz="1200" dirty="0">
                <a:latin typeface="Cambria"/>
                <a:cs typeface="Cambria"/>
              </a:rPr>
              <a:t>Allocate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bandwidth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based</a:t>
            </a:r>
            <a:r>
              <a:rPr sz="1200" spc="-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on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application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priority.</a:t>
            </a:r>
            <a:endParaRPr sz="1200">
              <a:latin typeface="Cambria"/>
              <a:cs typeface="Cambria"/>
            </a:endParaRPr>
          </a:p>
          <a:p>
            <a:pPr marL="240029" lvl="1" indent="-145415">
              <a:lnSpc>
                <a:spcPct val="100000"/>
              </a:lnSpc>
              <a:spcBef>
                <a:spcPts val="80"/>
              </a:spcBef>
              <a:buSzPct val="83333"/>
              <a:buFont typeface="Symbol"/>
              <a:buChar char=""/>
              <a:tabLst>
                <a:tab pos="240029" algn="l"/>
              </a:tabLst>
            </a:pPr>
            <a:r>
              <a:rPr sz="1200" spc="-10" dirty="0">
                <a:latin typeface="Cambria"/>
                <a:cs typeface="Cambria"/>
              </a:rPr>
              <a:t>Configure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correct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ATM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service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categories:</a:t>
            </a:r>
            <a:endParaRPr sz="1200">
              <a:latin typeface="Cambria"/>
              <a:cs typeface="Cambria"/>
            </a:endParaRPr>
          </a:p>
          <a:p>
            <a:pPr marL="779780" lvl="2" indent="-227965">
              <a:lnSpc>
                <a:spcPct val="100000"/>
              </a:lnSpc>
              <a:spcBef>
                <a:spcPts val="75"/>
              </a:spcBef>
              <a:buSzPct val="83333"/>
              <a:buFont typeface="Courier New"/>
              <a:buChar char="o"/>
              <a:tabLst>
                <a:tab pos="779780" algn="l"/>
              </a:tabLst>
            </a:pPr>
            <a:r>
              <a:rPr sz="1200" b="1" dirty="0">
                <a:latin typeface="Cambria"/>
                <a:cs typeface="Cambria"/>
              </a:rPr>
              <a:t>CBR</a:t>
            </a:r>
            <a:r>
              <a:rPr sz="1200" b="1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–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Voice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-20" dirty="0">
                <a:latin typeface="Cambria"/>
                <a:cs typeface="Cambria"/>
              </a:rPr>
              <a:t>Video</a:t>
            </a:r>
            <a:endParaRPr sz="1200">
              <a:latin typeface="Cambria"/>
              <a:cs typeface="Cambria"/>
            </a:endParaRPr>
          </a:p>
          <a:p>
            <a:pPr marL="779780" lvl="2" indent="-227965">
              <a:lnSpc>
                <a:spcPct val="100000"/>
              </a:lnSpc>
              <a:spcBef>
                <a:spcPts val="85"/>
              </a:spcBef>
              <a:buSzPct val="83333"/>
              <a:buFont typeface="Courier New"/>
              <a:buChar char="o"/>
              <a:tabLst>
                <a:tab pos="779780" algn="l"/>
              </a:tabLst>
            </a:pPr>
            <a:r>
              <a:rPr sz="1200" b="1" dirty="0">
                <a:latin typeface="Cambria"/>
                <a:cs typeface="Cambria"/>
              </a:rPr>
              <a:t>VBR</a:t>
            </a:r>
            <a:r>
              <a:rPr sz="1200" b="1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–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Multimedia</a:t>
            </a:r>
            <a:endParaRPr sz="1200">
              <a:latin typeface="Cambria"/>
              <a:cs typeface="Cambria"/>
            </a:endParaRPr>
          </a:p>
          <a:p>
            <a:pPr marL="779780" lvl="2" indent="-227965">
              <a:lnSpc>
                <a:spcPct val="100000"/>
              </a:lnSpc>
              <a:spcBef>
                <a:spcPts val="70"/>
              </a:spcBef>
              <a:buSzPct val="83333"/>
              <a:buFont typeface="Courier New"/>
              <a:buChar char="o"/>
              <a:tabLst>
                <a:tab pos="779780" algn="l"/>
              </a:tabLst>
            </a:pPr>
            <a:r>
              <a:rPr sz="1200" b="1" dirty="0">
                <a:latin typeface="Cambria"/>
                <a:cs typeface="Cambria"/>
              </a:rPr>
              <a:t>ABR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–</a:t>
            </a:r>
            <a:r>
              <a:rPr sz="1200" spc="-10" dirty="0">
                <a:latin typeface="Cambria"/>
                <a:cs typeface="Cambria"/>
              </a:rPr>
              <a:t> General </a:t>
            </a:r>
            <a:r>
              <a:rPr sz="1200" spc="-20" dirty="0">
                <a:latin typeface="Cambria"/>
                <a:cs typeface="Cambria"/>
              </a:rPr>
              <a:t>Data</a:t>
            </a:r>
            <a:endParaRPr sz="1200">
              <a:latin typeface="Cambria"/>
              <a:cs typeface="Cambria"/>
            </a:endParaRPr>
          </a:p>
          <a:p>
            <a:pPr marL="779780" lvl="2" indent="-227965">
              <a:lnSpc>
                <a:spcPct val="100000"/>
              </a:lnSpc>
              <a:spcBef>
                <a:spcPts val="85"/>
              </a:spcBef>
              <a:buSzPct val="83333"/>
              <a:buFont typeface="Courier New"/>
              <a:buChar char="o"/>
              <a:tabLst>
                <a:tab pos="779780" algn="l"/>
              </a:tabLst>
            </a:pPr>
            <a:r>
              <a:rPr sz="1200" b="1" dirty="0">
                <a:latin typeface="Cambria"/>
                <a:cs typeface="Cambria"/>
              </a:rPr>
              <a:t>UBR</a:t>
            </a:r>
            <a:r>
              <a:rPr sz="1200" b="1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–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Email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File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Transfer</a:t>
            </a:r>
            <a:endParaRPr sz="1200">
              <a:latin typeface="Cambria"/>
              <a:cs typeface="Cambria"/>
            </a:endParaRPr>
          </a:p>
          <a:p>
            <a:pPr marL="240029" lvl="1" indent="-145415">
              <a:lnSpc>
                <a:spcPct val="100000"/>
              </a:lnSpc>
              <a:spcBef>
                <a:spcPts val="75"/>
              </a:spcBef>
              <a:buSzPct val="83333"/>
              <a:buFont typeface="Symbol"/>
              <a:buChar char=""/>
              <a:tabLst>
                <a:tab pos="240029" algn="l"/>
              </a:tabLst>
            </a:pPr>
            <a:r>
              <a:rPr sz="1200" dirty="0">
                <a:latin typeface="Cambria"/>
                <a:cs typeface="Cambria"/>
              </a:rPr>
              <a:t>Enable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traffic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shaping</a:t>
            </a:r>
            <a:r>
              <a:rPr sz="1200" spc="-4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congestion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control.</a:t>
            </a:r>
            <a:endParaRPr sz="1200">
              <a:latin typeface="Cambria"/>
              <a:cs typeface="Cambria"/>
            </a:endParaRPr>
          </a:p>
          <a:p>
            <a:pPr marL="240029" lvl="1" indent="-145415">
              <a:lnSpc>
                <a:spcPct val="100000"/>
              </a:lnSpc>
              <a:spcBef>
                <a:spcPts val="85"/>
              </a:spcBef>
              <a:buSzPct val="83333"/>
              <a:buFont typeface="Symbol"/>
              <a:buChar char=""/>
              <a:tabLst>
                <a:tab pos="240029" algn="l"/>
              </a:tabLst>
            </a:pPr>
            <a:r>
              <a:rPr sz="1200" spc="-10" dirty="0">
                <a:latin typeface="Cambria"/>
                <a:cs typeface="Cambria"/>
              </a:rPr>
              <a:t>Continuously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monitor</a:t>
            </a:r>
            <a:r>
              <a:rPr sz="1200" spc="-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network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performance.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200">
              <a:latin typeface="Cambria"/>
              <a:cs typeface="Cambria"/>
            </a:endParaRPr>
          </a:p>
          <a:p>
            <a:pPr marL="198120" indent="-185420" algn="just">
              <a:lnSpc>
                <a:spcPct val="100000"/>
              </a:lnSpc>
              <a:spcBef>
                <a:spcPts val="5"/>
              </a:spcBef>
              <a:buAutoNum type="arabicPeriod" startAt="5"/>
              <a:tabLst>
                <a:tab pos="198120" algn="l"/>
              </a:tabLst>
            </a:pPr>
            <a:r>
              <a:rPr sz="1400" b="1" spc="-10" dirty="0">
                <a:latin typeface="Cambria"/>
                <a:cs typeface="Cambria"/>
              </a:rPr>
              <a:t>Analysis</a:t>
            </a:r>
            <a:endParaRPr sz="1400">
              <a:latin typeface="Cambria"/>
              <a:cs typeface="Cambria"/>
            </a:endParaRPr>
          </a:p>
          <a:p>
            <a:pPr marL="241300" marR="5080" indent="-228600" algn="just">
              <a:lnSpc>
                <a:spcPct val="105400"/>
              </a:lnSpc>
              <a:spcBef>
                <a:spcPts val="35"/>
              </a:spcBef>
            </a:pPr>
            <a:r>
              <a:rPr sz="1200" spc="-10" dirty="0">
                <a:latin typeface="Cambria"/>
                <a:cs typeface="Cambria"/>
              </a:rPr>
              <a:t>The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performance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issues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occur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because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several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ATM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switches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and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Virtual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Circuits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become overloaded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during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spc="-20" dirty="0">
                <a:latin typeface="Cambria"/>
                <a:cs typeface="Cambria"/>
              </a:rPr>
              <a:t>peak</a:t>
            </a:r>
            <a:r>
              <a:rPr sz="1200" spc="-4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hours.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Incorrect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QoS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settings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increase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delay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20" dirty="0">
                <a:latin typeface="Cambria"/>
                <a:cs typeface="Cambria"/>
              </a:rPr>
              <a:t>and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jitter.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Proper </a:t>
            </a:r>
            <a:r>
              <a:rPr sz="1200" dirty="0">
                <a:latin typeface="Cambria"/>
                <a:cs typeface="Cambria"/>
              </a:rPr>
              <a:t>bandwidth</a:t>
            </a:r>
            <a:r>
              <a:rPr sz="1200" spc="45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allocation,</a:t>
            </a:r>
            <a:r>
              <a:rPr sz="1200" spc="45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correct</a:t>
            </a:r>
            <a:r>
              <a:rPr sz="1200" spc="45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service</a:t>
            </a:r>
            <a:r>
              <a:rPr sz="1200" spc="459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category</a:t>
            </a:r>
            <a:r>
              <a:rPr sz="1200" spc="46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selection</a:t>
            </a:r>
            <a:r>
              <a:rPr sz="1200" spc="459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459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traffic</a:t>
            </a:r>
            <a:r>
              <a:rPr sz="1200" spc="45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balancing </a:t>
            </a:r>
            <a:r>
              <a:rPr sz="1200" dirty="0">
                <a:latin typeface="Cambria"/>
                <a:cs typeface="Cambria"/>
              </a:rPr>
              <a:t>improve</a:t>
            </a:r>
            <a:r>
              <a:rPr sz="1200" spc="5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network</a:t>
            </a:r>
            <a:r>
              <a:rPr sz="1200" spc="5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efficiency,</a:t>
            </a:r>
            <a:r>
              <a:rPr sz="1200" spc="6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reduce</a:t>
            </a:r>
            <a:r>
              <a:rPr sz="1200" spc="6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latency</a:t>
            </a:r>
            <a:r>
              <a:rPr sz="1200" spc="5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6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ensure</a:t>
            </a:r>
            <a:r>
              <a:rPr sz="1200" spc="6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reliable</a:t>
            </a:r>
            <a:r>
              <a:rPr sz="1200" spc="6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communication</a:t>
            </a:r>
            <a:r>
              <a:rPr sz="1200" spc="65" dirty="0">
                <a:latin typeface="Cambria"/>
                <a:cs typeface="Cambria"/>
              </a:rPr>
              <a:t> </a:t>
            </a:r>
            <a:r>
              <a:rPr sz="1200" spc="-25" dirty="0">
                <a:latin typeface="Cambria"/>
                <a:cs typeface="Cambria"/>
              </a:rPr>
              <a:t>for </a:t>
            </a:r>
            <a:r>
              <a:rPr sz="1200" dirty="0">
                <a:latin typeface="Cambria"/>
                <a:cs typeface="Cambria"/>
              </a:rPr>
              <a:t>banking</a:t>
            </a:r>
            <a:r>
              <a:rPr sz="1200" spc="-6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applications.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200">
              <a:latin typeface="Cambria"/>
              <a:cs typeface="Cambria"/>
            </a:endParaRPr>
          </a:p>
          <a:p>
            <a:pPr marL="198120" indent="-185420" algn="just">
              <a:lnSpc>
                <a:spcPct val="100000"/>
              </a:lnSpc>
              <a:buAutoNum type="arabicPeriod" startAt="6"/>
              <a:tabLst>
                <a:tab pos="198120" algn="l"/>
              </a:tabLst>
            </a:pPr>
            <a:r>
              <a:rPr sz="1400" b="1" dirty="0">
                <a:latin typeface="Cambria"/>
                <a:cs typeface="Cambria"/>
              </a:rPr>
              <a:t>Sample</a:t>
            </a:r>
            <a:r>
              <a:rPr sz="1400" b="1" spc="-15" dirty="0">
                <a:latin typeface="Cambria"/>
                <a:cs typeface="Cambria"/>
              </a:rPr>
              <a:t> </a:t>
            </a:r>
            <a:r>
              <a:rPr sz="1400" b="1" spc="-10" dirty="0">
                <a:latin typeface="Cambria"/>
                <a:cs typeface="Cambria"/>
              </a:rPr>
              <a:t>Pseudocode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" dirty="0">
                <a:latin typeface="Cambria"/>
                <a:cs typeface="Cambria"/>
              </a:rPr>
              <a:t>START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3152" y="857504"/>
            <a:ext cx="5744845" cy="8372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"/>
                <a:cs typeface="Cambria"/>
              </a:rPr>
              <a:t>Monitor</a:t>
            </a:r>
            <a:r>
              <a:rPr sz="1200" spc="-4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ATM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Switch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200">
              <a:latin typeface="Cambria"/>
              <a:cs typeface="Cambria"/>
            </a:endParaRPr>
          </a:p>
          <a:p>
            <a:pPr marL="146685" marR="3531870" indent="-134620">
              <a:lnSpc>
                <a:spcPct val="105800"/>
              </a:lnSpc>
            </a:pPr>
            <a:r>
              <a:rPr sz="1200" dirty="0">
                <a:latin typeface="Cambria"/>
                <a:cs typeface="Cambria"/>
              </a:rPr>
              <a:t>IF</a:t>
            </a:r>
            <a:r>
              <a:rPr sz="1200" spc="-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Switch</a:t>
            </a:r>
            <a:r>
              <a:rPr sz="1200" spc="-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Utilization</a:t>
            </a:r>
            <a:r>
              <a:rPr sz="1200" spc="-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&gt; 80% </a:t>
            </a:r>
            <a:r>
              <a:rPr sz="1200" spc="-20" dirty="0">
                <a:latin typeface="Cambria"/>
                <a:cs typeface="Cambria"/>
              </a:rPr>
              <a:t>THEN </a:t>
            </a:r>
            <a:r>
              <a:rPr sz="1200" dirty="0">
                <a:latin typeface="Cambria"/>
                <a:cs typeface="Cambria"/>
              </a:rPr>
              <a:t>Redirect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Traffic</a:t>
            </a:r>
            <a:endParaRPr sz="1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latin typeface="Cambria"/>
                <a:cs typeface="Cambria"/>
              </a:rPr>
              <a:t>ENDIF</a:t>
            </a:r>
            <a:endParaRPr sz="1200">
              <a:latin typeface="Cambria"/>
              <a:cs typeface="Cambria"/>
            </a:endParaRPr>
          </a:p>
          <a:p>
            <a:pPr marL="12700" marR="4251325">
              <a:lnSpc>
                <a:spcPct val="210800"/>
              </a:lnSpc>
            </a:pPr>
            <a:r>
              <a:rPr sz="1200" dirty="0">
                <a:latin typeface="Cambria"/>
                <a:cs typeface="Cambria"/>
              </a:rPr>
              <a:t>Check</a:t>
            </a:r>
            <a:r>
              <a:rPr sz="1200" spc="-5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Virtual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Circuit</a:t>
            </a:r>
            <a:r>
              <a:rPr sz="1200" spc="50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IF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VC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Congested</a:t>
            </a:r>
            <a:r>
              <a:rPr sz="1200" spc="-20" dirty="0">
                <a:latin typeface="Cambria"/>
                <a:cs typeface="Cambria"/>
              </a:rPr>
              <a:t> THEN</a:t>
            </a:r>
            <a:endParaRPr sz="1200">
              <a:latin typeface="Cambria"/>
              <a:cs typeface="Cambria"/>
            </a:endParaRPr>
          </a:p>
          <a:p>
            <a:pPr marL="12700" marR="4626610" indent="133985">
              <a:lnSpc>
                <a:spcPct val="105000"/>
              </a:lnSpc>
              <a:spcBef>
                <a:spcPts val="10"/>
              </a:spcBef>
            </a:pPr>
            <a:r>
              <a:rPr sz="1200" dirty="0">
                <a:latin typeface="Cambria"/>
                <a:cs typeface="Cambria"/>
              </a:rPr>
              <a:t>Create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New</a:t>
            </a:r>
            <a:r>
              <a:rPr sz="1200" spc="-25" dirty="0">
                <a:latin typeface="Cambria"/>
                <a:cs typeface="Cambria"/>
              </a:rPr>
              <a:t> VC </a:t>
            </a:r>
            <a:r>
              <a:rPr sz="1200" spc="-10" dirty="0">
                <a:latin typeface="Cambria"/>
                <a:cs typeface="Cambria"/>
              </a:rPr>
              <a:t>ENDIF</a:t>
            </a:r>
            <a:endParaRPr sz="1200">
              <a:latin typeface="Cambria"/>
              <a:cs typeface="Cambria"/>
            </a:endParaRPr>
          </a:p>
          <a:p>
            <a:pPr marL="12700" marR="4210685">
              <a:lnSpc>
                <a:spcPct val="210800"/>
              </a:lnSpc>
              <a:spcBef>
                <a:spcPts val="5"/>
              </a:spcBef>
            </a:pPr>
            <a:r>
              <a:rPr sz="1200" dirty="0">
                <a:latin typeface="Cambria"/>
                <a:cs typeface="Cambria"/>
              </a:rPr>
              <a:t>Check</a:t>
            </a:r>
            <a:r>
              <a:rPr sz="1200" spc="-4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Service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Category </a:t>
            </a:r>
            <a:r>
              <a:rPr sz="1200" dirty="0">
                <a:latin typeface="Cambria"/>
                <a:cs typeface="Cambria"/>
              </a:rPr>
              <a:t>IF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Voice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Traffic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20" dirty="0">
                <a:latin typeface="Cambria"/>
                <a:cs typeface="Cambria"/>
              </a:rPr>
              <a:t>THEN</a:t>
            </a:r>
            <a:endParaRPr sz="1200">
              <a:latin typeface="Cambria"/>
              <a:cs typeface="Cambria"/>
            </a:endParaRPr>
          </a:p>
          <a:p>
            <a:pPr marL="146685">
              <a:lnSpc>
                <a:spcPct val="100000"/>
              </a:lnSpc>
              <a:spcBef>
                <a:spcPts val="85"/>
              </a:spcBef>
            </a:pPr>
            <a:r>
              <a:rPr sz="1200" dirty="0">
                <a:latin typeface="Cambria"/>
                <a:cs typeface="Cambria"/>
              </a:rPr>
              <a:t>Assign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spc="-25" dirty="0">
                <a:latin typeface="Cambria"/>
                <a:cs typeface="Cambria"/>
              </a:rPr>
              <a:t>CBR</a:t>
            </a:r>
            <a:endParaRPr sz="1200">
              <a:latin typeface="Cambria"/>
              <a:cs typeface="Cambria"/>
            </a:endParaRPr>
          </a:p>
          <a:p>
            <a:pPr marL="146685" marR="3935729" indent="-134620">
              <a:lnSpc>
                <a:spcPts val="1520"/>
              </a:lnSpc>
              <a:spcBef>
                <a:spcPts val="55"/>
              </a:spcBef>
            </a:pPr>
            <a:r>
              <a:rPr sz="1200" dirty="0">
                <a:latin typeface="Cambria"/>
                <a:cs typeface="Cambria"/>
              </a:rPr>
              <a:t>ELSE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IF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Video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Traffic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20" dirty="0">
                <a:latin typeface="Cambria"/>
                <a:cs typeface="Cambria"/>
              </a:rPr>
              <a:t>THEN </a:t>
            </a:r>
            <a:r>
              <a:rPr sz="1200" dirty="0">
                <a:latin typeface="Cambria"/>
                <a:cs typeface="Cambria"/>
              </a:rPr>
              <a:t>Assign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spc="-25" dirty="0">
                <a:latin typeface="Cambria"/>
                <a:cs typeface="Cambria"/>
              </a:rPr>
              <a:t>VBR</a:t>
            </a:r>
            <a:endParaRPr sz="1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200" spc="-20" dirty="0">
                <a:latin typeface="Cambria"/>
                <a:cs typeface="Cambria"/>
              </a:rPr>
              <a:t>ELSE</a:t>
            </a:r>
            <a:endParaRPr sz="1200">
              <a:latin typeface="Cambria"/>
              <a:cs typeface="Cambria"/>
            </a:endParaRPr>
          </a:p>
          <a:p>
            <a:pPr marL="12700" marR="4485005" indent="133985">
              <a:lnSpc>
                <a:spcPct val="105000"/>
              </a:lnSpc>
              <a:spcBef>
                <a:spcPts val="15"/>
              </a:spcBef>
            </a:pPr>
            <a:r>
              <a:rPr sz="1200" dirty="0">
                <a:latin typeface="Cambria"/>
                <a:cs typeface="Cambria"/>
              </a:rPr>
              <a:t>Assign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ABR/UBR ENDIF</a:t>
            </a:r>
            <a:endParaRPr sz="1200">
              <a:latin typeface="Cambria"/>
              <a:cs typeface="Cambria"/>
            </a:endParaRPr>
          </a:p>
          <a:p>
            <a:pPr marL="12700" marR="4445635">
              <a:lnSpc>
                <a:spcPts val="3040"/>
              </a:lnSpc>
              <a:spcBef>
                <a:spcPts val="360"/>
              </a:spcBef>
            </a:pPr>
            <a:r>
              <a:rPr sz="1200" dirty="0">
                <a:latin typeface="Cambria"/>
                <a:cs typeface="Cambria"/>
              </a:rPr>
              <a:t>Allocate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Bandwidth </a:t>
            </a:r>
            <a:r>
              <a:rPr sz="1200" dirty="0">
                <a:latin typeface="Cambria"/>
                <a:cs typeface="Cambria"/>
              </a:rPr>
              <a:t>Monitor</a:t>
            </a:r>
            <a:r>
              <a:rPr sz="1200" spc="-60" dirty="0">
                <a:latin typeface="Cambria"/>
                <a:cs typeface="Cambria"/>
              </a:rPr>
              <a:t> </a:t>
            </a:r>
            <a:r>
              <a:rPr sz="1200" spc="-25" dirty="0">
                <a:latin typeface="Cambria"/>
                <a:cs typeface="Cambria"/>
              </a:rPr>
              <a:t>QoS</a:t>
            </a:r>
            <a:endParaRPr sz="1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1200" spc="-20" dirty="0">
                <a:latin typeface="Cambria"/>
                <a:cs typeface="Cambria"/>
              </a:rPr>
              <a:t>STOP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200">
              <a:latin typeface="Cambria"/>
              <a:cs typeface="Cambria"/>
            </a:endParaRPr>
          </a:p>
          <a:p>
            <a:pPr marL="198120" indent="-185420">
              <a:lnSpc>
                <a:spcPct val="100000"/>
              </a:lnSpc>
              <a:buAutoNum type="arabicPeriod" startAt="7"/>
              <a:tabLst>
                <a:tab pos="198120" algn="l"/>
              </a:tabLst>
            </a:pPr>
            <a:r>
              <a:rPr sz="1400" b="1" dirty="0">
                <a:latin typeface="Cambria"/>
                <a:cs typeface="Cambria"/>
              </a:rPr>
              <a:t>Expected</a:t>
            </a:r>
            <a:r>
              <a:rPr sz="1400" b="1" spc="-30" dirty="0">
                <a:latin typeface="Cambria"/>
                <a:cs typeface="Cambria"/>
              </a:rPr>
              <a:t> </a:t>
            </a:r>
            <a:r>
              <a:rPr sz="1400" b="1" spc="-10" dirty="0">
                <a:latin typeface="Cambria"/>
                <a:cs typeface="Cambria"/>
              </a:rPr>
              <a:t>Result</a:t>
            </a:r>
            <a:endParaRPr sz="1400">
              <a:latin typeface="Cambria"/>
              <a:cs typeface="Cambria"/>
            </a:endParaRPr>
          </a:p>
          <a:p>
            <a:pPr marL="240029" lvl="1" indent="-145415">
              <a:lnSpc>
                <a:spcPct val="100000"/>
              </a:lnSpc>
              <a:spcBef>
                <a:spcPts val="120"/>
              </a:spcBef>
              <a:buSzPct val="83333"/>
              <a:buFont typeface="Symbol"/>
              <a:buChar char=""/>
              <a:tabLst>
                <a:tab pos="240029" algn="l"/>
              </a:tabLst>
            </a:pPr>
            <a:r>
              <a:rPr sz="1200" dirty="0">
                <a:latin typeface="Cambria"/>
                <a:cs typeface="Cambria"/>
              </a:rPr>
              <a:t>Faster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online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banking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transactions.</a:t>
            </a:r>
            <a:endParaRPr sz="1200">
              <a:latin typeface="Cambria"/>
              <a:cs typeface="Cambria"/>
            </a:endParaRPr>
          </a:p>
          <a:p>
            <a:pPr marL="240029" lvl="1" indent="-145415">
              <a:lnSpc>
                <a:spcPct val="100000"/>
              </a:lnSpc>
              <a:spcBef>
                <a:spcPts val="80"/>
              </a:spcBef>
              <a:buSzPct val="83333"/>
              <a:buFont typeface="Symbol"/>
              <a:buChar char=""/>
              <a:tabLst>
                <a:tab pos="240029" algn="l"/>
              </a:tabLst>
            </a:pPr>
            <a:r>
              <a:rPr sz="1200" dirty="0">
                <a:latin typeface="Cambria"/>
                <a:cs typeface="Cambria"/>
              </a:rPr>
              <a:t>Reduced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delay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jitter.</a:t>
            </a:r>
            <a:endParaRPr sz="1200">
              <a:latin typeface="Cambria"/>
              <a:cs typeface="Cambria"/>
            </a:endParaRPr>
          </a:p>
          <a:p>
            <a:pPr marL="240029" lvl="1" indent="-145415">
              <a:lnSpc>
                <a:spcPct val="100000"/>
              </a:lnSpc>
              <a:spcBef>
                <a:spcPts val="75"/>
              </a:spcBef>
              <a:buSzPct val="83333"/>
              <a:buFont typeface="Symbol"/>
              <a:buChar char=""/>
              <a:tabLst>
                <a:tab pos="240029" algn="l"/>
              </a:tabLst>
            </a:pPr>
            <a:r>
              <a:rPr sz="1200" dirty="0">
                <a:latin typeface="Cambria"/>
                <a:cs typeface="Cambria"/>
              </a:rPr>
              <a:t>Improved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VoIP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call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quality.</a:t>
            </a:r>
            <a:endParaRPr sz="1200">
              <a:latin typeface="Cambria"/>
              <a:cs typeface="Cambria"/>
            </a:endParaRPr>
          </a:p>
          <a:p>
            <a:pPr marL="240029" lvl="1" indent="-145415">
              <a:lnSpc>
                <a:spcPct val="100000"/>
              </a:lnSpc>
              <a:spcBef>
                <a:spcPts val="85"/>
              </a:spcBef>
              <a:buSzPct val="83333"/>
              <a:buFont typeface="Symbol"/>
              <a:buChar char=""/>
              <a:tabLst>
                <a:tab pos="240029" algn="l"/>
              </a:tabLst>
            </a:pPr>
            <a:r>
              <a:rPr sz="1200" dirty="0">
                <a:latin typeface="Cambria"/>
                <a:cs typeface="Cambria"/>
              </a:rPr>
              <a:t>Better</a:t>
            </a:r>
            <a:r>
              <a:rPr sz="1200" spc="-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video </a:t>
            </a:r>
            <a:r>
              <a:rPr sz="1200" spc="-10" dirty="0">
                <a:latin typeface="Cambria"/>
                <a:cs typeface="Cambria"/>
              </a:rPr>
              <a:t>conferencing</a:t>
            </a:r>
            <a:r>
              <a:rPr sz="120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performance.</a:t>
            </a:r>
            <a:endParaRPr sz="1200">
              <a:latin typeface="Cambria"/>
              <a:cs typeface="Cambria"/>
            </a:endParaRPr>
          </a:p>
          <a:p>
            <a:pPr marL="240029" lvl="1" indent="-145415">
              <a:lnSpc>
                <a:spcPct val="100000"/>
              </a:lnSpc>
              <a:spcBef>
                <a:spcPts val="70"/>
              </a:spcBef>
              <a:buSzPct val="83333"/>
              <a:buFont typeface="Symbol"/>
              <a:buChar char=""/>
              <a:tabLst>
                <a:tab pos="240029" algn="l"/>
              </a:tabLst>
            </a:pPr>
            <a:r>
              <a:rPr sz="1200" dirty="0">
                <a:latin typeface="Cambria"/>
                <a:cs typeface="Cambria"/>
              </a:rPr>
              <a:t>Balanced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traffic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across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ATM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switches.</a:t>
            </a:r>
            <a:endParaRPr sz="1200">
              <a:latin typeface="Cambria"/>
              <a:cs typeface="Cambria"/>
            </a:endParaRPr>
          </a:p>
          <a:p>
            <a:pPr marL="240029" lvl="1" indent="-145415">
              <a:lnSpc>
                <a:spcPct val="100000"/>
              </a:lnSpc>
              <a:spcBef>
                <a:spcPts val="85"/>
              </a:spcBef>
              <a:buSzPct val="83333"/>
              <a:buFont typeface="Symbol"/>
              <a:buChar char=""/>
              <a:tabLst>
                <a:tab pos="240029" algn="l"/>
              </a:tabLst>
            </a:pPr>
            <a:r>
              <a:rPr sz="1200" dirty="0">
                <a:latin typeface="Cambria"/>
                <a:cs typeface="Cambria"/>
              </a:rPr>
              <a:t>Efficient</a:t>
            </a:r>
            <a:r>
              <a:rPr sz="1200" spc="-4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bandwidth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utilization.</a:t>
            </a:r>
            <a:endParaRPr sz="1200">
              <a:latin typeface="Cambria"/>
              <a:cs typeface="Cambria"/>
            </a:endParaRPr>
          </a:p>
          <a:p>
            <a:pPr marL="240029" lvl="1" indent="-145415">
              <a:lnSpc>
                <a:spcPct val="100000"/>
              </a:lnSpc>
              <a:spcBef>
                <a:spcPts val="75"/>
              </a:spcBef>
              <a:buSzPct val="83333"/>
              <a:buFont typeface="Symbol"/>
              <a:buChar char=""/>
              <a:tabLst>
                <a:tab pos="240029" algn="l"/>
              </a:tabLst>
            </a:pPr>
            <a:r>
              <a:rPr sz="1200" dirty="0">
                <a:latin typeface="Cambria"/>
                <a:cs typeface="Cambria"/>
              </a:rPr>
              <a:t>Reliable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secure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ATM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communication.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spc="-10" dirty="0">
                <a:latin typeface="Cambria"/>
                <a:cs typeface="Cambria"/>
              </a:rPr>
              <a:t>Conclusion</a:t>
            </a:r>
            <a:endParaRPr sz="1400">
              <a:latin typeface="Cambria"/>
              <a:cs typeface="Cambria"/>
            </a:endParaRPr>
          </a:p>
          <a:p>
            <a:pPr marL="241300" marR="5080" indent="-228600" algn="just">
              <a:lnSpc>
                <a:spcPct val="105400"/>
              </a:lnSpc>
              <a:spcBef>
                <a:spcPts val="35"/>
              </a:spcBef>
            </a:pPr>
            <a:r>
              <a:rPr sz="1200" dirty="0">
                <a:latin typeface="Cambria"/>
                <a:cs typeface="Cambria"/>
              </a:rPr>
              <a:t>The</a:t>
            </a:r>
            <a:r>
              <a:rPr sz="1200" spc="18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ATM</a:t>
            </a:r>
            <a:r>
              <a:rPr sz="1200" spc="18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network</a:t>
            </a:r>
            <a:r>
              <a:rPr sz="1200" spc="18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problems</a:t>
            </a:r>
            <a:r>
              <a:rPr sz="1200" spc="18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were</a:t>
            </a:r>
            <a:r>
              <a:rPr sz="1200" spc="18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caused</a:t>
            </a:r>
            <a:r>
              <a:rPr sz="1200" spc="18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by</a:t>
            </a:r>
            <a:r>
              <a:rPr sz="1200" spc="16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congested</a:t>
            </a:r>
            <a:r>
              <a:rPr sz="1200" spc="18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switches,</a:t>
            </a:r>
            <a:r>
              <a:rPr sz="1200" spc="19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overloaded</a:t>
            </a:r>
            <a:r>
              <a:rPr sz="1200" spc="18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Virtual </a:t>
            </a:r>
            <a:r>
              <a:rPr sz="1200" dirty="0">
                <a:latin typeface="Cambria"/>
                <a:cs typeface="Cambria"/>
              </a:rPr>
              <a:t>Circuits</a:t>
            </a:r>
            <a:r>
              <a:rPr sz="1200" spc="120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120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improper</a:t>
            </a:r>
            <a:r>
              <a:rPr sz="1200" spc="120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QoS</a:t>
            </a:r>
            <a:r>
              <a:rPr sz="1200" spc="125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configuration.</a:t>
            </a:r>
            <a:r>
              <a:rPr sz="1200" spc="125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By</a:t>
            </a:r>
            <a:r>
              <a:rPr sz="1200" spc="114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implementing</a:t>
            </a:r>
            <a:r>
              <a:rPr sz="1200" spc="120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traffic</a:t>
            </a:r>
            <a:r>
              <a:rPr sz="1200" spc="120" dirty="0">
                <a:latin typeface="Cambria"/>
                <a:cs typeface="Cambria"/>
              </a:rPr>
              <a:t>  </a:t>
            </a:r>
            <a:r>
              <a:rPr sz="1200" spc="-10" dirty="0">
                <a:latin typeface="Cambria"/>
                <a:cs typeface="Cambria"/>
              </a:rPr>
              <a:t>balancing, </a:t>
            </a:r>
            <a:r>
              <a:rPr sz="1200" dirty="0">
                <a:latin typeface="Cambria"/>
                <a:cs typeface="Cambria"/>
              </a:rPr>
              <a:t>bandwidth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optimisation,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appropriate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ATM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service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categories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congestion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control,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340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network</a:t>
            </a:r>
            <a:r>
              <a:rPr sz="1200" spc="345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achieves</a:t>
            </a:r>
            <a:r>
              <a:rPr sz="1200" spc="340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high</a:t>
            </a:r>
            <a:r>
              <a:rPr sz="1200" spc="345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performance,</a:t>
            </a:r>
            <a:r>
              <a:rPr sz="1200" spc="345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reduced</a:t>
            </a:r>
            <a:r>
              <a:rPr sz="1200" spc="345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latency</a:t>
            </a:r>
            <a:r>
              <a:rPr sz="1200" spc="345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345" dirty="0">
                <a:latin typeface="Cambria"/>
                <a:cs typeface="Cambria"/>
              </a:rPr>
              <a:t>  </a:t>
            </a:r>
            <a:r>
              <a:rPr sz="1200" spc="-10" dirty="0">
                <a:latin typeface="Cambria"/>
                <a:cs typeface="Cambria"/>
              </a:rPr>
              <a:t>reliable communication,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satisfying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-1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Level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4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(Exemplary)</a:t>
            </a:r>
            <a:r>
              <a:rPr sz="1200" b="1" spc="-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assessment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rubric.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3152" y="9733889"/>
            <a:ext cx="5748655" cy="732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 algn="just">
              <a:lnSpc>
                <a:spcPct val="105500"/>
              </a:lnSpc>
              <a:spcBef>
                <a:spcPts val="95"/>
              </a:spcBef>
            </a:pPr>
            <a:r>
              <a:rPr sz="1100" dirty="0">
                <a:latin typeface="Cambria"/>
                <a:cs typeface="Cambria"/>
              </a:rPr>
              <a:t>3.</a:t>
            </a:r>
            <a:r>
              <a:rPr sz="1100" spc="185" dirty="0">
                <a:latin typeface="Cambria"/>
                <a:cs typeface="Cambria"/>
              </a:rPr>
              <a:t>  </a:t>
            </a:r>
            <a:r>
              <a:rPr sz="1100" dirty="0">
                <a:latin typeface="Cambria"/>
                <a:cs typeface="Cambria"/>
              </a:rPr>
              <a:t>A</a:t>
            </a:r>
            <a:r>
              <a:rPr sz="1100" spc="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multinational</a:t>
            </a:r>
            <a:r>
              <a:rPr sz="1100" spc="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e-commerce</a:t>
            </a:r>
            <a:r>
              <a:rPr sz="1100" spc="-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company has</a:t>
            </a:r>
            <a:r>
              <a:rPr sz="1100" spc="1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interconnected</a:t>
            </a:r>
            <a:r>
              <a:rPr sz="1100" spc="-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its</a:t>
            </a:r>
            <a:r>
              <a:rPr sz="1100" spc="-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headquarters,</a:t>
            </a:r>
            <a:r>
              <a:rPr sz="1100" spc="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regional</a:t>
            </a:r>
            <a:r>
              <a:rPr sz="1100" spc="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offices, warehouses,</a:t>
            </a:r>
            <a:r>
              <a:rPr sz="1100" spc="-2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and</a:t>
            </a:r>
            <a:r>
              <a:rPr sz="1100" spc="-25" dirty="0">
                <a:latin typeface="Cambria"/>
                <a:cs typeface="Cambria"/>
              </a:rPr>
              <a:t> </a:t>
            </a:r>
            <a:r>
              <a:rPr sz="1100" spc="-20" dirty="0">
                <a:latin typeface="Cambria"/>
                <a:cs typeface="Cambria"/>
              </a:rPr>
              <a:t>cloud data </a:t>
            </a:r>
            <a:r>
              <a:rPr sz="1100" spc="-10" dirty="0">
                <a:latin typeface="Cambria"/>
                <a:cs typeface="Cambria"/>
              </a:rPr>
              <a:t>centers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using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 </a:t>
            </a:r>
            <a:r>
              <a:rPr sz="1100" b="1" spc="-10" dirty="0">
                <a:latin typeface="Cambria"/>
                <a:cs typeface="Cambria"/>
              </a:rPr>
              <a:t>Multiprotocol</a:t>
            </a:r>
            <a:r>
              <a:rPr sz="1100" b="1" spc="-25" dirty="0">
                <a:latin typeface="Cambria"/>
                <a:cs typeface="Cambria"/>
              </a:rPr>
              <a:t> </a:t>
            </a:r>
            <a:r>
              <a:rPr sz="1100" b="1" spc="-10" dirty="0">
                <a:latin typeface="Cambria"/>
                <a:cs typeface="Cambria"/>
              </a:rPr>
              <a:t>Label</a:t>
            </a:r>
            <a:r>
              <a:rPr sz="1100" b="1" spc="-20" dirty="0">
                <a:latin typeface="Cambria"/>
                <a:cs typeface="Cambria"/>
              </a:rPr>
              <a:t> </a:t>
            </a:r>
            <a:r>
              <a:rPr sz="1100" b="1" spc="-10" dirty="0">
                <a:latin typeface="Cambria"/>
                <a:cs typeface="Cambria"/>
              </a:rPr>
              <a:t>Switching</a:t>
            </a:r>
            <a:r>
              <a:rPr sz="1100" b="1" spc="-20" dirty="0">
                <a:latin typeface="Cambria"/>
                <a:cs typeface="Cambria"/>
              </a:rPr>
              <a:t> </a:t>
            </a:r>
            <a:r>
              <a:rPr sz="1100" b="1" spc="-10" dirty="0">
                <a:latin typeface="Cambria"/>
                <a:cs typeface="Cambria"/>
              </a:rPr>
              <a:t>(MPLS)</a:t>
            </a:r>
            <a:r>
              <a:rPr sz="1100" b="1" spc="-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network to</a:t>
            </a:r>
            <a:r>
              <a:rPr sz="1100" spc="-2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ensure</a:t>
            </a:r>
            <a:r>
              <a:rPr sz="1100" spc="-20" dirty="0">
                <a:latin typeface="Cambria"/>
                <a:cs typeface="Cambria"/>
              </a:rPr>
              <a:t> fast,</a:t>
            </a:r>
            <a:r>
              <a:rPr sz="1100" spc="-4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secure,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and</a:t>
            </a:r>
            <a:r>
              <a:rPr sz="1100" spc="-4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reliable</a:t>
            </a:r>
            <a:r>
              <a:rPr sz="1100" spc="-3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communication.</a:t>
            </a:r>
            <a:r>
              <a:rPr sz="1100" spc="-4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The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MPLS</a:t>
            </a:r>
            <a:r>
              <a:rPr sz="1100" spc="-3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infrastructure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supports</a:t>
            </a:r>
            <a:r>
              <a:rPr sz="1100" spc="35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critical </a:t>
            </a:r>
            <a:r>
              <a:rPr sz="1100" dirty="0">
                <a:latin typeface="Cambria"/>
                <a:cs typeface="Cambria"/>
              </a:rPr>
              <a:t>business</a:t>
            </a:r>
            <a:r>
              <a:rPr sz="1100" spc="35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applications,</a:t>
            </a:r>
            <a:r>
              <a:rPr sz="1100" spc="35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including</a:t>
            </a:r>
            <a:r>
              <a:rPr sz="1100" spc="36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online</a:t>
            </a:r>
            <a:r>
              <a:rPr sz="1100" spc="35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order</a:t>
            </a:r>
            <a:r>
              <a:rPr sz="1100" spc="34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processing,</a:t>
            </a:r>
            <a:r>
              <a:rPr sz="1100" spc="35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enterprise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5448" y="873607"/>
            <a:ext cx="5666105" cy="5859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0" marR="5080" algn="just">
              <a:lnSpc>
                <a:spcPct val="105400"/>
              </a:lnSpc>
              <a:spcBef>
                <a:spcPts val="100"/>
              </a:spcBef>
            </a:pPr>
            <a:r>
              <a:rPr sz="1100" dirty="0">
                <a:latin typeface="Cambria"/>
                <a:cs typeface="Cambria"/>
              </a:rPr>
              <a:t>resource</a:t>
            </a:r>
            <a:r>
              <a:rPr sz="1100" spc="9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planning</a:t>
            </a:r>
            <a:r>
              <a:rPr sz="1100" spc="10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(ERP),</a:t>
            </a:r>
            <a:r>
              <a:rPr sz="1100" spc="9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video</a:t>
            </a:r>
            <a:r>
              <a:rPr sz="1100" spc="9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conferencing,</a:t>
            </a:r>
            <a:r>
              <a:rPr sz="1100" spc="10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Voice</a:t>
            </a:r>
            <a:r>
              <a:rPr sz="1100" spc="10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over</a:t>
            </a:r>
            <a:r>
              <a:rPr sz="1100" spc="9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IP</a:t>
            </a:r>
            <a:r>
              <a:rPr sz="1100" spc="10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(VoIP),</a:t>
            </a:r>
            <a:r>
              <a:rPr sz="1100" spc="9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cloud-</a:t>
            </a:r>
            <a:r>
              <a:rPr sz="1100" dirty="0">
                <a:latin typeface="Cambria"/>
                <a:cs typeface="Cambria"/>
              </a:rPr>
              <a:t>based</a:t>
            </a:r>
            <a:r>
              <a:rPr sz="1100" spc="10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inventory </a:t>
            </a:r>
            <a:r>
              <a:rPr sz="1100" dirty="0">
                <a:latin typeface="Cambria"/>
                <a:cs typeface="Cambria"/>
              </a:rPr>
              <a:t>management,</a:t>
            </a:r>
            <a:r>
              <a:rPr sz="1100" spc="8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and</a:t>
            </a:r>
            <a:r>
              <a:rPr sz="1100" spc="8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real-</a:t>
            </a:r>
            <a:r>
              <a:rPr sz="1100" dirty="0">
                <a:latin typeface="Cambria"/>
                <a:cs typeface="Cambria"/>
              </a:rPr>
              <a:t>time</a:t>
            </a:r>
            <a:r>
              <a:rPr sz="1100" spc="9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customer</a:t>
            </a:r>
            <a:r>
              <a:rPr sz="1100" spc="8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support.</a:t>
            </a:r>
            <a:r>
              <a:rPr sz="1100" spc="9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Recently,</a:t>
            </a:r>
            <a:r>
              <a:rPr sz="1100" spc="9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</a:t>
            </a:r>
            <a:r>
              <a:rPr sz="1100" spc="9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organization</a:t>
            </a:r>
            <a:r>
              <a:rPr sz="1100" spc="8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has</a:t>
            </a:r>
            <a:r>
              <a:rPr sz="1100" spc="9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experienced </a:t>
            </a:r>
            <a:r>
              <a:rPr sz="1100" dirty="0">
                <a:latin typeface="Cambria"/>
                <a:cs typeface="Cambria"/>
              </a:rPr>
              <a:t>frequent</a:t>
            </a:r>
            <a:r>
              <a:rPr sz="1100" spc="4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performance</a:t>
            </a:r>
            <a:r>
              <a:rPr sz="1100" spc="4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issues</a:t>
            </a:r>
            <a:r>
              <a:rPr sz="1100" spc="4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during</a:t>
            </a:r>
            <a:r>
              <a:rPr sz="1100" spc="4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peak</a:t>
            </a:r>
            <a:r>
              <a:rPr sz="1100" spc="4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business</a:t>
            </a:r>
            <a:r>
              <a:rPr sz="1100" spc="3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hours.</a:t>
            </a:r>
            <a:r>
              <a:rPr sz="1100" spc="4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Employees</a:t>
            </a:r>
            <a:r>
              <a:rPr sz="1100" spc="5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report</a:t>
            </a:r>
            <a:r>
              <a:rPr sz="1100" spc="2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slow</a:t>
            </a:r>
            <a:r>
              <a:rPr sz="1100" spc="4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access</a:t>
            </a:r>
            <a:r>
              <a:rPr sz="1100" spc="45" dirty="0">
                <a:latin typeface="Cambria"/>
                <a:cs typeface="Cambria"/>
              </a:rPr>
              <a:t> </a:t>
            </a:r>
            <a:r>
              <a:rPr sz="1100" spc="-25" dirty="0">
                <a:latin typeface="Cambria"/>
                <a:cs typeface="Cambria"/>
              </a:rPr>
              <a:t>to </a:t>
            </a:r>
            <a:r>
              <a:rPr sz="1100" dirty="0">
                <a:latin typeface="Cambria"/>
                <a:cs typeface="Cambria"/>
              </a:rPr>
              <a:t>cloud</a:t>
            </a:r>
            <a:r>
              <a:rPr sz="1100" spc="19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applications,</a:t>
            </a:r>
            <a:r>
              <a:rPr sz="1100" spc="204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delayed</a:t>
            </a:r>
            <a:r>
              <a:rPr sz="1100" spc="20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order</a:t>
            </a:r>
            <a:r>
              <a:rPr sz="1100" spc="204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processing,</a:t>
            </a:r>
            <a:r>
              <a:rPr sz="1100" spc="20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poor-quality</a:t>
            </a:r>
            <a:r>
              <a:rPr sz="1100" spc="19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voice</a:t>
            </a:r>
            <a:r>
              <a:rPr sz="1100" spc="18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calls,</a:t>
            </a:r>
            <a:r>
              <a:rPr sz="1100" spc="204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and</a:t>
            </a:r>
            <a:r>
              <a:rPr sz="1100" spc="19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interruptions </a:t>
            </a:r>
            <a:r>
              <a:rPr sz="1100" dirty="0">
                <a:latin typeface="Cambria"/>
                <a:cs typeface="Cambria"/>
              </a:rPr>
              <a:t>during</a:t>
            </a:r>
            <a:r>
              <a:rPr sz="1100" spc="21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video</a:t>
            </a:r>
            <a:r>
              <a:rPr sz="1100" spc="204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conferences.</a:t>
            </a:r>
            <a:r>
              <a:rPr sz="1100" spc="204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Network</a:t>
            </a:r>
            <a:r>
              <a:rPr sz="1100" spc="19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monitoring</a:t>
            </a:r>
            <a:r>
              <a:rPr sz="1100" spc="21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reveals</a:t>
            </a:r>
            <a:r>
              <a:rPr sz="1100" spc="21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that</a:t>
            </a:r>
            <a:r>
              <a:rPr sz="1100" spc="204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some</a:t>
            </a:r>
            <a:r>
              <a:rPr sz="1100" spc="21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Label</a:t>
            </a:r>
            <a:r>
              <a:rPr sz="1100" spc="19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Switched</a:t>
            </a:r>
            <a:r>
              <a:rPr sz="1100" spc="204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Paths </a:t>
            </a:r>
            <a:r>
              <a:rPr sz="1100" dirty="0">
                <a:latin typeface="Cambria"/>
                <a:cs typeface="Cambria"/>
              </a:rPr>
              <a:t>(LSPs)</a:t>
            </a:r>
            <a:r>
              <a:rPr sz="1100" spc="18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are</a:t>
            </a:r>
            <a:r>
              <a:rPr sz="1100" spc="17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heavily</a:t>
            </a:r>
            <a:r>
              <a:rPr sz="1100" spc="17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congested,</a:t>
            </a:r>
            <a:r>
              <a:rPr sz="1100" spc="18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while</a:t>
            </a:r>
            <a:r>
              <a:rPr sz="1100" spc="17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other</a:t>
            </a:r>
            <a:r>
              <a:rPr sz="1100" spc="18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paths</a:t>
            </a:r>
            <a:r>
              <a:rPr sz="1100" spc="19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remain</a:t>
            </a:r>
            <a:r>
              <a:rPr sz="1100" spc="18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underutilized.</a:t>
            </a:r>
            <a:r>
              <a:rPr sz="1100" spc="18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</a:t>
            </a:r>
            <a:r>
              <a:rPr sz="1100" spc="204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IT</a:t>
            </a:r>
            <a:r>
              <a:rPr sz="1100" spc="19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team</a:t>
            </a:r>
            <a:r>
              <a:rPr sz="1100" spc="180" dirty="0">
                <a:latin typeface="Cambria"/>
                <a:cs typeface="Cambria"/>
              </a:rPr>
              <a:t> </a:t>
            </a:r>
            <a:r>
              <a:rPr sz="1100" spc="-20" dirty="0">
                <a:latin typeface="Cambria"/>
                <a:cs typeface="Cambria"/>
              </a:rPr>
              <a:t>also </a:t>
            </a:r>
            <a:r>
              <a:rPr sz="1100" dirty="0">
                <a:latin typeface="Cambria"/>
                <a:cs typeface="Cambria"/>
              </a:rPr>
              <a:t>discovers</a:t>
            </a:r>
            <a:r>
              <a:rPr sz="1100" spc="-2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that</a:t>
            </a:r>
            <a:r>
              <a:rPr sz="1100" spc="-3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several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routers</a:t>
            </a:r>
            <a:r>
              <a:rPr sz="1100" spc="-2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have</a:t>
            </a:r>
            <a:r>
              <a:rPr sz="1100" spc="-3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incorrect</a:t>
            </a:r>
            <a:r>
              <a:rPr sz="1100" spc="-2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label</a:t>
            </a:r>
            <a:r>
              <a:rPr sz="1100" spc="-2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mappings,</a:t>
            </a:r>
            <a:r>
              <a:rPr sz="1100" spc="-2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causing</a:t>
            </a:r>
            <a:r>
              <a:rPr sz="1100" spc="-2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inefficient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routing</a:t>
            </a:r>
            <a:r>
              <a:rPr sz="1100" spc="-20" dirty="0">
                <a:latin typeface="Cambria"/>
                <a:cs typeface="Cambria"/>
              </a:rPr>
              <a:t> </a:t>
            </a:r>
            <a:r>
              <a:rPr sz="1100" spc="-25" dirty="0">
                <a:latin typeface="Cambria"/>
                <a:cs typeface="Cambria"/>
              </a:rPr>
              <a:t>and </a:t>
            </a:r>
            <a:r>
              <a:rPr sz="1100" spc="-10" dirty="0">
                <a:latin typeface="Cambria"/>
                <a:cs typeface="Cambria"/>
              </a:rPr>
              <a:t>increased</a:t>
            </a:r>
            <a:r>
              <a:rPr sz="1100" spc="-2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latency.</a:t>
            </a:r>
            <a:r>
              <a:rPr sz="1100" spc="-2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In</a:t>
            </a:r>
            <a:r>
              <a:rPr sz="1100" spc="-2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addition,</a:t>
            </a:r>
            <a:r>
              <a:rPr sz="1100" spc="-2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traffic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engineering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has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not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been</a:t>
            </a:r>
            <a:r>
              <a:rPr sz="1100" spc="-2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properly</a:t>
            </a:r>
            <a:r>
              <a:rPr sz="1100" spc="-2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configured,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resulting </a:t>
            </a:r>
            <a:r>
              <a:rPr sz="1100" dirty="0">
                <a:latin typeface="Cambria"/>
                <a:cs typeface="Cambria"/>
              </a:rPr>
              <a:t>in</a:t>
            </a:r>
            <a:r>
              <a:rPr sz="1100" spc="1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uneven</a:t>
            </a:r>
            <a:r>
              <a:rPr sz="1100" spc="2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bandwidth</a:t>
            </a:r>
            <a:r>
              <a:rPr sz="1100" spc="2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utilization</a:t>
            </a:r>
            <a:r>
              <a:rPr sz="1100" spc="2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across</a:t>
            </a:r>
            <a:r>
              <a:rPr sz="1100" spc="2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</a:t>
            </a:r>
            <a:r>
              <a:rPr sz="1100" spc="2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MPLS</a:t>
            </a:r>
            <a:r>
              <a:rPr sz="1100" spc="2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backbone.</a:t>
            </a:r>
            <a:r>
              <a:rPr sz="1100" spc="2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Since</a:t>
            </a:r>
            <a:r>
              <a:rPr sz="1100" spc="2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these</a:t>
            </a:r>
            <a:r>
              <a:rPr sz="1100" spc="2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issues</a:t>
            </a:r>
            <a:r>
              <a:rPr sz="1100" spc="3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are</a:t>
            </a:r>
            <a:r>
              <a:rPr sz="1100" spc="2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affecting </a:t>
            </a:r>
            <a:r>
              <a:rPr sz="1100" dirty="0">
                <a:latin typeface="Cambria"/>
                <a:cs typeface="Cambria"/>
              </a:rPr>
              <a:t>customer</a:t>
            </a:r>
            <a:r>
              <a:rPr sz="1100" spc="1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satisfaction</a:t>
            </a:r>
            <a:r>
              <a:rPr sz="1100" spc="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and</a:t>
            </a:r>
            <a:r>
              <a:rPr sz="1100" spc="-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business</a:t>
            </a:r>
            <a:r>
              <a:rPr sz="1100" spc="1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operations,</a:t>
            </a:r>
            <a:r>
              <a:rPr sz="1100" spc="1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</a:t>
            </a:r>
            <a:r>
              <a:rPr sz="1100" spc="1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network</a:t>
            </a:r>
            <a:r>
              <a:rPr sz="1100" spc="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administrator</a:t>
            </a:r>
            <a:r>
              <a:rPr sz="1100" spc="1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has</a:t>
            </a:r>
            <a:r>
              <a:rPr sz="1100" spc="1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asked</a:t>
            </a:r>
            <a:r>
              <a:rPr sz="1100" spc="1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you</a:t>
            </a:r>
            <a:r>
              <a:rPr sz="1100" spc="10" dirty="0">
                <a:latin typeface="Cambria"/>
                <a:cs typeface="Cambria"/>
              </a:rPr>
              <a:t> </a:t>
            </a:r>
            <a:r>
              <a:rPr sz="1100" spc="-25" dirty="0">
                <a:latin typeface="Cambria"/>
                <a:cs typeface="Cambria"/>
              </a:rPr>
              <a:t>to </a:t>
            </a:r>
            <a:r>
              <a:rPr sz="1100" dirty="0">
                <a:latin typeface="Cambria"/>
                <a:cs typeface="Cambria"/>
              </a:rPr>
              <a:t>investigate</a:t>
            </a:r>
            <a:r>
              <a:rPr sz="1100" spc="15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</a:t>
            </a:r>
            <a:r>
              <a:rPr sz="1100" spc="14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MPLS</a:t>
            </a:r>
            <a:r>
              <a:rPr sz="1100" spc="15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network,</a:t>
            </a:r>
            <a:r>
              <a:rPr sz="1100" spc="15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identify</a:t>
            </a:r>
            <a:r>
              <a:rPr sz="1100" spc="14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</a:t>
            </a:r>
            <a:r>
              <a:rPr sz="1100" spc="14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faults,</a:t>
            </a:r>
            <a:r>
              <a:rPr sz="1100" spc="14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debug</a:t>
            </a:r>
            <a:r>
              <a:rPr sz="1100" spc="15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</a:t>
            </a:r>
            <a:r>
              <a:rPr sz="1100" spc="15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performance</a:t>
            </a:r>
            <a:r>
              <a:rPr sz="1100" spc="15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problems,</a:t>
            </a:r>
            <a:r>
              <a:rPr sz="1100" spc="155" dirty="0">
                <a:latin typeface="Cambria"/>
                <a:cs typeface="Cambria"/>
              </a:rPr>
              <a:t> </a:t>
            </a:r>
            <a:r>
              <a:rPr sz="1100" spc="-25" dirty="0">
                <a:latin typeface="Cambria"/>
                <a:cs typeface="Cambria"/>
              </a:rPr>
              <a:t>and </a:t>
            </a:r>
            <a:r>
              <a:rPr sz="1100" dirty="0">
                <a:latin typeface="Cambria"/>
                <a:cs typeface="Cambria"/>
              </a:rPr>
              <a:t>recommend</a:t>
            </a:r>
            <a:r>
              <a:rPr sz="1100" spc="-4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suitable</a:t>
            </a:r>
            <a:r>
              <a:rPr sz="1100" spc="-3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optimization</a:t>
            </a:r>
            <a:r>
              <a:rPr sz="1100" spc="-3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techniques</a:t>
            </a:r>
            <a:r>
              <a:rPr sz="1100" spc="-3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to</a:t>
            </a:r>
            <a:r>
              <a:rPr sz="1100" spc="-3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improve</a:t>
            </a:r>
            <a:r>
              <a:rPr sz="1100" spc="-3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</a:t>
            </a:r>
            <a:r>
              <a:rPr sz="1100" spc="-3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overall</a:t>
            </a:r>
            <a:r>
              <a:rPr sz="1100" spc="-3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efficiency</a:t>
            </a:r>
            <a:r>
              <a:rPr sz="1100" spc="-4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and</a:t>
            </a:r>
            <a:r>
              <a:rPr sz="1100" spc="-3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reliability </a:t>
            </a:r>
            <a:r>
              <a:rPr sz="1100" dirty="0">
                <a:latin typeface="Cambria"/>
                <a:cs typeface="Cambria"/>
              </a:rPr>
              <a:t>of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</a:t>
            </a:r>
            <a:r>
              <a:rPr sz="1100" spc="-10" dirty="0">
                <a:latin typeface="Cambria"/>
                <a:cs typeface="Cambria"/>
              </a:rPr>
              <a:t> network.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100">
              <a:latin typeface="Cambria"/>
              <a:cs typeface="Cambria"/>
            </a:endParaRPr>
          </a:p>
          <a:p>
            <a:pPr marL="158750">
              <a:lnSpc>
                <a:spcPct val="100000"/>
              </a:lnSpc>
            </a:pPr>
            <a:r>
              <a:rPr sz="1100" spc="-20" dirty="0">
                <a:latin typeface="Cambria"/>
                <a:cs typeface="Cambria"/>
              </a:rPr>
              <a:t>ANS: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1100">
              <a:latin typeface="Cambria"/>
              <a:cs typeface="Cambria"/>
            </a:endParaRPr>
          </a:p>
          <a:p>
            <a:pPr marL="158750" algn="just">
              <a:lnSpc>
                <a:spcPct val="100000"/>
              </a:lnSpc>
            </a:pPr>
            <a:r>
              <a:rPr sz="1400" b="1" dirty="0">
                <a:latin typeface="Cambria"/>
                <a:cs typeface="Cambria"/>
              </a:rPr>
              <a:t>MPLS</a:t>
            </a:r>
            <a:r>
              <a:rPr sz="1400" b="1" spc="-4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Network</a:t>
            </a:r>
            <a:r>
              <a:rPr sz="1400" b="1" spc="-2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Debugging</a:t>
            </a:r>
            <a:r>
              <a:rPr sz="1400" b="1" spc="-3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&amp;</a:t>
            </a:r>
            <a:r>
              <a:rPr sz="1400" b="1" spc="-20" dirty="0">
                <a:latin typeface="Cambria"/>
                <a:cs typeface="Cambria"/>
              </a:rPr>
              <a:t> </a:t>
            </a:r>
            <a:r>
              <a:rPr sz="1400" b="1" spc="-10" dirty="0">
                <a:latin typeface="Cambria"/>
                <a:cs typeface="Cambria"/>
              </a:rPr>
              <a:t>Optimisation</a:t>
            </a:r>
            <a:endParaRPr sz="1400">
              <a:latin typeface="Cambria"/>
              <a:cs typeface="Cambria"/>
            </a:endParaRPr>
          </a:p>
          <a:p>
            <a:pPr marL="158750">
              <a:lnSpc>
                <a:spcPct val="100000"/>
              </a:lnSpc>
              <a:spcBef>
                <a:spcPts val="290"/>
              </a:spcBef>
            </a:pPr>
            <a:r>
              <a:rPr sz="1400" b="1" dirty="0">
                <a:latin typeface="Cambria"/>
                <a:cs typeface="Cambria"/>
              </a:rPr>
              <a:t>1.</a:t>
            </a:r>
            <a:r>
              <a:rPr sz="1400" b="1" spc="30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Problem</a:t>
            </a:r>
            <a:r>
              <a:rPr sz="1400" b="1" spc="-35" dirty="0">
                <a:latin typeface="Cambria"/>
                <a:cs typeface="Cambria"/>
              </a:rPr>
              <a:t> </a:t>
            </a:r>
            <a:r>
              <a:rPr sz="1400" b="1" spc="-10" dirty="0">
                <a:latin typeface="Cambria"/>
                <a:cs typeface="Cambria"/>
              </a:rPr>
              <a:t>Identification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400">
              <a:latin typeface="Cambria"/>
              <a:cs typeface="Cambria"/>
            </a:endParaRPr>
          </a:p>
          <a:p>
            <a:pPr marL="158750" marR="8890" algn="just">
              <a:lnSpc>
                <a:spcPct val="105400"/>
              </a:lnSpc>
            </a:pPr>
            <a:r>
              <a:rPr sz="1200" dirty="0">
                <a:latin typeface="Cambria"/>
                <a:cs typeface="Cambria"/>
              </a:rPr>
              <a:t>A</a:t>
            </a:r>
            <a:r>
              <a:rPr sz="1200" spc="40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multinational</a:t>
            </a:r>
            <a:r>
              <a:rPr sz="1200" spc="40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e-</a:t>
            </a:r>
            <a:r>
              <a:rPr sz="1200" dirty="0">
                <a:latin typeface="Cambria"/>
                <a:cs typeface="Cambria"/>
              </a:rPr>
              <a:t>commerce</a:t>
            </a:r>
            <a:r>
              <a:rPr sz="1200" spc="40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company</a:t>
            </a:r>
            <a:r>
              <a:rPr sz="1200" spc="39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uses</a:t>
            </a:r>
            <a:r>
              <a:rPr sz="1200" spc="39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</a:t>
            </a:r>
            <a:r>
              <a:rPr sz="1200" spc="409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Multiprotocol</a:t>
            </a:r>
            <a:r>
              <a:rPr sz="1200" b="1" spc="40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Label</a:t>
            </a:r>
            <a:r>
              <a:rPr sz="1200" b="1" spc="40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Switching </a:t>
            </a:r>
            <a:r>
              <a:rPr sz="1200" b="1" dirty="0">
                <a:latin typeface="Cambria"/>
                <a:cs typeface="Cambria"/>
              </a:rPr>
              <a:t>(MPLS)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network</a:t>
            </a:r>
            <a:r>
              <a:rPr sz="1200" spc="-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to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connect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its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headquarters, regional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offices,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warehouses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cloud </a:t>
            </a:r>
            <a:r>
              <a:rPr sz="1200" dirty="0">
                <a:latin typeface="Cambria"/>
                <a:cs typeface="Cambria"/>
              </a:rPr>
              <a:t>data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centres.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During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peak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business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hours,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following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issues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are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observed:</a:t>
            </a:r>
            <a:endParaRPr sz="12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275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sz="1200" dirty="0">
                <a:latin typeface="Cambria"/>
                <a:cs typeface="Cambria"/>
              </a:rPr>
              <a:t>Slow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access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to</a:t>
            </a:r>
            <a:r>
              <a:rPr sz="1200" spc="-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cloud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applications.</a:t>
            </a:r>
            <a:endParaRPr sz="12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28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sz="1200" dirty="0">
                <a:latin typeface="Cambria"/>
                <a:cs typeface="Cambria"/>
              </a:rPr>
              <a:t>Delayed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online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order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processing.</a:t>
            </a:r>
            <a:endParaRPr sz="12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275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sz="1200" dirty="0">
                <a:latin typeface="Cambria"/>
                <a:cs typeface="Cambria"/>
              </a:rPr>
              <a:t>Poor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VoIP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call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quality.</a:t>
            </a:r>
            <a:endParaRPr sz="12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275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sz="1200" dirty="0">
                <a:latin typeface="Cambria"/>
                <a:cs typeface="Cambria"/>
              </a:rPr>
              <a:t>Video </a:t>
            </a:r>
            <a:r>
              <a:rPr sz="1200" spc="-10" dirty="0">
                <a:latin typeface="Cambria"/>
                <a:cs typeface="Cambria"/>
              </a:rPr>
              <a:t>conferencing</a:t>
            </a:r>
            <a:r>
              <a:rPr sz="1200" spc="-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interruptions.</a:t>
            </a:r>
            <a:endParaRPr sz="12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29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sz="1200" dirty="0">
                <a:latin typeface="Cambria"/>
                <a:cs typeface="Cambria"/>
              </a:rPr>
              <a:t>Congested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Label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Switched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Paths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(LSPs).</a:t>
            </a:r>
            <a:endParaRPr sz="12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275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sz="1200" dirty="0">
                <a:latin typeface="Cambria"/>
                <a:cs typeface="Cambria"/>
              </a:rPr>
              <a:t>Incorrect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label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mappings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in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routers.</a:t>
            </a:r>
            <a:endParaRPr sz="12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275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sz="1200" dirty="0">
                <a:latin typeface="Cambria"/>
                <a:cs typeface="Cambria"/>
              </a:rPr>
              <a:t>Uneven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bandwidth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utilization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across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MPLS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backbone.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1752" y="6881222"/>
            <a:ext cx="1840864" cy="210629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1400" b="1" dirty="0">
                <a:latin typeface="Cambria"/>
                <a:cs typeface="Cambria"/>
              </a:rPr>
              <a:t>2.</a:t>
            </a:r>
            <a:r>
              <a:rPr sz="1400" b="1" spc="-1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Root</a:t>
            </a:r>
            <a:r>
              <a:rPr sz="1400" b="1" spc="-1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Cause</a:t>
            </a:r>
            <a:r>
              <a:rPr sz="1400" b="1" spc="-15" dirty="0">
                <a:latin typeface="Cambria"/>
                <a:cs typeface="Cambria"/>
              </a:rPr>
              <a:t> </a:t>
            </a:r>
            <a:r>
              <a:rPr sz="1400" b="1" spc="-10" dirty="0">
                <a:latin typeface="Cambria"/>
                <a:cs typeface="Cambria"/>
              </a:rPr>
              <a:t>Analysis</a:t>
            </a:r>
            <a:endParaRPr sz="1400">
              <a:latin typeface="Cambria"/>
              <a:cs typeface="Cambria"/>
            </a:endParaRPr>
          </a:p>
          <a:p>
            <a:pPr marL="41275">
              <a:lnSpc>
                <a:spcPct val="100000"/>
              </a:lnSpc>
              <a:spcBef>
                <a:spcPts val="525"/>
              </a:spcBef>
            </a:pPr>
            <a:r>
              <a:rPr sz="1200" b="1" spc="-10" dirty="0">
                <a:latin typeface="Cambria"/>
                <a:cs typeface="Cambria"/>
              </a:rPr>
              <a:t>Problem</a:t>
            </a:r>
            <a:endParaRPr sz="1200">
              <a:latin typeface="Cambria"/>
              <a:cs typeface="Cambria"/>
            </a:endParaRPr>
          </a:p>
          <a:p>
            <a:pPr marL="41275" marR="128270">
              <a:lnSpc>
                <a:spcPct val="140000"/>
              </a:lnSpc>
              <a:spcBef>
                <a:spcPts val="15"/>
              </a:spcBef>
            </a:pPr>
            <a:r>
              <a:rPr sz="1200" dirty="0">
                <a:latin typeface="Cambria"/>
                <a:cs typeface="Cambria"/>
              </a:rPr>
              <a:t>Slow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cloud</a:t>
            </a:r>
            <a:r>
              <a:rPr sz="1200" spc="-10" dirty="0">
                <a:latin typeface="Cambria"/>
                <a:cs typeface="Cambria"/>
              </a:rPr>
              <a:t> access </a:t>
            </a:r>
            <a:r>
              <a:rPr sz="1200" dirty="0">
                <a:latin typeface="Cambria"/>
                <a:cs typeface="Cambria"/>
              </a:rPr>
              <a:t>Delayed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order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processing </a:t>
            </a:r>
            <a:r>
              <a:rPr sz="1200" dirty="0">
                <a:latin typeface="Cambria"/>
                <a:cs typeface="Cambria"/>
              </a:rPr>
              <a:t>Poor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VoIP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quality</a:t>
            </a:r>
            <a:endParaRPr sz="1200">
              <a:latin typeface="Cambria"/>
              <a:cs typeface="Cambria"/>
            </a:endParaRPr>
          </a:p>
          <a:p>
            <a:pPr marL="41275" marR="574675">
              <a:lnSpc>
                <a:spcPct val="140000"/>
              </a:lnSpc>
            </a:pPr>
            <a:r>
              <a:rPr sz="1200" dirty="0">
                <a:latin typeface="Cambria"/>
                <a:cs typeface="Cambria"/>
              </a:rPr>
              <a:t>Video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interruption </a:t>
            </a:r>
            <a:r>
              <a:rPr sz="1200" dirty="0">
                <a:latin typeface="Cambria"/>
                <a:cs typeface="Cambria"/>
              </a:rPr>
              <a:t>Uneven</a:t>
            </a:r>
            <a:r>
              <a:rPr sz="1200" spc="-6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traffic</a:t>
            </a:r>
            <a:endParaRPr sz="1200">
              <a:latin typeface="Cambria"/>
              <a:cs typeface="Cambria"/>
            </a:endParaRPr>
          </a:p>
          <a:p>
            <a:pPr marL="41275">
              <a:lnSpc>
                <a:spcPct val="100000"/>
              </a:lnSpc>
              <a:spcBef>
                <a:spcPts val="585"/>
              </a:spcBef>
            </a:pPr>
            <a:r>
              <a:rPr sz="1200" dirty="0">
                <a:latin typeface="Cambria"/>
                <a:cs typeface="Cambria"/>
              </a:rPr>
              <a:t>Increased</a:t>
            </a:r>
            <a:r>
              <a:rPr sz="1200" spc="-4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latency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49878" y="7164324"/>
            <a:ext cx="2592070" cy="182308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200" b="1" dirty="0">
                <a:latin typeface="Cambria"/>
                <a:cs typeface="Cambria"/>
              </a:rPr>
              <a:t>Root</a:t>
            </a:r>
            <a:r>
              <a:rPr sz="1200" b="1" spc="-4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Cause</a:t>
            </a:r>
            <a:endParaRPr sz="1200">
              <a:latin typeface="Cambria"/>
              <a:cs typeface="Cambria"/>
            </a:endParaRPr>
          </a:p>
          <a:p>
            <a:pPr marL="12700" marR="1013460">
              <a:lnSpc>
                <a:spcPct val="140000"/>
              </a:lnSpc>
              <a:spcBef>
                <a:spcPts val="15"/>
              </a:spcBef>
            </a:pPr>
            <a:r>
              <a:rPr sz="1200" dirty="0">
                <a:latin typeface="Cambria"/>
                <a:cs typeface="Cambria"/>
              </a:rPr>
              <a:t>Congested</a:t>
            </a:r>
            <a:r>
              <a:rPr sz="1200" spc="-45" dirty="0">
                <a:latin typeface="Cambria"/>
                <a:cs typeface="Cambria"/>
              </a:rPr>
              <a:t> </a:t>
            </a:r>
            <a:r>
              <a:rPr sz="1200" spc="-20" dirty="0">
                <a:latin typeface="Cambria"/>
                <a:cs typeface="Cambria"/>
              </a:rPr>
              <a:t>LSPs </a:t>
            </a:r>
            <a:r>
              <a:rPr sz="1200" dirty="0">
                <a:latin typeface="Cambria"/>
                <a:cs typeface="Cambria"/>
              </a:rPr>
              <a:t>Incorrect</a:t>
            </a:r>
            <a:r>
              <a:rPr sz="1200" spc="-5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label</a:t>
            </a:r>
            <a:r>
              <a:rPr sz="1200" spc="-5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mapping</a:t>
            </a:r>
            <a:endParaRPr sz="1200">
              <a:latin typeface="Cambria"/>
              <a:cs typeface="Cambria"/>
            </a:endParaRPr>
          </a:p>
          <a:p>
            <a:pPr marL="12700" marR="730885">
              <a:lnSpc>
                <a:spcPct val="140000"/>
              </a:lnSpc>
            </a:pPr>
            <a:r>
              <a:rPr sz="1200" dirty="0">
                <a:latin typeface="Cambria"/>
                <a:cs typeface="Cambria"/>
              </a:rPr>
              <a:t>High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latency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packet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20" dirty="0">
                <a:latin typeface="Cambria"/>
                <a:cs typeface="Cambria"/>
              </a:rPr>
              <a:t>loss </a:t>
            </a:r>
            <a:r>
              <a:rPr sz="1200" spc="-10" dirty="0">
                <a:latin typeface="Cambria"/>
                <a:cs typeface="Cambria"/>
              </a:rPr>
              <a:t>Insufficient</a:t>
            </a:r>
            <a:r>
              <a:rPr sz="1200" spc="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bandwidth</a:t>
            </a:r>
            <a:endParaRPr sz="1200">
              <a:latin typeface="Cambria"/>
              <a:cs typeface="Cambria"/>
            </a:endParaRPr>
          </a:p>
          <a:p>
            <a:pPr marL="12700" marR="5080">
              <a:lnSpc>
                <a:spcPts val="2030"/>
              </a:lnSpc>
              <a:spcBef>
                <a:spcPts val="85"/>
              </a:spcBef>
            </a:pPr>
            <a:r>
              <a:rPr sz="1200" dirty="0">
                <a:latin typeface="Cambria"/>
                <a:cs typeface="Cambria"/>
              </a:rPr>
              <a:t>Traffic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Engineering </a:t>
            </a:r>
            <a:r>
              <a:rPr sz="1200" dirty="0">
                <a:latin typeface="Cambria"/>
                <a:cs typeface="Cambria"/>
              </a:rPr>
              <a:t>(TE)</a:t>
            </a:r>
            <a:r>
              <a:rPr sz="1200" spc="-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not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configured </a:t>
            </a:r>
            <a:r>
              <a:rPr sz="1200" dirty="0">
                <a:latin typeface="Cambria"/>
                <a:cs typeface="Cambria"/>
              </a:rPr>
              <a:t>Incorrect</a:t>
            </a:r>
            <a:r>
              <a:rPr sz="1200" spc="-5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routing</a:t>
            </a:r>
            <a:r>
              <a:rPr sz="1200" spc="-65" dirty="0">
                <a:latin typeface="Cambria"/>
                <a:cs typeface="Cambria"/>
              </a:rPr>
              <a:t> </a:t>
            </a:r>
            <a:r>
              <a:rPr sz="1200" spc="-20" dirty="0">
                <a:latin typeface="Cambria"/>
                <a:cs typeface="Cambria"/>
              </a:rPr>
              <a:t>path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5448" y="9198383"/>
            <a:ext cx="3526790" cy="115824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58750">
              <a:lnSpc>
                <a:spcPct val="100000"/>
              </a:lnSpc>
              <a:spcBef>
                <a:spcPts val="450"/>
              </a:spcBef>
            </a:pPr>
            <a:r>
              <a:rPr sz="1400" b="1" dirty="0">
                <a:latin typeface="Cambria"/>
                <a:cs typeface="Cambria"/>
              </a:rPr>
              <a:t>3.</a:t>
            </a:r>
            <a:r>
              <a:rPr sz="1400" b="1" spc="-3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Debugging</a:t>
            </a:r>
            <a:r>
              <a:rPr sz="1400" b="1" spc="-25" dirty="0">
                <a:latin typeface="Cambria"/>
                <a:cs typeface="Cambria"/>
              </a:rPr>
              <a:t> </a:t>
            </a:r>
            <a:r>
              <a:rPr sz="1400" b="1" spc="-20" dirty="0">
                <a:latin typeface="Cambria"/>
                <a:cs typeface="Cambria"/>
              </a:rPr>
              <a:t>Steps</a:t>
            </a:r>
            <a:endParaRPr sz="1400">
              <a:latin typeface="Cambria"/>
              <a:cs typeface="Cambria"/>
            </a:endParaRPr>
          </a:p>
          <a:p>
            <a:pPr marL="240029" indent="-227329">
              <a:lnSpc>
                <a:spcPct val="100000"/>
              </a:lnSpc>
              <a:spcBef>
                <a:spcPts val="295"/>
              </a:spcBef>
              <a:buAutoNum type="arabicPeriod"/>
              <a:tabLst>
                <a:tab pos="240029" algn="l"/>
              </a:tabLst>
            </a:pPr>
            <a:r>
              <a:rPr sz="1200" dirty="0">
                <a:latin typeface="Cambria"/>
                <a:cs typeface="Cambria"/>
              </a:rPr>
              <a:t>Monitor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MPLS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router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performance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CPU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usage.</a:t>
            </a:r>
            <a:endParaRPr sz="1200">
              <a:latin typeface="Cambria"/>
              <a:cs typeface="Cambria"/>
            </a:endParaRPr>
          </a:p>
          <a:p>
            <a:pPr marL="240029" indent="-227329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240029" algn="l"/>
              </a:tabLst>
            </a:pPr>
            <a:r>
              <a:rPr sz="1200" dirty="0">
                <a:latin typeface="Cambria"/>
                <a:cs typeface="Cambria"/>
              </a:rPr>
              <a:t>Check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Label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Switched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Paths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(LSPs)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for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congestion.</a:t>
            </a:r>
            <a:endParaRPr sz="1200">
              <a:latin typeface="Cambria"/>
              <a:cs typeface="Cambria"/>
            </a:endParaRPr>
          </a:p>
          <a:p>
            <a:pPr marL="240029" indent="-227329">
              <a:lnSpc>
                <a:spcPct val="100000"/>
              </a:lnSpc>
              <a:spcBef>
                <a:spcPts val="280"/>
              </a:spcBef>
              <a:buAutoNum type="arabicPeriod"/>
              <a:tabLst>
                <a:tab pos="240029" algn="l"/>
              </a:tabLst>
            </a:pPr>
            <a:r>
              <a:rPr sz="1200" dirty="0">
                <a:latin typeface="Cambria"/>
                <a:cs typeface="Cambria"/>
              </a:rPr>
              <a:t>Verify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label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mapping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tables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on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all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routers.</a:t>
            </a:r>
            <a:endParaRPr sz="1200">
              <a:latin typeface="Cambria"/>
              <a:cs typeface="Cambria"/>
            </a:endParaRPr>
          </a:p>
          <a:p>
            <a:pPr marL="240029" indent="-227329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240029" algn="l"/>
              </a:tabLst>
            </a:pPr>
            <a:r>
              <a:rPr sz="1200" dirty="0">
                <a:latin typeface="Cambria"/>
                <a:cs typeface="Cambria"/>
              </a:rPr>
              <a:t>Measure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network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latency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packet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loss.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5448" y="819150"/>
            <a:ext cx="5661660" cy="962533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90"/>
              </a:spcBef>
              <a:buAutoNum type="arabicPeriod" startAt="5"/>
              <a:tabLst>
                <a:tab pos="240029" algn="l"/>
              </a:tabLst>
            </a:pPr>
            <a:r>
              <a:rPr sz="1200" dirty="0">
                <a:latin typeface="Cambria"/>
                <a:cs typeface="Cambria"/>
              </a:rPr>
              <a:t>Analyse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bandwidth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utilization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on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each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MPLS</a:t>
            </a:r>
            <a:r>
              <a:rPr sz="1200" spc="-20" dirty="0">
                <a:latin typeface="Cambria"/>
                <a:cs typeface="Cambria"/>
              </a:rPr>
              <a:t> link.</a:t>
            </a:r>
            <a:endParaRPr sz="1200">
              <a:latin typeface="Cambria"/>
              <a:cs typeface="Cambria"/>
            </a:endParaRPr>
          </a:p>
          <a:p>
            <a:pPr marL="240029" indent="-227329">
              <a:lnSpc>
                <a:spcPct val="100000"/>
              </a:lnSpc>
              <a:spcBef>
                <a:spcPts val="290"/>
              </a:spcBef>
              <a:buAutoNum type="arabicPeriod" startAt="5"/>
              <a:tabLst>
                <a:tab pos="240029" algn="l"/>
              </a:tabLst>
            </a:pPr>
            <a:r>
              <a:rPr sz="1200" dirty="0">
                <a:latin typeface="Cambria"/>
                <a:cs typeface="Cambria"/>
              </a:rPr>
              <a:t>Test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Traffic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Engineering </a:t>
            </a:r>
            <a:r>
              <a:rPr sz="1200" dirty="0">
                <a:latin typeface="Cambria"/>
                <a:cs typeface="Cambria"/>
              </a:rPr>
              <a:t>(TE)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configuration.</a:t>
            </a:r>
            <a:endParaRPr sz="1200">
              <a:latin typeface="Cambria"/>
              <a:cs typeface="Cambria"/>
            </a:endParaRPr>
          </a:p>
          <a:p>
            <a:pPr marL="240029" indent="-227329">
              <a:lnSpc>
                <a:spcPct val="100000"/>
              </a:lnSpc>
              <a:spcBef>
                <a:spcPts val="275"/>
              </a:spcBef>
              <a:buAutoNum type="arabicPeriod" startAt="5"/>
              <a:tabLst>
                <a:tab pos="240029" algn="l"/>
              </a:tabLst>
            </a:pPr>
            <a:r>
              <a:rPr sz="1200" dirty="0">
                <a:latin typeface="Cambria"/>
                <a:cs typeface="Cambria"/>
              </a:rPr>
              <a:t>Identify</a:t>
            </a:r>
            <a:r>
              <a:rPr sz="1200" spc="-4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routing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errors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overloaded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links.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200">
              <a:latin typeface="Cambria"/>
              <a:cs typeface="Cambria"/>
            </a:endParaRPr>
          </a:p>
          <a:p>
            <a:pPr marL="158750">
              <a:lnSpc>
                <a:spcPct val="100000"/>
              </a:lnSpc>
            </a:pPr>
            <a:r>
              <a:rPr sz="1400" b="1" dirty="0">
                <a:latin typeface="Cambria"/>
                <a:cs typeface="Cambria"/>
              </a:rPr>
              <a:t>4.</a:t>
            </a:r>
            <a:r>
              <a:rPr sz="1400" b="1" spc="10" dirty="0">
                <a:latin typeface="Cambria"/>
                <a:cs typeface="Cambria"/>
              </a:rPr>
              <a:t> </a:t>
            </a:r>
            <a:r>
              <a:rPr sz="1400" b="1" spc="-10" dirty="0">
                <a:latin typeface="Cambria"/>
                <a:cs typeface="Cambria"/>
              </a:rPr>
              <a:t>Optimization</a:t>
            </a:r>
            <a:r>
              <a:rPr sz="1400" b="1" spc="10" dirty="0">
                <a:latin typeface="Cambria"/>
                <a:cs typeface="Cambria"/>
              </a:rPr>
              <a:t> </a:t>
            </a:r>
            <a:r>
              <a:rPr sz="1400" b="1" spc="-10" dirty="0">
                <a:latin typeface="Cambria"/>
                <a:cs typeface="Cambria"/>
              </a:rPr>
              <a:t>Techniques</a:t>
            </a:r>
            <a:endParaRPr sz="14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3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sz="1200" dirty="0">
                <a:latin typeface="Cambria"/>
                <a:cs typeface="Cambria"/>
              </a:rPr>
              <a:t>Correct</a:t>
            </a:r>
            <a:r>
              <a:rPr sz="1200" spc="-4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incorrect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MPLS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label</a:t>
            </a:r>
            <a:r>
              <a:rPr sz="1200" spc="-4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mappings.</a:t>
            </a:r>
            <a:endParaRPr sz="12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285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sz="1200" spc="-10" dirty="0">
                <a:latin typeface="Cambria"/>
                <a:cs typeface="Cambria"/>
              </a:rPr>
              <a:t>Configure</a:t>
            </a:r>
            <a:r>
              <a:rPr sz="1200" spc="-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Traffic</a:t>
            </a:r>
            <a:r>
              <a:rPr sz="1200" b="1" spc="-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 </a:t>
            </a:r>
            <a:r>
              <a:rPr sz="1200" b="1" dirty="0">
                <a:latin typeface="Cambria"/>
                <a:cs typeface="Cambria"/>
              </a:rPr>
              <a:t>(MPLS-TE)</a:t>
            </a:r>
            <a:r>
              <a:rPr sz="1200" b="1" spc="-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for balanced</a:t>
            </a:r>
            <a:r>
              <a:rPr sz="1200" spc="-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routing.</a:t>
            </a:r>
            <a:endParaRPr sz="12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275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sz="1200" dirty="0">
                <a:latin typeface="Cambria"/>
                <a:cs typeface="Cambria"/>
              </a:rPr>
              <a:t>Redistribute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traffic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across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multiple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20" dirty="0">
                <a:latin typeface="Cambria"/>
                <a:cs typeface="Cambria"/>
              </a:rPr>
              <a:t>LSPs.</a:t>
            </a:r>
            <a:endParaRPr sz="12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28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sz="1200" dirty="0">
                <a:latin typeface="Cambria"/>
                <a:cs typeface="Cambria"/>
              </a:rPr>
              <a:t>Increase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bandwidth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on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heavily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used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links.</a:t>
            </a:r>
            <a:endParaRPr sz="12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275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sz="1200" dirty="0">
                <a:latin typeface="Cambria"/>
                <a:cs typeface="Cambria"/>
              </a:rPr>
              <a:t>Enable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Quality</a:t>
            </a:r>
            <a:r>
              <a:rPr sz="1200" b="1" spc="-2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2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Service</a:t>
            </a:r>
            <a:r>
              <a:rPr sz="1200" b="1" spc="-2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(QoS)</a:t>
            </a:r>
            <a:r>
              <a:rPr sz="1200" b="1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for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VoIP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video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traffic.</a:t>
            </a:r>
            <a:endParaRPr sz="12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28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sz="1200" dirty="0">
                <a:latin typeface="Cambria"/>
                <a:cs typeface="Cambria"/>
              </a:rPr>
              <a:t>Monitor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network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performance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continuously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using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network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management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tools.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85"/>
              </a:spcBef>
              <a:buFont typeface="Symbol"/>
              <a:buChar char=""/>
            </a:pPr>
            <a:endParaRPr sz="1200">
              <a:latin typeface="Cambria"/>
              <a:cs typeface="Cambria"/>
            </a:endParaRPr>
          </a:p>
          <a:p>
            <a:pPr marL="344170" lvl="1" indent="-185420" algn="just">
              <a:lnSpc>
                <a:spcPct val="100000"/>
              </a:lnSpc>
              <a:buAutoNum type="arabicPeriod" startAt="5"/>
              <a:tabLst>
                <a:tab pos="344170" algn="l"/>
              </a:tabLst>
            </a:pPr>
            <a:r>
              <a:rPr sz="1400" b="1" spc="-10" dirty="0">
                <a:latin typeface="Cambria"/>
                <a:cs typeface="Cambria"/>
              </a:rPr>
              <a:t>Analysis</a:t>
            </a:r>
            <a:endParaRPr sz="1400">
              <a:latin typeface="Cambria"/>
              <a:cs typeface="Cambria"/>
            </a:endParaRPr>
          </a:p>
          <a:p>
            <a:pPr marL="158750" marR="5080" algn="just">
              <a:lnSpc>
                <a:spcPct val="105600"/>
              </a:lnSpc>
              <a:spcBef>
                <a:spcPts val="215"/>
              </a:spcBef>
            </a:pPr>
            <a:r>
              <a:rPr sz="1200" dirty="0">
                <a:latin typeface="Cambria"/>
                <a:cs typeface="Cambria"/>
              </a:rPr>
              <a:t>The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investigation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shows</a:t>
            </a:r>
            <a:r>
              <a:rPr sz="1200" spc="8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that</a:t>
            </a:r>
            <a:r>
              <a:rPr sz="1200" spc="9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incorrect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label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mappings</a:t>
            </a:r>
            <a:r>
              <a:rPr sz="1200" spc="8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9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congested</a:t>
            </a:r>
            <a:r>
              <a:rPr sz="1200" spc="8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LSPs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are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spc="-25" dirty="0">
                <a:latin typeface="Cambria"/>
                <a:cs typeface="Cambria"/>
              </a:rPr>
              <a:t>the </a:t>
            </a:r>
            <a:r>
              <a:rPr sz="1200" dirty="0">
                <a:latin typeface="Cambria"/>
                <a:cs typeface="Cambria"/>
              </a:rPr>
              <a:t>primary</a:t>
            </a:r>
            <a:r>
              <a:rPr sz="1200" spc="16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causes</a:t>
            </a:r>
            <a:r>
              <a:rPr sz="1200" spc="16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of</a:t>
            </a:r>
            <a:r>
              <a:rPr sz="1200" spc="17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network</a:t>
            </a:r>
            <a:r>
              <a:rPr sz="1200" spc="17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performance</a:t>
            </a:r>
            <a:r>
              <a:rPr sz="1200" spc="17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issues.</a:t>
            </a:r>
            <a:r>
              <a:rPr sz="1200" spc="18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Proper</a:t>
            </a:r>
            <a:r>
              <a:rPr sz="1200" spc="16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MPLS</a:t>
            </a:r>
            <a:r>
              <a:rPr sz="1200" spc="17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Traffic</a:t>
            </a:r>
            <a:r>
              <a:rPr sz="1200" spc="16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Engineering distributes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traffic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evenly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across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available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paths,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reducing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congestion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latency.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25" dirty="0">
                <a:latin typeface="Cambria"/>
                <a:cs typeface="Cambria"/>
              </a:rPr>
              <a:t>QoS </a:t>
            </a:r>
            <a:r>
              <a:rPr sz="1200" dirty="0">
                <a:latin typeface="Cambria"/>
                <a:cs typeface="Cambria"/>
              </a:rPr>
              <a:t>ensures</a:t>
            </a:r>
            <a:r>
              <a:rPr sz="1200" spc="6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that</a:t>
            </a:r>
            <a:r>
              <a:rPr sz="1200" spc="6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critical</a:t>
            </a:r>
            <a:r>
              <a:rPr sz="1200" spc="6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applications</a:t>
            </a:r>
            <a:r>
              <a:rPr sz="1200" spc="6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such</a:t>
            </a:r>
            <a:r>
              <a:rPr sz="1200" spc="6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as</a:t>
            </a:r>
            <a:r>
              <a:rPr sz="1200" spc="6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VoIP,</a:t>
            </a:r>
            <a:r>
              <a:rPr sz="1200" spc="5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ERP</a:t>
            </a:r>
            <a:r>
              <a:rPr sz="1200" spc="6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6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video</a:t>
            </a:r>
            <a:r>
              <a:rPr sz="1200" spc="6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conferencing</a:t>
            </a:r>
            <a:r>
              <a:rPr sz="1200" spc="5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receive </a:t>
            </a:r>
            <a:r>
              <a:rPr sz="1200" dirty="0">
                <a:latin typeface="Cambria"/>
                <a:cs typeface="Cambria"/>
              </a:rPr>
              <a:t>priority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bandwidth,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improving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overall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business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performance.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200">
              <a:latin typeface="Cambria"/>
              <a:cs typeface="Cambria"/>
            </a:endParaRPr>
          </a:p>
          <a:p>
            <a:pPr marL="344170" lvl="1" indent="-185420" algn="just">
              <a:lnSpc>
                <a:spcPct val="100000"/>
              </a:lnSpc>
              <a:buAutoNum type="arabicPeriod" startAt="6"/>
              <a:tabLst>
                <a:tab pos="344170" algn="l"/>
              </a:tabLst>
            </a:pPr>
            <a:r>
              <a:rPr sz="1400" b="1" dirty="0">
                <a:latin typeface="Cambria"/>
                <a:cs typeface="Cambria"/>
              </a:rPr>
              <a:t>Sample</a:t>
            </a:r>
            <a:r>
              <a:rPr sz="1400" b="1" spc="-15" dirty="0">
                <a:latin typeface="Cambria"/>
                <a:cs typeface="Cambria"/>
              </a:rPr>
              <a:t> </a:t>
            </a:r>
            <a:r>
              <a:rPr sz="1400" b="1" spc="-10" dirty="0">
                <a:latin typeface="Cambria"/>
                <a:cs typeface="Cambria"/>
              </a:rPr>
              <a:t>Pseudocode</a:t>
            </a:r>
            <a:endParaRPr sz="1400">
              <a:latin typeface="Cambria"/>
              <a:cs typeface="Cambria"/>
            </a:endParaRPr>
          </a:p>
          <a:p>
            <a:pPr marL="158750">
              <a:lnSpc>
                <a:spcPct val="100000"/>
              </a:lnSpc>
              <a:spcBef>
                <a:spcPts val="310"/>
              </a:spcBef>
            </a:pPr>
            <a:r>
              <a:rPr sz="1200" spc="-10" dirty="0">
                <a:latin typeface="Cambria"/>
                <a:cs typeface="Cambria"/>
              </a:rPr>
              <a:t>START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200">
              <a:latin typeface="Cambria"/>
              <a:cs typeface="Cambria"/>
            </a:endParaRPr>
          </a:p>
          <a:p>
            <a:pPr marL="15875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Cambria"/>
                <a:cs typeface="Cambria"/>
              </a:rPr>
              <a:t>Monitor</a:t>
            </a:r>
            <a:r>
              <a:rPr sz="1200" spc="-5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MPLS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Routers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1200">
              <a:latin typeface="Cambria"/>
              <a:cs typeface="Cambria"/>
            </a:endParaRPr>
          </a:p>
          <a:p>
            <a:pPr marL="292735" marR="3256279" indent="-134620">
              <a:lnSpc>
                <a:spcPct val="120000"/>
              </a:lnSpc>
            </a:pPr>
            <a:r>
              <a:rPr sz="1200" dirty="0">
                <a:latin typeface="Cambria"/>
                <a:cs typeface="Cambria"/>
              </a:rPr>
              <a:t>IF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LSP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is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Congested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20" dirty="0">
                <a:latin typeface="Cambria"/>
                <a:cs typeface="Cambria"/>
              </a:rPr>
              <a:t>THEN</a:t>
            </a:r>
            <a:r>
              <a:rPr sz="1200" spc="50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Redirect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Traffic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to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Alternate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spc="-25" dirty="0">
                <a:latin typeface="Cambria"/>
                <a:cs typeface="Cambria"/>
              </a:rPr>
              <a:t>LSP</a:t>
            </a:r>
            <a:endParaRPr sz="1200">
              <a:latin typeface="Cambria"/>
              <a:cs typeface="Cambria"/>
            </a:endParaRPr>
          </a:p>
          <a:p>
            <a:pPr marL="158750">
              <a:lnSpc>
                <a:spcPct val="100000"/>
              </a:lnSpc>
              <a:spcBef>
                <a:spcPts val="275"/>
              </a:spcBef>
            </a:pPr>
            <a:r>
              <a:rPr sz="1200" spc="-10" dirty="0">
                <a:latin typeface="Cambria"/>
                <a:cs typeface="Cambria"/>
              </a:rPr>
              <a:t>ENDIF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200">
              <a:latin typeface="Cambria"/>
              <a:cs typeface="Cambria"/>
            </a:endParaRPr>
          </a:p>
          <a:p>
            <a:pPr marL="158750">
              <a:lnSpc>
                <a:spcPct val="100000"/>
              </a:lnSpc>
            </a:pPr>
            <a:r>
              <a:rPr sz="1200" dirty="0">
                <a:latin typeface="Cambria"/>
                <a:cs typeface="Cambria"/>
              </a:rPr>
              <a:t>Check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Label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Mapping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1200">
              <a:latin typeface="Cambria"/>
              <a:cs typeface="Cambria"/>
            </a:endParaRPr>
          </a:p>
          <a:p>
            <a:pPr marL="292735" marR="3175000" indent="-134620">
              <a:lnSpc>
                <a:spcPct val="120200"/>
              </a:lnSpc>
            </a:pPr>
            <a:r>
              <a:rPr sz="1200" dirty="0">
                <a:latin typeface="Cambria"/>
                <a:cs typeface="Cambria"/>
              </a:rPr>
              <a:t>IF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Label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Mapping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is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Incorrect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20" dirty="0">
                <a:latin typeface="Cambria"/>
                <a:cs typeface="Cambria"/>
              </a:rPr>
              <a:t>THEN </a:t>
            </a:r>
            <a:r>
              <a:rPr sz="1200" dirty="0">
                <a:latin typeface="Cambria"/>
                <a:cs typeface="Cambria"/>
              </a:rPr>
              <a:t>Update</a:t>
            </a:r>
            <a:r>
              <a:rPr sz="1200" spc="-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Routing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Table</a:t>
            </a:r>
            <a:endParaRPr sz="1200">
              <a:latin typeface="Cambria"/>
              <a:cs typeface="Cambria"/>
            </a:endParaRPr>
          </a:p>
          <a:p>
            <a:pPr marL="158750">
              <a:lnSpc>
                <a:spcPct val="100000"/>
              </a:lnSpc>
              <a:spcBef>
                <a:spcPts val="275"/>
              </a:spcBef>
            </a:pPr>
            <a:r>
              <a:rPr sz="1200" spc="-10" dirty="0">
                <a:latin typeface="Cambria"/>
                <a:cs typeface="Cambria"/>
              </a:rPr>
              <a:t>ENDIF</a:t>
            </a:r>
            <a:endParaRPr sz="1200">
              <a:latin typeface="Cambria"/>
              <a:cs typeface="Cambria"/>
            </a:endParaRPr>
          </a:p>
          <a:p>
            <a:pPr marL="158750" marR="3360420">
              <a:lnSpc>
                <a:spcPts val="3440"/>
              </a:lnSpc>
              <a:spcBef>
                <a:spcPts val="440"/>
              </a:spcBef>
            </a:pPr>
            <a:r>
              <a:rPr sz="1200" dirty="0">
                <a:latin typeface="Cambria"/>
                <a:cs typeface="Cambria"/>
              </a:rPr>
              <a:t>Enable</a:t>
            </a:r>
            <a:r>
              <a:rPr sz="1200" spc="-4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MPLS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Traffic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Engineering Configure</a:t>
            </a:r>
            <a:r>
              <a:rPr sz="1200" spc="5" dirty="0">
                <a:latin typeface="Cambria"/>
                <a:cs typeface="Cambria"/>
              </a:rPr>
              <a:t> </a:t>
            </a:r>
            <a:r>
              <a:rPr sz="1200" spc="-25" dirty="0">
                <a:latin typeface="Cambria"/>
                <a:cs typeface="Cambria"/>
              </a:rPr>
              <a:t>QoS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200">
              <a:latin typeface="Cambria"/>
              <a:cs typeface="Cambria"/>
            </a:endParaRPr>
          </a:p>
          <a:p>
            <a:pPr marL="158750">
              <a:lnSpc>
                <a:spcPct val="100000"/>
              </a:lnSpc>
            </a:pPr>
            <a:r>
              <a:rPr sz="1200" spc="-10" dirty="0">
                <a:latin typeface="Cambria"/>
                <a:cs typeface="Cambria"/>
              </a:rPr>
              <a:t>Prioritise:</a:t>
            </a:r>
            <a:endParaRPr sz="1200">
              <a:latin typeface="Cambria"/>
              <a:cs typeface="Cambria"/>
            </a:endParaRPr>
          </a:p>
          <a:p>
            <a:pPr marL="158750" marR="5187315">
              <a:lnSpc>
                <a:spcPct val="119200"/>
              </a:lnSpc>
            </a:pPr>
            <a:r>
              <a:rPr sz="1200" spc="-20" dirty="0">
                <a:latin typeface="Cambria"/>
                <a:cs typeface="Cambria"/>
              </a:rPr>
              <a:t>VoIP </a:t>
            </a:r>
            <a:r>
              <a:rPr sz="1200" spc="-25" dirty="0">
                <a:latin typeface="Cambria"/>
                <a:cs typeface="Cambria"/>
              </a:rPr>
              <a:t>ERP</a:t>
            </a:r>
            <a:endParaRPr sz="1200">
              <a:latin typeface="Cambria"/>
              <a:cs typeface="Cambria"/>
            </a:endParaRPr>
          </a:p>
          <a:p>
            <a:pPr marL="158750">
              <a:lnSpc>
                <a:spcPct val="100000"/>
              </a:lnSpc>
              <a:spcBef>
                <a:spcPts val="280"/>
              </a:spcBef>
            </a:pPr>
            <a:r>
              <a:rPr sz="1200" dirty="0">
                <a:latin typeface="Cambria"/>
                <a:cs typeface="Cambria"/>
              </a:rPr>
              <a:t>Video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Conferencing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200">
              <a:latin typeface="Cambria"/>
              <a:cs typeface="Cambria"/>
            </a:endParaRPr>
          </a:p>
          <a:p>
            <a:pPr marL="158750">
              <a:lnSpc>
                <a:spcPct val="100000"/>
              </a:lnSpc>
            </a:pPr>
            <a:r>
              <a:rPr sz="1200" dirty="0">
                <a:latin typeface="Cambria"/>
                <a:cs typeface="Cambria"/>
              </a:rPr>
              <a:t>Monitor</a:t>
            </a:r>
            <a:r>
              <a:rPr sz="1200" spc="-5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Network</a:t>
            </a:r>
            <a:r>
              <a:rPr sz="1200" spc="-5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Performance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3152" y="1075690"/>
            <a:ext cx="5747385" cy="9290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Cambria"/>
                <a:cs typeface="Cambria"/>
              </a:rPr>
              <a:t>STOP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2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</a:pPr>
            <a:r>
              <a:rPr sz="1400" b="1" dirty="0">
                <a:latin typeface="Cambria"/>
                <a:cs typeface="Cambria"/>
              </a:rPr>
              <a:t>7.</a:t>
            </a:r>
            <a:r>
              <a:rPr sz="1400" b="1" spc="-2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Expected</a:t>
            </a:r>
            <a:r>
              <a:rPr sz="1400" b="1" spc="-10" dirty="0">
                <a:latin typeface="Cambria"/>
                <a:cs typeface="Cambria"/>
              </a:rPr>
              <a:t> Result</a:t>
            </a:r>
            <a:endParaRPr sz="1400">
              <a:latin typeface="Cambria"/>
              <a:cs typeface="Cambria"/>
            </a:endParaRPr>
          </a:p>
          <a:p>
            <a:pPr marL="323215" indent="-228600">
              <a:lnSpc>
                <a:spcPct val="100000"/>
              </a:lnSpc>
              <a:spcBef>
                <a:spcPts val="295"/>
              </a:spcBef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dirty="0">
                <a:latin typeface="Cambria"/>
                <a:cs typeface="Cambria"/>
              </a:rPr>
              <a:t>Faster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access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to</a:t>
            </a:r>
            <a:r>
              <a:rPr sz="1200" spc="-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cloud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applications.</a:t>
            </a:r>
            <a:endParaRPr sz="1200">
              <a:latin typeface="Cambria"/>
              <a:cs typeface="Cambria"/>
            </a:endParaRPr>
          </a:p>
          <a:p>
            <a:pPr marL="323215" indent="-228600">
              <a:lnSpc>
                <a:spcPct val="100000"/>
              </a:lnSpc>
              <a:spcBef>
                <a:spcPts val="280"/>
              </a:spcBef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dirty="0">
                <a:latin typeface="Cambria"/>
                <a:cs typeface="Cambria"/>
              </a:rPr>
              <a:t>Reduced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order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processing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delay.</a:t>
            </a:r>
            <a:endParaRPr sz="1200">
              <a:latin typeface="Cambria"/>
              <a:cs typeface="Cambria"/>
            </a:endParaRPr>
          </a:p>
          <a:p>
            <a:pPr marL="323215" indent="-228600">
              <a:lnSpc>
                <a:spcPct val="100000"/>
              </a:lnSpc>
              <a:spcBef>
                <a:spcPts val="285"/>
              </a:spcBef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dirty="0">
                <a:latin typeface="Cambria"/>
                <a:cs typeface="Cambria"/>
              </a:rPr>
              <a:t>Improved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VoIP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call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quality.</a:t>
            </a:r>
            <a:endParaRPr sz="1200">
              <a:latin typeface="Cambria"/>
              <a:cs typeface="Cambria"/>
            </a:endParaRPr>
          </a:p>
          <a:p>
            <a:pPr marL="323215" indent="-228600">
              <a:lnSpc>
                <a:spcPct val="100000"/>
              </a:lnSpc>
              <a:spcBef>
                <a:spcPts val="275"/>
              </a:spcBef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dirty="0">
                <a:latin typeface="Cambria"/>
                <a:cs typeface="Cambria"/>
              </a:rPr>
              <a:t>Stable</a:t>
            </a:r>
            <a:r>
              <a:rPr sz="1200" spc="-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video</a:t>
            </a:r>
            <a:r>
              <a:rPr sz="1200" spc="-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conferencing</a:t>
            </a:r>
            <a:r>
              <a:rPr sz="1200" spc="-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sessions.</a:t>
            </a:r>
            <a:endParaRPr sz="1200">
              <a:latin typeface="Cambria"/>
              <a:cs typeface="Cambria"/>
            </a:endParaRPr>
          </a:p>
          <a:p>
            <a:pPr marL="323215" indent="-228600">
              <a:lnSpc>
                <a:spcPct val="100000"/>
              </a:lnSpc>
              <a:spcBef>
                <a:spcPts val="280"/>
              </a:spcBef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dirty="0">
                <a:latin typeface="Cambria"/>
                <a:cs typeface="Cambria"/>
              </a:rPr>
              <a:t>Balanced</a:t>
            </a:r>
            <a:r>
              <a:rPr sz="1200" spc="-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utilization </a:t>
            </a:r>
            <a:r>
              <a:rPr sz="1200" dirty="0">
                <a:latin typeface="Cambria"/>
                <a:cs typeface="Cambria"/>
              </a:rPr>
              <a:t>of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MPLS</a:t>
            </a:r>
            <a:r>
              <a:rPr sz="1200" spc="-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links.</a:t>
            </a:r>
            <a:endParaRPr sz="1200">
              <a:latin typeface="Cambria"/>
              <a:cs typeface="Cambria"/>
            </a:endParaRPr>
          </a:p>
          <a:p>
            <a:pPr marL="323215" indent="-228600">
              <a:lnSpc>
                <a:spcPct val="100000"/>
              </a:lnSpc>
              <a:spcBef>
                <a:spcPts val="275"/>
              </a:spcBef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dirty="0">
                <a:latin typeface="Cambria"/>
                <a:cs typeface="Cambria"/>
              </a:rPr>
              <a:t>Reduced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latency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packet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loss.</a:t>
            </a:r>
            <a:endParaRPr sz="1200">
              <a:latin typeface="Cambria"/>
              <a:cs typeface="Cambria"/>
            </a:endParaRPr>
          </a:p>
          <a:p>
            <a:pPr marL="323215" indent="-228600">
              <a:lnSpc>
                <a:spcPct val="100000"/>
              </a:lnSpc>
              <a:spcBef>
                <a:spcPts val="280"/>
              </a:spcBef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dirty="0">
                <a:latin typeface="Cambria"/>
                <a:cs typeface="Cambria"/>
              </a:rPr>
              <a:t>Higher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reliability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efficiency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of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-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MPLS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network.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12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</a:pPr>
            <a:r>
              <a:rPr sz="1400" b="1" spc="-10" dirty="0">
                <a:latin typeface="Cambria"/>
                <a:cs typeface="Cambria"/>
              </a:rPr>
              <a:t>Conclusion</a:t>
            </a:r>
            <a:endParaRPr sz="1400">
              <a:latin typeface="Cambria"/>
              <a:cs typeface="Cambria"/>
            </a:endParaRPr>
          </a:p>
          <a:p>
            <a:pPr marL="241300" marR="6350" algn="just">
              <a:lnSpc>
                <a:spcPct val="105500"/>
              </a:lnSpc>
              <a:spcBef>
                <a:spcPts val="219"/>
              </a:spcBef>
            </a:pPr>
            <a:r>
              <a:rPr sz="1200" dirty="0">
                <a:latin typeface="Cambria"/>
                <a:cs typeface="Cambria"/>
              </a:rPr>
              <a:t>The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MPLS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network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issues</a:t>
            </a:r>
            <a:r>
              <a:rPr sz="1200" spc="-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were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caused</a:t>
            </a:r>
            <a:r>
              <a:rPr sz="1200" spc="-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by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congested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Label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Switched</a:t>
            </a:r>
            <a:r>
              <a:rPr sz="1200" spc="-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Paths,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incorrect </a:t>
            </a:r>
            <a:r>
              <a:rPr sz="1200" dirty="0">
                <a:latin typeface="Cambria"/>
                <a:cs typeface="Cambria"/>
              </a:rPr>
              <a:t>label</a:t>
            </a:r>
            <a:r>
              <a:rPr sz="1200" spc="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mappings</a:t>
            </a:r>
            <a:r>
              <a:rPr sz="1200" spc="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improper</a:t>
            </a:r>
            <a:r>
              <a:rPr sz="1200" spc="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Traffic</a:t>
            </a:r>
            <a:r>
              <a:rPr sz="1200" spc="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Engineering</a:t>
            </a:r>
            <a:r>
              <a:rPr sz="1200" spc="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configuration.</a:t>
            </a:r>
            <a:r>
              <a:rPr sz="1200" spc="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By</a:t>
            </a:r>
            <a:r>
              <a:rPr sz="1200" spc="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correcting</a:t>
            </a:r>
            <a:r>
              <a:rPr sz="1200" spc="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label </a:t>
            </a:r>
            <a:r>
              <a:rPr sz="1200" dirty="0">
                <a:latin typeface="Cambria"/>
                <a:cs typeface="Cambria"/>
              </a:rPr>
              <a:t>mappings,</a:t>
            </a:r>
            <a:r>
              <a:rPr sz="1200" spc="26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enabling</a:t>
            </a:r>
            <a:r>
              <a:rPr sz="1200" spc="26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MPLS</a:t>
            </a:r>
            <a:r>
              <a:rPr sz="1200" spc="27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Traffic</a:t>
            </a:r>
            <a:r>
              <a:rPr sz="1200" spc="26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Engineering,</a:t>
            </a:r>
            <a:r>
              <a:rPr sz="1200" spc="27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implementing</a:t>
            </a:r>
            <a:r>
              <a:rPr sz="1200" spc="26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QoS</a:t>
            </a:r>
            <a:r>
              <a:rPr sz="1200" spc="26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27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balancing </a:t>
            </a:r>
            <a:r>
              <a:rPr sz="1200" dirty="0">
                <a:latin typeface="Cambria"/>
                <a:cs typeface="Cambria"/>
              </a:rPr>
              <a:t>traffic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across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multiple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LSPs,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network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achieves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improved</a:t>
            </a:r>
            <a:r>
              <a:rPr sz="1200" spc="9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performance,</a:t>
            </a:r>
            <a:r>
              <a:rPr sz="1200" spc="9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efficient </a:t>
            </a:r>
            <a:r>
              <a:rPr sz="1200" dirty="0">
                <a:latin typeface="Cambria"/>
                <a:cs typeface="Cambria"/>
              </a:rPr>
              <a:t>bandwidth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utilization</a:t>
            </a:r>
            <a:r>
              <a:rPr sz="1200" spc="-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 reliable</a:t>
            </a:r>
            <a:r>
              <a:rPr sz="1200" spc="-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communication. These</a:t>
            </a:r>
            <a:r>
              <a:rPr sz="1200" spc="-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solutions</a:t>
            </a:r>
            <a:r>
              <a:rPr sz="1200" spc="-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satisfy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20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Level </a:t>
            </a:r>
            <a:r>
              <a:rPr sz="1200" b="1" dirty="0">
                <a:latin typeface="Cambria"/>
                <a:cs typeface="Cambria"/>
              </a:rPr>
              <a:t>4</a:t>
            </a:r>
            <a:r>
              <a:rPr sz="1200" b="1" spc="-4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(Exemplary)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assessment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rubric.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200">
              <a:latin typeface="Cambria"/>
              <a:cs typeface="Cambria"/>
            </a:endParaRPr>
          </a:p>
          <a:p>
            <a:pPr marL="238125" marR="5080" indent="-225425" algn="just">
              <a:lnSpc>
                <a:spcPct val="105400"/>
              </a:lnSpc>
              <a:buAutoNum type="arabicPeriod" startAt="4"/>
              <a:tabLst>
                <a:tab pos="241300" algn="l"/>
              </a:tabLst>
            </a:pPr>
            <a:r>
              <a:rPr sz="1100" dirty="0">
                <a:latin typeface="Cambria"/>
                <a:cs typeface="Cambria"/>
              </a:rPr>
              <a:t>A</a:t>
            </a:r>
            <a:r>
              <a:rPr sz="1100" spc="34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multinational</a:t>
            </a:r>
            <a:r>
              <a:rPr sz="1100" spc="35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logistics</a:t>
            </a:r>
            <a:r>
              <a:rPr sz="1100" spc="34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company</a:t>
            </a:r>
            <a:r>
              <a:rPr sz="1100" spc="34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operates</a:t>
            </a:r>
            <a:r>
              <a:rPr sz="1100" spc="35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an</a:t>
            </a:r>
            <a:r>
              <a:rPr sz="1100" spc="33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automated</a:t>
            </a:r>
            <a:r>
              <a:rPr sz="1100" spc="35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warehouse</a:t>
            </a:r>
            <a:r>
              <a:rPr sz="1100" spc="33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where</a:t>
            </a:r>
            <a:r>
              <a:rPr sz="1100" spc="35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barcode 	</a:t>
            </a:r>
            <a:r>
              <a:rPr sz="1100" dirty="0">
                <a:latin typeface="Cambria"/>
                <a:cs typeface="Cambria"/>
              </a:rPr>
              <a:t>scanners,</a:t>
            </a:r>
            <a:r>
              <a:rPr sz="1100" spc="180" dirty="0">
                <a:latin typeface="Cambria"/>
                <a:cs typeface="Cambria"/>
              </a:rPr>
              <a:t>  </a:t>
            </a:r>
            <a:r>
              <a:rPr sz="1100" dirty="0">
                <a:latin typeface="Cambria"/>
                <a:cs typeface="Cambria"/>
              </a:rPr>
              <a:t>RFID</a:t>
            </a:r>
            <a:r>
              <a:rPr sz="1100" spc="180" dirty="0">
                <a:latin typeface="Cambria"/>
                <a:cs typeface="Cambria"/>
              </a:rPr>
              <a:t>  </a:t>
            </a:r>
            <a:r>
              <a:rPr sz="1100" dirty="0">
                <a:latin typeface="Cambria"/>
                <a:cs typeface="Cambria"/>
              </a:rPr>
              <a:t>readers,</a:t>
            </a:r>
            <a:r>
              <a:rPr sz="1100" spc="185" dirty="0">
                <a:latin typeface="Cambria"/>
                <a:cs typeface="Cambria"/>
              </a:rPr>
              <a:t>  </a:t>
            </a:r>
            <a:r>
              <a:rPr sz="1100" dirty="0">
                <a:latin typeface="Cambria"/>
                <a:cs typeface="Cambria"/>
              </a:rPr>
              <a:t>autonomous</a:t>
            </a:r>
            <a:r>
              <a:rPr sz="1100" spc="175" dirty="0">
                <a:latin typeface="Cambria"/>
                <a:cs typeface="Cambria"/>
              </a:rPr>
              <a:t>  </a:t>
            </a:r>
            <a:r>
              <a:rPr sz="1100" dirty="0">
                <a:latin typeface="Cambria"/>
                <a:cs typeface="Cambria"/>
              </a:rPr>
              <a:t>robots,</a:t>
            </a:r>
            <a:r>
              <a:rPr sz="1100" spc="175" dirty="0">
                <a:latin typeface="Cambria"/>
                <a:cs typeface="Cambria"/>
              </a:rPr>
              <a:t>  </a:t>
            </a:r>
            <a:r>
              <a:rPr sz="1100" dirty="0">
                <a:latin typeface="Cambria"/>
                <a:cs typeface="Cambria"/>
              </a:rPr>
              <a:t>and</a:t>
            </a:r>
            <a:r>
              <a:rPr sz="1100" spc="180" dirty="0">
                <a:latin typeface="Cambria"/>
                <a:cs typeface="Cambria"/>
              </a:rPr>
              <a:t>  </a:t>
            </a:r>
            <a:r>
              <a:rPr sz="1100" dirty="0">
                <a:latin typeface="Cambria"/>
                <a:cs typeface="Cambria"/>
              </a:rPr>
              <a:t>inventory</a:t>
            </a:r>
            <a:r>
              <a:rPr sz="1100" spc="175" dirty="0">
                <a:latin typeface="Cambria"/>
                <a:cs typeface="Cambria"/>
              </a:rPr>
              <a:t>  </a:t>
            </a:r>
            <a:r>
              <a:rPr sz="1100" dirty="0">
                <a:latin typeface="Cambria"/>
                <a:cs typeface="Cambria"/>
              </a:rPr>
              <a:t>management</a:t>
            </a:r>
            <a:r>
              <a:rPr sz="1100" spc="175" dirty="0">
                <a:latin typeface="Cambria"/>
                <a:cs typeface="Cambria"/>
              </a:rPr>
              <a:t>  </a:t>
            </a:r>
            <a:r>
              <a:rPr sz="1100" spc="-10" dirty="0">
                <a:latin typeface="Cambria"/>
                <a:cs typeface="Cambria"/>
              </a:rPr>
              <a:t>systems 	</a:t>
            </a:r>
            <a:r>
              <a:rPr sz="1100" dirty="0">
                <a:latin typeface="Cambria"/>
                <a:cs typeface="Cambria"/>
              </a:rPr>
              <a:t>continuously</a:t>
            </a:r>
            <a:r>
              <a:rPr sz="1100" spc="10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exchange</a:t>
            </a:r>
            <a:r>
              <a:rPr sz="1100" spc="11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data</a:t>
            </a:r>
            <a:r>
              <a:rPr sz="1100" spc="11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over</a:t>
            </a:r>
            <a:r>
              <a:rPr sz="1100" spc="10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</a:t>
            </a:r>
            <a:r>
              <a:rPr sz="1100" spc="9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computer</a:t>
            </a:r>
            <a:r>
              <a:rPr sz="1100" spc="11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network.</a:t>
            </a:r>
            <a:r>
              <a:rPr sz="1100" spc="11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Every</a:t>
            </a:r>
            <a:r>
              <a:rPr sz="1100" spc="10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day,</a:t>
            </a:r>
            <a:r>
              <a:rPr sz="1100" spc="11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thousands</a:t>
            </a:r>
            <a:r>
              <a:rPr sz="1100" spc="11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of</a:t>
            </a:r>
            <a:r>
              <a:rPr sz="1100" spc="10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shipment 	</a:t>
            </a:r>
            <a:r>
              <a:rPr sz="1100" dirty="0">
                <a:latin typeface="Cambria"/>
                <a:cs typeface="Cambria"/>
              </a:rPr>
              <a:t>records,</a:t>
            </a:r>
            <a:r>
              <a:rPr sz="1100" spc="27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customer</a:t>
            </a:r>
            <a:r>
              <a:rPr sz="1100" spc="29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details,</a:t>
            </a:r>
            <a:r>
              <a:rPr sz="1100" spc="29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and</a:t>
            </a:r>
            <a:r>
              <a:rPr sz="1100" spc="29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inventory</a:t>
            </a:r>
            <a:r>
              <a:rPr sz="1100" spc="28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updates</a:t>
            </a:r>
            <a:r>
              <a:rPr sz="1100" spc="29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are</a:t>
            </a:r>
            <a:r>
              <a:rPr sz="1100" spc="29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transmitted</a:t>
            </a:r>
            <a:r>
              <a:rPr sz="1100" spc="29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between</a:t>
            </a:r>
            <a:r>
              <a:rPr sz="1100" spc="28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warehouse 	</a:t>
            </a:r>
            <a:r>
              <a:rPr sz="1100" dirty="0">
                <a:latin typeface="Cambria"/>
                <a:cs typeface="Cambria"/>
              </a:rPr>
              <a:t>terminals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and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</a:t>
            </a:r>
            <a:r>
              <a:rPr sz="1100" spc="5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central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server.</a:t>
            </a:r>
            <a:r>
              <a:rPr sz="1100" spc="6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Recently,</a:t>
            </a:r>
            <a:r>
              <a:rPr sz="1100" spc="6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</a:t>
            </a:r>
            <a:r>
              <a:rPr sz="1100" spc="5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company</a:t>
            </a:r>
            <a:r>
              <a:rPr sz="1100" spc="6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has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observed</a:t>
            </a:r>
            <a:r>
              <a:rPr sz="1100" spc="6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that</a:t>
            </a:r>
            <a:r>
              <a:rPr sz="1100" spc="5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some</a:t>
            </a:r>
            <a:r>
              <a:rPr sz="1100" spc="5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shipment 	</a:t>
            </a:r>
            <a:r>
              <a:rPr sz="1100" dirty="0">
                <a:latin typeface="Cambria"/>
                <a:cs typeface="Cambria"/>
              </a:rPr>
              <a:t>records</a:t>
            </a:r>
            <a:r>
              <a:rPr sz="1100" spc="35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are</a:t>
            </a:r>
            <a:r>
              <a:rPr sz="1100" spc="37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arriving</a:t>
            </a:r>
            <a:r>
              <a:rPr sz="1100" spc="37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with</a:t>
            </a:r>
            <a:r>
              <a:rPr sz="1100" spc="37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incorrect</a:t>
            </a:r>
            <a:r>
              <a:rPr sz="1100" spc="35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information,</a:t>
            </a:r>
            <a:r>
              <a:rPr sz="1100" spc="36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barcode</a:t>
            </a:r>
            <a:r>
              <a:rPr sz="1100" spc="35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scans</a:t>
            </a:r>
            <a:r>
              <a:rPr sz="1100" spc="36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occasionally</a:t>
            </a:r>
            <a:r>
              <a:rPr sz="1100" spc="36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fail,</a:t>
            </a:r>
            <a:r>
              <a:rPr sz="1100" spc="370" dirty="0">
                <a:latin typeface="Cambria"/>
                <a:cs typeface="Cambria"/>
              </a:rPr>
              <a:t> </a:t>
            </a:r>
            <a:r>
              <a:rPr sz="1100" spc="-25" dirty="0">
                <a:latin typeface="Cambria"/>
                <a:cs typeface="Cambria"/>
              </a:rPr>
              <a:t>and 	</a:t>
            </a:r>
            <a:r>
              <a:rPr sz="1100" dirty="0">
                <a:latin typeface="Cambria"/>
                <a:cs typeface="Cambria"/>
              </a:rPr>
              <a:t>inventory</a:t>
            </a:r>
            <a:r>
              <a:rPr sz="1100" spc="8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quantities</a:t>
            </a:r>
            <a:r>
              <a:rPr sz="1100" spc="9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in</a:t>
            </a:r>
            <a:r>
              <a:rPr sz="1100" spc="8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</a:t>
            </a:r>
            <a:r>
              <a:rPr sz="1100" spc="10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database</a:t>
            </a:r>
            <a:r>
              <a:rPr sz="1100" spc="9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do</a:t>
            </a:r>
            <a:r>
              <a:rPr sz="1100" spc="9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not</a:t>
            </a:r>
            <a:r>
              <a:rPr sz="1100" spc="9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always</a:t>
            </a:r>
            <a:r>
              <a:rPr sz="1100" spc="9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match</a:t>
            </a:r>
            <a:r>
              <a:rPr sz="1100" spc="9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</a:t>
            </a:r>
            <a:r>
              <a:rPr sz="1100" spc="10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physical</a:t>
            </a:r>
            <a:r>
              <a:rPr sz="1100" spc="8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stock.</a:t>
            </a:r>
            <a:r>
              <a:rPr sz="1100" spc="9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During</a:t>
            </a:r>
            <a:r>
              <a:rPr sz="1100" spc="85" dirty="0">
                <a:latin typeface="Cambria"/>
                <a:cs typeface="Cambria"/>
              </a:rPr>
              <a:t> </a:t>
            </a:r>
            <a:r>
              <a:rPr sz="1100" spc="-20" dirty="0">
                <a:latin typeface="Cambria"/>
                <a:cs typeface="Cambria"/>
              </a:rPr>
              <a:t>peak 	</a:t>
            </a:r>
            <a:r>
              <a:rPr sz="1100" dirty="0">
                <a:latin typeface="Cambria"/>
                <a:cs typeface="Cambria"/>
              </a:rPr>
              <a:t>hours,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network</a:t>
            </a:r>
            <a:r>
              <a:rPr sz="1100" spc="5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monitoring</a:t>
            </a:r>
            <a:r>
              <a:rPr sz="1100" spc="6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reports</a:t>
            </a:r>
            <a:r>
              <a:rPr sz="1100" spc="6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an</a:t>
            </a:r>
            <a:r>
              <a:rPr sz="1100" spc="6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increase</a:t>
            </a:r>
            <a:r>
              <a:rPr sz="1100" spc="5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in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transmission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errors</a:t>
            </a:r>
            <a:r>
              <a:rPr sz="1100" spc="5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caused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by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electrical 	</a:t>
            </a:r>
            <a:r>
              <a:rPr sz="1100" dirty="0">
                <a:latin typeface="Cambria"/>
                <a:cs typeface="Cambria"/>
              </a:rPr>
              <a:t>interference,</a:t>
            </a:r>
            <a:r>
              <a:rPr sz="1100" spc="4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signal</a:t>
            </a:r>
            <a:r>
              <a:rPr sz="1100" spc="5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attenuation,</a:t>
            </a:r>
            <a:r>
              <a:rPr sz="1100" spc="3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and</a:t>
            </a:r>
            <a:r>
              <a:rPr sz="1100" spc="4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network</a:t>
            </a:r>
            <a:r>
              <a:rPr sz="1100" spc="3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congestion.</a:t>
            </a:r>
            <a:r>
              <a:rPr sz="1100" spc="4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Although</a:t>
            </a:r>
            <a:r>
              <a:rPr sz="1100" spc="4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some</a:t>
            </a:r>
            <a:r>
              <a:rPr sz="1100" spc="4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corrupted</a:t>
            </a:r>
            <a:r>
              <a:rPr sz="1100" spc="4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frames 	</a:t>
            </a:r>
            <a:r>
              <a:rPr sz="1100" dirty="0">
                <a:latin typeface="Cambria"/>
                <a:cs typeface="Cambria"/>
              </a:rPr>
              <a:t>are</a:t>
            </a:r>
            <a:r>
              <a:rPr sz="1100" spc="8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detected</a:t>
            </a:r>
            <a:r>
              <a:rPr sz="1100" spc="7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and</a:t>
            </a:r>
            <a:r>
              <a:rPr sz="1100" spc="7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retransmitted,</a:t>
            </a:r>
            <a:r>
              <a:rPr sz="1100" spc="8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others</a:t>
            </a:r>
            <a:r>
              <a:rPr sz="1100" spc="7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remain</a:t>
            </a:r>
            <a:r>
              <a:rPr sz="1100" spc="8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undetected,</a:t>
            </a:r>
            <a:r>
              <a:rPr sz="1100" spc="8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resulting</a:t>
            </a:r>
            <a:r>
              <a:rPr sz="1100" spc="8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in</a:t>
            </a:r>
            <a:r>
              <a:rPr sz="1100" spc="6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incorrect</a:t>
            </a:r>
            <a:r>
              <a:rPr sz="1100" spc="7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database 	</a:t>
            </a:r>
            <a:r>
              <a:rPr sz="1100" dirty="0">
                <a:latin typeface="Cambria"/>
                <a:cs typeface="Cambria"/>
              </a:rPr>
              <a:t>entries</a:t>
            </a:r>
            <a:r>
              <a:rPr sz="1100" spc="12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and</a:t>
            </a:r>
            <a:r>
              <a:rPr sz="1100" spc="114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delayed</a:t>
            </a:r>
            <a:r>
              <a:rPr sz="1100" spc="114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order</a:t>
            </a:r>
            <a:r>
              <a:rPr sz="1100" spc="114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processing.</a:t>
            </a:r>
            <a:r>
              <a:rPr sz="1100" spc="10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</a:t>
            </a:r>
            <a:r>
              <a:rPr sz="1100" spc="11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IT</a:t>
            </a:r>
            <a:r>
              <a:rPr sz="1100" spc="114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department</a:t>
            </a:r>
            <a:r>
              <a:rPr sz="1100" spc="10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suspects</a:t>
            </a:r>
            <a:r>
              <a:rPr sz="1100" spc="114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that</a:t>
            </a:r>
            <a:r>
              <a:rPr sz="1100" spc="114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</a:t>
            </a:r>
            <a:r>
              <a:rPr sz="1100" spc="12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current</a:t>
            </a:r>
            <a:r>
              <a:rPr sz="1100" spc="11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error 	detection</a:t>
            </a:r>
            <a:r>
              <a:rPr sz="1100" spc="-2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and</a:t>
            </a:r>
            <a:r>
              <a:rPr sz="1100" spc="-3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correction</a:t>
            </a:r>
            <a:r>
              <a:rPr sz="1100" spc="-3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mechanisms</a:t>
            </a:r>
            <a:r>
              <a:rPr sz="1100" spc="-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are</a:t>
            </a:r>
            <a:r>
              <a:rPr sz="1100" spc="-2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not</a:t>
            </a:r>
            <a:r>
              <a:rPr sz="1100" spc="-3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configured efficiently.</a:t>
            </a:r>
            <a:r>
              <a:rPr sz="1100" spc="-2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As</a:t>
            </a:r>
            <a:r>
              <a:rPr sz="1100" spc="-10" dirty="0">
                <a:latin typeface="Cambria"/>
                <a:cs typeface="Cambria"/>
              </a:rPr>
              <a:t> the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network</a:t>
            </a:r>
            <a:r>
              <a:rPr sz="1100" spc="-2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engineer, 	</a:t>
            </a:r>
            <a:r>
              <a:rPr sz="1100" dirty="0">
                <a:latin typeface="Cambria"/>
                <a:cs typeface="Cambria"/>
              </a:rPr>
              <a:t>you</a:t>
            </a:r>
            <a:r>
              <a:rPr sz="1100" spc="18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are</a:t>
            </a:r>
            <a:r>
              <a:rPr sz="1100" spc="17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assigned</a:t>
            </a:r>
            <a:r>
              <a:rPr sz="1100" spc="18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to</a:t>
            </a:r>
            <a:r>
              <a:rPr sz="1100" spc="18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investigate</a:t>
            </a:r>
            <a:r>
              <a:rPr sz="1100" spc="18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</a:t>
            </a:r>
            <a:r>
              <a:rPr sz="1100" spc="18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transmission</a:t>
            </a:r>
            <a:r>
              <a:rPr sz="1100" spc="17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errors,</a:t>
            </a:r>
            <a:r>
              <a:rPr sz="1100" spc="18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identify</a:t>
            </a:r>
            <a:r>
              <a:rPr sz="1100" spc="18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</a:t>
            </a:r>
            <a:r>
              <a:rPr sz="1100" spc="18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weaknesses</a:t>
            </a:r>
            <a:r>
              <a:rPr sz="1100" spc="49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in</a:t>
            </a:r>
            <a:r>
              <a:rPr sz="1100" spc="180" dirty="0">
                <a:latin typeface="Cambria"/>
                <a:cs typeface="Cambria"/>
              </a:rPr>
              <a:t> </a:t>
            </a:r>
            <a:r>
              <a:rPr sz="1100" spc="-25" dirty="0">
                <a:latin typeface="Cambria"/>
                <a:cs typeface="Cambria"/>
              </a:rPr>
              <a:t>the 	</a:t>
            </a:r>
            <a:r>
              <a:rPr sz="1100" dirty="0">
                <a:latin typeface="Cambria"/>
                <a:cs typeface="Cambria"/>
              </a:rPr>
              <a:t>existing</a:t>
            </a:r>
            <a:r>
              <a:rPr sz="1100" spc="21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error</a:t>
            </a:r>
            <a:r>
              <a:rPr sz="1100" spc="21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control</a:t>
            </a:r>
            <a:r>
              <a:rPr sz="1100" spc="21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techniques,</a:t>
            </a:r>
            <a:r>
              <a:rPr sz="1100" spc="21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and</a:t>
            </a:r>
            <a:r>
              <a:rPr sz="1100" spc="21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recommend</a:t>
            </a:r>
            <a:r>
              <a:rPr sz="1100" spc="21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suitable</a:t>
            </a:r>
            <a:r>
              <a:rPr sz="1100" spc="21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debugging</a:t>
            </a:r>
            <a:r>
              <a:rPr sz="1100" spc="21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and</a:t>
            </a:r>
            <a:r>
              <a:rPr sz="1100" spc="204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optimization 	</a:t>
            </a:r>
            <a:r>
              <a:rPr sz="1100" dirty="0">
                <a:latin typeface="Cambria"/>
                <a:cs typeface="Cambria"/>
              </a:rPr>
              <a:t>strategies</a:t>
            </a:r>
            <a:r>
              <a:rPr sz="1100" spc="-2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to</a:t>
            </a:r>
            <a:r>
              <a:rPr sz="1100" spc="-3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improve</a:t>
            </a:r>
            <a:r>
              <a:rPr sz="1100" spc="-2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</a:t>
            </a:r>
            <a:r>
              <a:rPr sz="1100" spc="-2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reliability</a:t>
            </a:r>
            <a:r>
              <a:rPr sz="1100" spc="-2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and</a:t>
            </a:r>
            <a:r>
              <a:rPr sz="1100" spc="-2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accuracy</a:t>
            </a:r>
            <a:r>
              <a:rPr sz="1100" spc="-2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of</a:t>
            </a:r>
            <a:r>
              <a:rPr sz="1100" spc="-3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data</a:t>
            </a:r>
            <a:r>
              <a:rPr sz="1100" spc="-2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communication.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70"/>
              </a:spcBef>
              <a:buFont typeface="Cambria"/>
              <a:buAutoNum type="arabicPeriod" startAt="4"/>
            </a:pPr>
            <a:endParaRPr sz="11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1100" spc="-20" dirty="0">
                <a:latin typeface="Cambria"/>
                <a:cs typeface="Cambria"/>
              </a:rPr>
              <a:t>ANS: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1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</a:pPr>
            <a:r>
              <a:rPr sz="1400" b="1" dirty="0">
                <a:latin typeface="Cambria"/>
                <a:cs typeface="Cambria"/>
              </a:rPr>
              <a:t>Error</a:t>
            </a:r>
            <a:r>
              <a:rPr sz="1400" b="1" spc="-4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Detection</a:t>
            </a:r>
            <a:r>
              <a:rPr sz="1400" b="1" spc="-5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and</a:t>
            </a:r>
            <a:r>
              <a:rPr sz="1400" b="1" spc="-4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Correction</a:t>
            </a:r>
            <a:r>
              <a:rPr sz="1400" b="1" spc="-4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Debugging</a:t>
            </a:r>
            <a:r>
              <a:rPr sz="1400" b="1" spc="-4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&amp;</a:t>
            </a:r>
            <a:r>
              <a:rPr sz="1400" b="1" spc="-40" dirty="0">
                <a:latin typeface="Cambria"/>
                <a:cs typeface="Cambria"/>
              </a:rPr>
              <a:t> </a:t>
            </a:r>
            <a:r>
              <a:rPr sz="1400" b="1" spc="-10" dirty="0">
                <a:latin typeface="Cambria"/>
                <a:cs typeface="Cambria"/>
              </a:rPr>
              <a:t>Optimisation</a:t>
            </a:r>
            <a:endParaRPr sz="1400">
              <a:latin typeface="Cambria"/>
              <a:cs typeface="Cambria"/>
            </a:endParaRPr>
          </a:p>
          <a:p>
            <a:pPr marL="426720" lvl="1" indent="-185420">
              <a:lnSpc>
                <a:spcPct val="100000"/>
              </a:lnSpc>
              <a:spcBef>
                <a:spcPts val="1475"/>
              </a:spcBef>
              <a:buAutoNum type="arabicPeriod"/>
              <a:tabLst>
                <a:tab pos="426720" algn="l"/>
              </a:tabLst>
            </a:pPr>
            <a:r>
              <a:rPr sz="1400" b="1" dirty="0">
                <a:latin typeface="Cambria"/>
                <a:cs typeface="Cambria"/>
              </a:rPr>
              <a:t>Problem</a:t>
            </a:r>
            <a:r>
              <a:rPr sz="1400" b="1" spc="-65" dirty="0">
                <a:latin typeface="Cambria"/>
                <a:cs typeface="Cambria"/>
              </a:rPr>
              <a:t> </a:t>
            </a:r>
            <a:r>
              <a:rPr sz="1400" b="1" spc="-10" dirty="0">
                <a:latin typeface="Cambria"/>
                <a:cs typeface="Cambria"/>
              </a:rPr>
              <a:t>Identification</a:t>
            </a:r>
            <a:endParaRPr sz="1400">
              <a:latin typeface="Cambria"/>
              <a:cs typeface="Cambria"/>
            </a:endParaRPr>
          </a:p>
          <a:p>
            <a:pPr marL="241300" marR="153670">
              <a:lnSpc>
                <a:spcPct val="105400"/>
              </a:lnSpc>
              <a:spcBef>
                <a:spcPts val="40"/>
              </a:spcBef>
            </a:pPr>
            <a:r>
              <a:rPr sz="1200" dirty="0">
                <a:latin typeface="Cambria"/>
                <a:cs typeface="Cambria"/>
              </a:rPr>
              <a:t>A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multinational </a:t>
            </a:r>
            <a:r>
              <a:rPr sz="1200" dirty="0">
                <a:latin typeface="Cambria"/>
                <a:cs typeface="Cambria"/>
              </a:rPr>
              <a:t>logistics</a:t>
            </a:r>
            <a:r>
              <a:rPr sz="1200" spc="-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company</a:t>
            </a:r>
            <a:r>
              <a:rPr sz="1200" spc="-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uses</a:t>
            </a:r>
            <a:r>
              <a:rPr sz="1200" spc="-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computer</a:t>
            </a:r>
            <a:r>
              <a:rPr sz="1200" spc="-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network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to</a:t>
            </a:r>
            <a:r>
              <a:rPr sz="1200" spc="-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exchange</a:t>
            </a:r>
            <a:r>
              <a:rPr sz="1200" spc="-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shipment </a:t>
            </a:r>
            <a:r>
              <a:rPr sz="1200" dirty="0">
                <a:latin typeface="Cambria"/>
                <a:cs typeface="Cambria"/>
              </a:rPr>
              <a:t>records,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barcode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data,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RFID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information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inventory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updates.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Recently,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25" dirty="0">
                <a:latin typeface="Cambria"/>
                <a:cs typeface="Cambria"/>
              </a:rPr>
              <a:t>the </a:t>
            </a:r>
            <a:r>
              <a:rPr sz="1200" dirty="0">
                <a:latin typeface="Cambria"/>
                <a:cs typeface="Cambria"/>
              </a:rPr>
              <a:t>following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problems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have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been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observed:</a:t>
            </a:r>
            <a:endParaRPr sz="1200">
              <a:latin typeface="Cambria"/>
              <a:cs typeface="Cambria"/>
            </a:endParaRPr>
          </a:p>
          <a:p>
            <a:pPr marL="240029" indent="-145415">
              <a:lnSpc>
                <a:spcPct val="100000"/>
              </a:lnSpc>
              <a:spcBef>
                <a:spcPts val="75"/>
              </a:spcBef>
              <a:buSzPct val="83333"/>
              <a:buFont typeface="Symbol"/>
              <a:buChar char=""/>
              <a:tabLst>
                <a:tab pos="240029" algn="l"/>
              </a:tabLst>
            </a:pPr>
            <a:r>
              <a:rPr sz="1200" dirty="0">
                <a:latin typeface="Cambria"/>
                <a:cs typeface="Cambria"/>
              </a:rPr>
              <a:t>Shipment</a:t>
            </a:r>
            <a:r>
              <a:rPr sz="1200" spc="-5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records</a:t>
            </a:r>
            <a:r>
              <a:rPr sz="1200" spc="-5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contain</a:t>
            </a:r>
            <a:r>
              <a:rPr sz="1200" spc="-5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incorrect</a:t>
            </a:r>
            <a:r>
              <a:rPr sz="1200" spc="-5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information.</a:t>
            </a:r>
            <a:endParaRPr sz="1200">
              <a:latin typeface="Cambria"/>
              <a:cs typeface="Cambria"/>
            </a:endParaRPr>
          </a:p>
          <a:p>
            <a:pPr marL="240029" indent="-145415">
              <a:lnSpc>
                <a:spcPct val="100000"/>
              </a:lnSpc>
              <a:spcBef>
                <a:spcPts val="80"/>
              </a:spcBef>
              <a:buSzPct val="83333"/>
              <a:buFont typeface="Symbol"/>
              <a:buChar char=""/>
              <a:tabLst>
                <a:tab pos="240029" algn="l"/>
              </a:tabLst>
            </a:pPr>
            <a:r>
              <a:rPr sz="1200" dirty="0">
                <a:latin typeface="Cambria"/>
                <a:cs typeface="Cambria"/>
              </a:rPr>
              <a:t>Barcode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scans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occasionally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20" dirty="0">
                <a:latin typeface="Cambria"/>
                <a:cs typeface="Cambria"/>
              </a:rPr>
              <a:t>fail.</a:t>
            </a:r>
            <a:endParaRPr sz="1200">
              <a:latin typeface="Cambria"/>
              <a:cs typeface="Cambria"/>
            </a:endParaRPr>
          </a:p>
          <a:p>
            <a:pPr marL="240029" indent="-145415">
              <a:lnSpc>
                <a:spcPct val="100000"/>
              </a:lnSpc>
              <a:spcBef>
                <a:spcPts val="75"/>
              </a:spcBef>
              <a:buSzPct val="83333"/>
              <a:buFont typeface="Symbol"/>
              <a:buChar char=""/>
              <a:tabLst>
                <a:tab pos="240029" algn="l"/>
              </a:tabLst>
            </a:pPr>
            <a:r>
              <a:rPr sz="1200" spc="-10" dirty="0">
                <a:latin typeface="Cambria"/>
                <a:cs typeface="Cambria"/>
              </a:rPr>
              <a:t>Inventory </a:t>
            </a:r>
            <a:r>
              <a:rPr sz="1200" dirty="0">
                <a:latin typeface="Cambria"/>
                <a:cs typeface="Cambria"/>
              </a:rPr>
              <a:t>data</a:t>
            </a:r>
            <a:r>
              <a:rPr sz="1200" spc="-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does</a:t>
            </a:r>
            <a:r>
              <a:rPr sz="1200" spc="-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not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match</a:t>
            </a:r>
            <a:r>
              <a:rPr sz="1200" spc="-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-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physical</a:t>
            </a:r>
            <a:r>
              <a:rPr sz="1200" spc="-10" dirty="0">
                <a:latin typeface="Cambria"/>
                <a:cs typeface="Cambria"/>
              </a:rPr>
              <a:t> stock.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5448" y="846582"/>
            <a:ext cx="3392170" cy="60515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58115" indent="-145415">
              <a:lnSpc>
                <a:spcPct val="100000"/>
              </a:lnSpc>
              <a:spcBef>
                <a:spcPts val="185"/>
              </a:spcBef>
              <a:buSzPct val="83333"/>
              <a:buFont typeface="Symbol"/>
              <a:buChar char=""/>
              <a:tabLst>
                <a:tab pos="158115" algn="l"/>
              </a:tabLst>
            </a:pPr>
            <a:r>
              <a:rPr sz="1200" spc="-10" dirty="0">
                <a:latin typeface="Cambria"/>
                <a:cs typeface="Cambria"/>
              </a:rPr>
              <a:t>Transmission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errors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increase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during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peak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hours.</a:t>
            </a:r>
            <a:endParaRPr sz="1200">
              <a:latin typeface="Cambria"/>
              <a:cs typeface="Cambria"/>
            </a:endParaRPr>
          </a:p>
          <a:p>
            <a:pPr marL="158115" indent="-145415">
              <a:lnSpc>
                <a:spcPct val="100000"/>
              </a:lnSpc>
              <a:spcBef>
                <a:spcPts val="85"/>
              </a:spcBef>
              <a:buSzPct val="83333"/>
              <a:buFont typeface="Symbol"/>
              <a:buChar char=""/>
              <a:tabLst>
                <a:tab pos="158115" algn="l"/>
              </a:tabLst>
            </a:pPr>
            <a:r>
              <a:rPr sz="1200" dirty="0">
                <a:latin typeface="Cambria"/>
                <a:cs typeface="Cambria"/>
              </a:rPr>
              <a:t>Some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corrupted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frames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are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not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detected.</a:t>
            </a:r>
            <a:endParaRPr sz="1200">
              <a:latin typeface="Cambria"/>
              <a:cs typeface="Cambria"/>
            </a:endParaRPr>
          </a:p>
          <a:p>
            <a:pPr marL="158115" indent="-145415">
              <a:lnSpc>
                <a:spcPct val="100000"/>
              </a:lnSpc>
              <a:spcBef>
                <a:spcPts val="75"/>
              </a:spcBef>
              <a:buSzPct val="83333"/>
              <a:buFont typeface="Symbol"/>
              <a:buChar char=""/>
              <a:tabLst>
                <a:tab pos="158115" algn="l"/>
              </a:tabLst>
            </a:pPr>
            <a:r>
              <a:rPr sz="1200" dirty="0">
                <a:latin typeface="Cambria"/>
                <a:cs typeface="Cambria"/>
              </a:rPr>
              <a:t>Delayed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order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processing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due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to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retransmissions.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1752" y="1576641"/>
            <a:ext cx="1840864" cy="1901189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1400" b="1" dirty="0">
                <a:latin typeface="Cambria"/>
                <a:cs typeface="Cambria"/>
              </a:rPr>
              <a:t>2.</a:t>
            </a:r>
            <a:r>
              <a:rPr sz="1400" b="1" spc="-1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Root</a:t>
            </a:r>
            <a:r>
              <a:rPr sz="1400" b="1" spc="-1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Cause</a:t>
            </a:r>
            <a:r>
              <a:rPr sz="1400" b="1" spc="-15" dirty="0">
                <a:latin typeface="Cambria"/>
                <a:cs typeface="Cambria"/>
              </a:rPr>
              <a:t> </a:t>
            </a:r>
            <a:r>
              <a:rPr sz="1400" b="1" spc="-10" dirty="0">
                <a:latin typeface="Cambria"/>
                <a:cs typeface="Cambria"/>
              </a:rPr>
              <a:t>Analysis</a:t>
            </a:r>
            <a:endParaRPr sz="1400">
              <a:latin typeface="Cambria"/>
              <a:cs typeface="Cambria"/>
            </a:endParaRPr>
          </a:p>
          <a:p>
            <a:pPr marL="41275">
              <a:lnSpc>
                <a:spcPct val="100000"/>
              </a:lnSpc>
              <a:spcBef>
                <a:spcPts val="330"/>
              </a:spcBef>
            </a:pPr>
            <a:r>
              <a:rPr sz="1200" b="1" spc="-10" dirty="0">
                <a:latin typeface="Cambria"/>
                <a:cs typeface="Cambria"/>
              </a:rPr>
              <a:t>Problem</a:t>
            </a:r>
            <a:endParaRPr sz="1200">
              <a:latin typeface="Cambria"/>
              <a:cs typeface="Cambria"/>
            </a:endParaRPr>
          </a:p>
          <a:p>
            <a:pPr marL="41275" marR="10795">
              <a:lnSpc>
                <a:spcPct val="126200"/>
              </a:lnSpc>
              <a:spcBef>
                <a:spcPts val="10"/>
              </a:spcBef>
            </a:pPr>
            <a:r>
              <a:rPr sz="1200" dirty="0">
                <a:latin typeface="Cambria"/>
                <a:cs typeface="Cambria"/>
              </a:rPr>
              <a:t>Incorrect</a:t>
            </a:r>
            <a:r>
              <a:rPr sz="1200" spc="-6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shipment</a:t>
            </a:r>
            <a:r>
              <a:rPr sz="1200" spc="-5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records </a:t>
            </a:r>
            <a:r>
              <a:rPr sz="1200" dirty="0">
                <a:latin typeface="Cambria"/>
                <a:cs typeface="Cambria"/>
              </a:rPr>
              <a:t>Barcode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scan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failure Inventory</a:t>
            </a:r>
            <a:r>
              <a:rPr sz="120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mismatch Frequent</a:t>
            </a:r>
            <a:r>
              <a:rPr sz="1200" spc="1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retransmissions </a:t>
            </a:r>
            <a:r>
              <a:rPr sz="1200" dirty="0">
                <a:latin typeface="Cambria"/>
                <a:cs typeface="Cambria"/>
              </a:rPr>
              <a:t>Data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corruption</a:t>
            </a:r>
            <a:endParaRPr sz="1200">
              <a:latin typeface="Cambria"/>
              <a:cs typeface="Cambria"/>
            </a:endParaRPr>
          </a:p>
          <a:p>
            <a:pPr marL="41275">
              <a:lnSpc>
                <a:spcPct val="100000"/>
              </a:lnSpc>
              <a:spcBef>
                <a:spcPts val="385"/>
              </a:spcBef>
            </a:pPr>
            <a:r>
              <a:rPr sz="1200" dirty="0">
                <a:latin typeface="Cambria"/>
                <a:cs typeface="Cambria"/>
              </a:rPr>
              <a:t>Delayed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processing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95598" y="1833117"/>
            <a:ext cx="2392045" cy="1644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896619">
              <a:lnSpc>
                <a:spcPct val="126299"/>
              </a:lnSpc>
              <a:spcBef>
                <a:spcPts val="105"/>
              </a:spcBef>
            </a:pPr>
            <a:r>
              <a:rPr sz="1200" b="1" dirty="0">
                <a:latin typeface="Cambria"/>
                <a:cs typeface="Cambria"/>
              </a:rPr>
              <a:t>Root</a:t>
            </a:r>
            <a:r>
              <a:rPr sz="1200" b="1" spc="-4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Cause</a:t>
            </a:r>
            <a:r>
              <a:rPr sz="1200" b="1" spc="50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Corrupted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data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frames </a:t>
            </a:r>
            <a:r>
              <a:rPr sz="1200" dirty="0">
                <a:latin typeface="Cambria"/>
                <a:cs typeface="Cambria"/>
              </a:rPr>
              <a:t>Electrical</a:t>
            </a:r>
            <a:r>
              <a:rPr sz="1200" spc="-4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interference</a:t>
            </a:r>
            <a:endParaRPr sz="1200">
              <a:latin typeface="Cambria"/>
              <a:cs typeface="Cambria"/>
            </a:endParaRPr>
          </a:p>
          <a:p>
            <a:pPr marL="12700" marR="302260">
              <a:lnSpc>
                <a:spcPct val="125800"/>
              </a:lnSpc>
              <a:spcBef>
                <a:spcPts val="10"/>
              </a:spcBef>
            </a:pPr>
            <a:r>
              <a:rPr sz="1200" dirty="0">
                <a:latin typeface="Cambria"/>
                <a:cs typeface="Cambria"/>
              </a:rPr>
              <a:t>Undetected</a:t>
            </a:r>
            <a:r>
              <a:rPr sz="1200" spc="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transmission</a:t>
            </a:r>
            <a:r>
              <a:rPr sz="120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errors </a:t>
            </a:r>
            <a:r>
              <a:rPr sz="1200" dirty="0">
                <a:latin typeface="Cambria"/>
                <a:cs typeface="Cambria"/>
              </a:rPr>
              <a:t>Network</a:t>
            </a:r>
            <a:r>
              <a:rPr sz="1200" spc="-5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congestion</a:t>
            </a:r>
            <a:endParaRPr sz="1200">
              <a:latin typeface="Cambria"/>
              <a:cs typeface="Cambria"/>
            </a:endParaRPr>
          </a:p>
          <a:p>
            <a:pPr marL="12700" marR="5080">
              <a:lnSpc>
                <a:spcPts val="1830"/>
              </a:lnSpc>
              <a:spcBef>
                <a:spcPts val="90"/>
              </a:spcBef>
            </a:pPr>
            <a:r>
              <a:rPr sz="1200" dirty="0">
                <a:latin typeface="Cambria"/>
                <a:cs typeface="Cambria"/>
              </a:rPr>
              <a:t>Weak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error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detection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mechanism </a:t>
            </a:r>
            <a:r>
              <a:rPr sz="1200" dirty="0">
                <a:latin typeface="Cambria"/>
                <a:cs typeface="Cambria"/>
              </a:rPr>
              <a:t>Signal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attenuation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packet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errors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5448" y="3661946"/>
            <a:ext cx="5652770" cy="6722109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58750">
              <a:lnSpc>
                <a:spcPct val="100000"/>
              </a:lnSpc>
              <a:spcBef>
                <a:spcPts val="235"/>
              </a:spcBef>
            </a:pPr>
            <a:r>
              <a:rPr sz="1400" b="1" dirty="0">
                <a:latin typeface="Cambria"/>
                <a:cs typeface="Cambria"/>
              </a:rPr>
              <a:t>3.</a:t>
            </a:r>
            <a:r>
              <a:rPr sz="1400" b="1" spc="-3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Debugging</a:t>
            </a:r>
            <a:r>
              <a:rPr sz="1400" b="1" spc="-25" dirty="0">
                <a:latin typeface="Cambria"/>
                <a:cs typeface="Cambria"/>
              </a:rPr>
              <a:t> </a:t>
            </a:r>
            <a:r>
              <a:rPr sz="1400" b="1" spc="-20" dirty="0">
                <a:latin typeface="Cambria"/>
                <a:cs typeface="Cambria"/>
              </a:rPr>
              <a:t>Steps</a:t>
            </a:r>
            <a:endParaRPr sz="1400">
              <a:latin typeface="Cambria"/>
              <a:cs typeface="Cambria"/>
            </a:endParaRPr>
          </a:p>
          <a:p>
            <a:pPr marL="158115" indent="-145415">
              <a:lnSpc>
                <a:spcPct val="100000"/>
              </a:lnSpc>
              <a:spcBef>
                <a:spcPts val="120"/>
              </a:spcBef>
              <a:buAutoNum type="arabicPeriod"/>
              <a:tabLst>
                <a:tab pos="158115" algn="l"/>
              </a:tabLst>
            </a:pPr>
            <a:r>
              <a:rPr sz="1200" dirty="0">
                <a:latin typeface="Cambria"/>
                <a:cs typeface="Cambria"/>
              </a:rPr>
              <a:t>Monitor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network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traffic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during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peak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hours.</a:t>
            </a:r>
            <a:endParaRPr sz="1200">
              <a:latin typeface="Cambria"/>
              <a:cs typeface="Cambria"/>
            </a:endParaRPr>
          </a:p>
          <a:p>
            <a:pPr marL="158115" indent="-145415">
              <a:lnSpc>
                <a:spcPct val="100000"/>
              </a:lnSpc>
              <a:spcBef>
                <a:spcPts val="70"/>
              </a:spcBef>
              <a:buAutoNum type="arabicPeriod"/>
              <a:tabLst>
                <a:tab pos="158115" algn="l"/>
              </a:tabLst>
            </a:pPr>
            <a:r>
              <a:rPr sz="1200" dirty="0">
                <a:latin typeface="Cambria"/>
                <a:cs typeface="Cambria"/>
              </a:rPr>
              <a:t>Check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frames for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transmission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errors.</a:t>
            </a:r>
            <a:endParaRPr sz="1200">
              <a:latin typeface="Cambria"/>
              <a:cs typeface="Cambria"/>
            </a:endParaRPr>
          </a:p>
          <a:p>
            <a:pPr marL="158115" indent="-145415">
              <a:lnSpc>
                <a:spcPct val="100000"/>
              </a:lnSpc>
              <a:spcBef>
                <a:spcPts val="85"/>
              </a:spcBef>
              <a:buAutoNum type="arabicPeriod"/>
              <a:tabLst>
                <a:tab pos="158115" algn="l"/>
              </a:tabLst>
            </a:pPr>
            <a:r>
              <a:rPr sz="1200" dirty="0">
                <a:latin typeface="Cambria"/>
                <a:cs typeface="Cambria"/>
              </a:rPr>
              <a:t>Measure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signal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strength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attenuation.</a:t>
            </a:r>
            <a:endParaRPr sz="1200">
              <a:latin typeface="Cambria"/>
              <a:cs typeface="Cambria"/>
            </a:endParaRPr>
          </a:p>
          <a:p>
            <a:pPr marL="158115" indent="-145415">
              <a:lnSpc>
                <a:spcPct val="100000"/>
              </a:lnSpc>
              <a:spcBef>
                <a:spcPts val="70"/>
              </a:spcBef>
              <a:buAutoNum type="arabicPeriod"/>
              <a:tabLst>
                <a:tab pos="158115" algn="l"/>
              </a:tabLst>
            </a:pPr>
            <a:r>
              <a:rPr sz="1200" dirty="0">
                <a:latin typeface="Cambria"/>
                <a:cs typeface="Cambria"/>
              </a:rPr>
              <a:t>Verify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error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detection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technique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(CRC,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Checksum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or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Parity).</a:t>
            </a:r>
            <a:endParaRPr sz="1200">
              <a:latin typeface="Cambria"/>
              <a:cs typeface="Cambria"/>
            </a:endParaRPr>
          </a:p>
          <a:p>
            <a:pPr marL="158115" indent="-145415">
              <a:lnSpc>
                <a:spcPct val="100000"/>
              </a:lnSpc>
              <a:spcBef>
                <a:spcPts val="85"/>
              </a:spcBef>
              <a:buAutoNum type="arabicPeriod"/>
              <a:tabLst>
                <a:tab pos="158115" algn="l"/>
              </a:tabLst>
            </a:pPr>
            <a:r>
              <a:rPr sz="1200" dirty="0">
                <a:latin typeface="Cambria"/>
                <a:cs typeface="Cambria"/>
              </a:rPr>
              <a:t>Test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retransmission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of</a:t>
            </a:r>
            <a:r>
              <a:rPr sz="1200" spc="-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corrupted</a:t>
            </a:r>
            <a:r>
              <a:rPr sz="1200" spc="-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frames.</a:t>
            </a:r>
            <a:endParaRPr sz="1200">
              <a:latin typeface="Cambria"/>
              <a:cs typeface="Cambria"/>
            </a:endParaRPr>
          </a:p>
          <a:p>
            <a:pPr marL="158115" indent="-145415">
              <a:lnSpc>
                <a:spcPct val="100000"/>
              </a:lnSpc>
              <a:spcBef>
                <a:spcPts val="85"/>
              </a:spcBef>
              <a:buAutoNum type="arabicPeriod"/>
              <a:tabLst>
                <a:tab pos="158115" algn="l"/>
              </a:tabLst>
            </a:pPr>
            <a:r>
              <a:rPr sz="1200" dirty="0">
                <a:latin typeface="Cambria"/>
                <a:cs typeface="Cambria"/>
              </a:rPr>
              <a:t>Identify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sources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of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electrical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interference.</a:t>
            </a:r>
            <a:endParaRPr sz="1200">
              <a:latin typeface="Cambria"/>
              <a:cs typeface="Cambria"/>
            </a:endParaRPr>
          </a:p>
          <a:p>
            <a:pPr marL="158115" indent="-145415">
              <a:lnSpc>
                <a:spcPct val="100000"/>
              </a:lnSpc>
              <a:spcBef>
                <a:spcPts val="70"/>
              </a:spcBef>
              <a:buAutoNum type="arabicPeriod"/>
              <a:tabLst>
                <a:tab pos="158115" algn="l"/>
              </a:tabLst>
            </a:pPr>
            <a:r>
              <a:rPr sz="1200" dirty="0">
                <a:latin typeface="Cambria"/>
                <a:cs typeface="Cambria"/>
              </a:rPr>
              <a:t>Compare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transmitted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data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with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received</a:t>
            </a:r>
            <a:r>
              <a:rPr sz="1200" spc="-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data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to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detect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errors.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200">
              <a:latin typeface="Cambria"/>
              <a:cs typeface="Cambria"/>
            </a:endParaRPr>
          </a:p>
          <a:p>
            <a:pPr marL="158750">
              <a:lnSpc>
                <a:spcPct val="100000"/>
              </a:lnSpc>
            </a:pPr>
            <a:r>
              <a:rPr sz="1400" b="1" dirty="0">
                <a:latin typeface="Cambria"/>
                <a:cs typeface="Cambria"/>
              </a:rPr>
              <a:t>4.</a:t>
            </a:r>
            <a:r>
              <a:rPr sz="1400" b="1" spc="10" dirty="0">
                <a:latin typeface="Cambria"/>
                <a:cs typeface="Cambria"/>
              </a:rPr>
              <a:t> </a:t>
            </a:r>
            <a:r>
              <a:rPr sz="1400" b="1" spc="-10" dirty="0">
                <a:latin typeface="Cambria"/>
                <a:cs typeface="Cambria"/>
              </a:rPr>
              <a:t>Optimization</a:t>
            </a:r>
            <a:r>
              <a:rPr sz="1400" b="1" spc="10" dirty="0">
                <a:latin typeface="Cambria"/>
                <a:cs typeface="Cambria"/>
              </a:rPr>
              <a:t> </a:t>
            </a:r>
            <a:r>
              <a:rPr sz="1400" b="1" spc="-10" dirty="0">
                <a:latin typeface="Cambria"/>
                <a:cs typeface="Cambria"/>
              </a:rPr>
              <a:t>Techniques</a:t>
            </a:r>
            <a:endParaRPr sz="1400">
              <a:latin typeface="Cambria"/>
              <a:cs typeface="Cambria"/>
            </a:endParaRPr>
          </a:p>
          <a:p>
            <a:pPr marL="158115" indent="-145415">
              <a:lnSpc>
                <a:spcPct val="100000"/>
              </a:lnSpc>
              <a:spcBef>
                <a:spcPts val="120"/>
              </a:spcBef>
              <a:buSzPct val="83333"/>
              <a:buFont typeface="Symbol"/>
              <a:buChar char=""/>
              <a:tabLst>
                <a:tab pos="158115" algn="l"/>
              </a:tabLst>
            </a:pPr>
            <a:r>
              <a:rPr sz="1200" spc="-10" dirty="0">
                <a:latin typeface="Cambria"/>
                <a:cs typeface="Cambria"/>
              </a:rPr>
              <a:t>Implement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Cyclic</a:t>
            </a:r>
            <a:r>
              <a:rPr sz="1200" b="1" spc="-2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Redundancy</a:t>
            </a:r>
            <a:r>
              <a:rPr sz="1200" b="1" spc="-2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Check</a:t>
            </a:r>
            <a:r>
              <a:rPr sz="1200" b="1" spc="-2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(CRC)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for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better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error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detection.</a:t>
            </a:r>
            <a:endParaRPr sz="1200">
              <a:latin typeface="Cambria"/>
              <a:cs typeface="Cambria"/>
            </a:endParaRPr>
          </a:p>
          <a:p>
            <a:pPr marL="158115" indent="-145415">
              <a:lnSpc>
                <a:spcPct val="100000"/>
              </a:lnSpc>
              <a:spcBef>
                <a:spcPts val="70"/>
              </a:spcBef>
              <a:buSzPct val="83333"/>
              <a:buFont typeface="Symbol"/>
              <a:buChar char=""/>
              <a:tabLst>
                <a:tab pos="158115" algn="l"/>
              </a:tabLst>
            </a:pPr>
            <a:r>
              <a:rPr sz="1200" dirty="0">
                <a:latin typeface="Cambria"/>
                <a:cs typeface="Cambria"/>
              </a:rPr>
              <a:t>Use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Forward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Error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Correction</a:t>
            </a:r>
            <a:r>
              <a:rPr sz="1200" b="1" spc="-3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(FEC)</a:t>
            </a:r>
            <a:r>
              <a:rPr sz="1200" b="1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to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correct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errors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without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retransmission.</a:t>
            </a:r>
            <a:endParaRPr sz="1200">
              <a:latin typeface="Cambria"/>
              <a:cs typeface="Cambria"/>
            </a:endParaRPr>
          </a:p>
          <a:p>
            <a:pPr marL="158115" indent="-145415">
              <a:lnSpc>
                <a:spcPct val="100000"/>
              </a:lnSpc>
              <a:spcBef>
                <a:spcPts val="85"/>
              </a:spcBef>
              <a:buSzPct val="83333"/>
              <a:buFont typeface="Symbol"/>
              <a:buChar char=""/>
              <a:tabLst>
                <a:tab pos="158115" algn="l"/>
              </a:tabLst>
            </a:pPr>
            <a:r>
              <a:rPr sz="1200" dirty="0">
                <a:latin typeface="Cambria"/>
                <a:cs typeface="Cambria"/>
              </a:rPr>
              <a:t>Replace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damaged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cables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reduce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electrical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interference.</a:t>
            </a:r>
            <a:endParaRPr sz="1200">
              <a:latin typeface="Cambria"/>
              <a:cs typeface="Cambria"/>
            </a:endParaRPr>
          </a:p>
          <a:p>
            <a:pPr marL="158115" indent="-145415">
              <a:lnSpc>
                <a:spcPct val="100000"/>
              </a:lnSpc>
              <a:spcBef>
                <a:spcPts val="70"/>
              </a:spcBef>
              <a:buSzPct val="83333"/>
              <a:buFont typeface="Symbol"/>
              <a:buChar char=""/>
              <a:tabLst>
                <a:tab pos="158115" algn="l"/>
              </a:tabLst>
            </a:pPr>
            <a:r>
              <a:rPr sz="1200" dirty="0">
                <a:latin typeface="Cambria"/>
                <a:cs typeface="Cambria"/>
              </a:rPr>
              <a:t>Upgrade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network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devices</a:t>
            </a:r>
            <a:r>
              <a:rPr sz="1200" spc="-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to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support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higher</a:t>
            </a:r>
            <a:r>
              <a:rPr sz="1200" spc="-10" dirty="0">
                <a:latin typeface="Cambria"/>
                <a:cs typeface="Cambria"/>
              </a:rPr>
              <a:t> transmission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reliability.</a:t>
            </a:r>
            <a:endParaRPr sz="1200">
              <a:latin typeface="Cambria"/>
              <a:cs typeface="Cambria"/>
            </a:endParaRPr>
          </a:p>
          <a:p>
            <a:pPr marL="158115" indent="-145415">
              <a:lnSpc>
                <a:spcPct val="100000"/>
              </a:lnSpc>
              <a:spcBef>
                <a:spcPts val="85"/>
              </a:spcBef>
              <a:buSzPct val="83333"/>
              <a:buFont typeface="Symbol"/>
              <a:buChar char=""/>
              <a:tabLst>
                <a:tab pos="158115" algn="l"/>
              </a:tabLst>
            </a:pPr>
            <a:r>
              <a:rPr sz="1200" dirty="0">
                <a:latin typeface="Cambria"/>
                <a:cs typeface="Cambria"/>
              </a:rPr>
              <a:t>Apply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congestion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control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to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reduce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packet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loss.</a:t>
            </a:r>
            <a:endParaRPr sz="1200">
              <a:latin typeface="Cambria"/>
              <a:cs typeface="Cambria"/>
            </a:endParaRPr>
          </a:p>
          <a:p>
            <a:pPr marL="158115" indent="-145415">
              <a:lnSpc>
                <a:spcPct val="100000"/>
              </a:lnSpc>
              <a:spcBef>
                <a:spcPts val="70"/>
              </a:spcBef>
              <a:buSzPct val="83333"/>
              <a:buFont typeface="Symbol"/>
              <a:buChar char=""/>
              <a:tabLst>
                <a:tab pos="158115" algn="l"/>
              </a:tabLst>
            </a:pPr>
            <a:r>
              <a:rPr sz="1200" dirty="0">
                <a:latin typeface="Cambria"/>
                <a:cs typeface="Cambria"/>
              </a:rPr>
              <a:t>Schedule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regular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network</a:t>
            </a:r>
            <a:r>
              <a:rPr sz="1200" spc="-4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monitoring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maintenance.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70"/>
              </a:spcBef>
              <a:buFont typeface="Symbol"/>
              <a:buChar char=""/>
            </a:pPr>
            <a:endParaRPr sz="1200">
              <a:latin typeface="Cambria"/>
              <a:cs typeface="Cambria"/>
            </a:endParaRPr>
          </a:p>
          <a:p>
            <a:pPr marL="344170" lvl="1" indent="-185420">
              <a:lnSpc>
                <a:spcPct val="100000"/>
              </a:lnSpc>
              <a:buAutoNum type="arabicPeriod" startAt="5"/>
              <a:tabLst>
                <a:tab pos="344170" algn="l"/>
              </a:tabLst>
            </a:pPr>
            <a:r>
              <a:rPr sz="1400" b="1" spc="-10" dirty="0">
                <a:latin typeface="Cambria"/>
                <a:cs typeface="Cambria"/>
              </a:rPr>
              <a:t>Analysis</a:t>
            </a:r>
            <a:endParaRPr sz="1400">
              <a:latin typeface="Cambria"/>
              <a:cs typeface="Cambria"/>
            </a:endParaRPr>
          </a:p>
          <a:p>
            <a:pPr marL="158750" marR="5080">
              <a:lnSpc>
                <a:spcPct val="105500"/>
              </a:lnSpc>
              <a:spcBef>
                <a:spcPts val="40"/>
              </a:spcBef>
            </a:pPr>
            <a:r>
              <a:rPr sz="1200" dirty="0">
                <a:latin typeface="Cambria"/>
                <a:cs typeface="Cambria"/>
              </a:rPr>
              <a:t>The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investigation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shows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that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transmission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errors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are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mainly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caused</a:t>
            </a:r>
            <a:r>
              <a:rPr sz="1200" spc="-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by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electrical interference,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signal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attenuation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network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congestion.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Some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corrupted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frames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25" dirty="0">
                <a:latin typeface="Cambria"/>
                <a:cs typeface="Cambria"/>
              </a:rPr>
              <a:t>are </a:t>
            </a:r>
            <a:r>
              <a:rPr sz="1200" dirty="0">
                <a:latin typeface="Cambria"/>
                <a:cs typeface="Cambria"/>
              </a:rPr>
              <a:t>not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detected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because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existing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error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control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mechanism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is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inefficient.</a:t>
            </a:r>
            <a:endParaRPr sz="1200">
              <a:latin typeface="Cambria"/>
              <a:cs typeface="Cambria"/>
            </a:endParaRPr>
          </a:p>
          <a:p>
            <a:pPr marL="158750" marR="184785">
              <a:lnSpc>
                <a:spcPts val="1520"/>
              </a:lnSpc>
              <a:spcBef>
                <a:spcPts val="55"/>
              </a:spcBef>
            </a:pPr>
            <a:r>
              <a:rPr sz="1200" spc="-10" dirty="0">
                <a:latin typeface="Cambria"/>
                <a:cs typeface="Cambria"/>
              </a:rPr>
              <a:t>Implementing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CRC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FEC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significantly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improves</a:t>
            </a:r>
            <a:r>
              <a:rPr sz="1200" spc="-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error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detection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correction, </a:t>
            </a:r>
            <a:r>
              <a:rPr sz="1200" dirty="0">
                <a:latin typeface="Cambria"/>
                <a:cs typeface="Cambria"/>
              </a:rPr>
              <a:t>reducing</a:t>
            </a:r>
            <a:r>
              <a:rPr sz="1200" spc="-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retransmissions</a:t>
            </a:r>
            <a:r>
              <a:rPr sz="1200" spc="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1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increasing</a:t>
            </a:r>
            <a:r>
              <a:rPr sz="1200" spc="-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data </a:t>
            </a:r>
            <a:r>
              <a:rPr sz="1200" spc="-10" dirty="0">
                <a:latin typeface="Cambria"/>
                <a:cs typeface="Cambria"/>
              </a:rPr>
              <a:t>reliability.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200">
              <a:latin typeface="Cambria"/>
              <a:cs typeface="Cambria"/>
            </a:endParaRPr>
          </a:p>
          <a:p>
            <a:pPr marL="344170" lvl="1" indent="-185420">
              <a:lnSpc>
                <a:spcPct val="100000"/>
              </a:lnSpc>
              <a:buAutoNum type="arabicPeriod" startAt="6"/>
              <a:tabLst>
                <a:tab pos="344170" algn="l"/>
              </a:tabLst>
            </a:pPr>
            <a:r>
              <a:rPr sz="1400" b="1" dirty="0">
                <a:latin typeface="Cambria"/>
                <a:cs typeface="Cambria"/>
              </a:rPr>
              <a:t>Sample</a:t>
            </a:r>
            <a:r>
              <a:rPr sz="1400" b="1" spc="-15" dirty="0">
                <a:latin typeface="Cambria"/>
                <a:cs typeface="Cambria"/>
              </a:rPr>
              <a:t> </a:t>
            </a:r>
            <a:r>
              <a:rPr sz="1400" b="1" spc="-10" dirty="0">
                <a:latin typeface="Cambria"/>
                <a:cs typeface="Cambria"/>
              </a:rPr>
              <a:t>Pseudocode</a:t>
            </a:r>
            <a:endParaRPr sz="1400">
              <a:latin typeface="Cambria"/>
              <a:cs typeface="Cambria"/>
            </a:endParaRPr>
          </a:p>
          <a:p>
            <a:pPr marL="158750">
              <a:lnSpc>
                <a:spcPct val="100000"/>
              </a:lnSpc>
              <a:spcBef>
                <a:spcPts val="1630"/>
              </a:spcBef>
            </a:pPr>
            <a:r>
              <a:rPr sz="1200" spc="-10" dirty="0">
                <a:latin typeface="Cambria"/>
                <a:cs typeface="Cambria"/>
              </a:rPr>
              <a:t>START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200">
              <a:latin typeface="Cambria"/>
              <a:cs typeface="Cambria"/>
            </a:endParaRPr>
          </a:p>
          <a:p>
            <a:pPr marL="158750">
              <a:lnSpc>
                <a:spcPct val="100000"/>
              </a:lnSpc>
            </a:pPr>
            <a:r>
              <a:rPr sz="1200" dirty="0">
                <a:latin typeface="Cambria"/>
                <a:cs typeface="Cambria"/>
              </a:rPr>
              <a:t>Receive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Data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spc="-20" dirty="0">
                <a:latin typeface="Cambria"/>
                <a:cs typeface="Cambria"/>
              </a:rPr>
              <a:t>Frame</a:t>
            </a:r>
            <a:endParaRPr sz="1200">
              <a:latin typeface="Cambria"/>
              <a:cs typeface="Cambria"/>
            </a:endParaRPr>
          </a:p>
          <a:p>
            <a:pPr marL="158750" marR="3930015">
              <a:lnSpc>
                <a:spcPct val="210800"/>
              </a:lnSpc>
              <a:spcBef>
                <a:spcPts val="5"/>
              </a:spcBef>
            </a:pPr>
            <a:r>
              <a:rPr sz="1200" dirty="0">
                <a:latin typeface="Cambria"/>
                <a:cs typeface="Cambria"/>
              </a:rPr>
              <a:t>Check</a:t>
            </a:r>
            <a:r>
              <a:rPr sz="1200" spc="-4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Frame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using</a:t>
            </a:r>
            <a:r>
              <a:rPr sz="1200" spc="-45" dirty="0">
                <a:latin typeface="Cambria"/>
                <a:cs typeface="Cambria"/>
              </a:rPr>
              <a:t> </a:t>
            </a:r>
            <a:r>
              <a:rPr sz="1200" spc="-25" dirty="0">
                <a:latin typeface="Cambria"/>
                <a:cs typeface="Cambria"/>
              </a:rPr>
              <a:t>CRC </a:t>
            </a:r>
            <a:r>
              <a:rPr sz="1200" dirty="0">
                <a:latin typeface="Cambria"/>
                <a:cs typeface="Cambria"/>
              </a:rPr>
              <a:t>IF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Error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Detected</a:t>
            </a:r>
            <a:r>
              <a:rPr sz="1200" spc="-20" dirty="0">
                <a:latin typeface="Cambria"/>
                <a:cs typeface="Cambria"/>
              </a:rPr>
              <a:t> THEN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5448" y="846582"/>
            <a:ext cx="3716020" cy="4493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0" marR="2231390" indent="133985">
              <a:lnSpc>
                <a:spcPct val="106000"/>
              </a:lnSpc>
              <a:spcBef>
                <a:spcPts val="100"/>
              </a:spcBef>
            </a:pPr>
            <a:r>
              <a:rPr sz="1200" spc="-10" dirty="0">
                <a:latin typeface="Cambria"/>
                <a:cs typeface="Cambria"/>
              </a:rPr>
              <a:t>Retransmit</a:t>
            </a:r>
            <a:r>
              <a:rPr sz="1200" spc="25" dirty="0">
                <a:latin typeface="Cambria"/>
                <a:cs typeface="Cambria"/>
              </a:rPr>
              <a:t> </a:t>
            </a:r>
            <a:r>
              <a:rPr sz="1200" spc="-20" dirty="0">
                <a:latin typeface="Cambria"/>
                <a:cs typeface="Cambria"/>
              </a:rPr>
              <a:t>Frame ELSE</a:t>
            </a:r>
            <a:endParaRPr sz="1200">
              <a:latin typeface="Cambria"/>
              <a:cs typeface="Cambria"/>
            </a:endParaRPr>
          </a:p>
          <a:p>
            <a:pPr marL="158750" marR="2520315" indent="133985">
              <a:lnSpc>
                <a:spcPts val="1520"/>
              </a:lnSpc>
              <a:spcBef>
                <a:spcPts val="55"/>
              </a:spcBef>
            </a:pPr>
            <a:r>
              <a:rPr sz="1200" dirty="0">
                <a:latin typeface="Cambria"/>
                <a:cs typeface="Cambria"/>
              </a:rPr>
              <a:t>Accept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20" dirty="0">
                <a:latin typeface="Cambria"/>
                <a:cs typeface="Cambria"/>
              </a:rPr>
              <a:t>Frame </a:t>
            </a:r>
            <a:r>
              <a:rPr sz="1200" spc="-10" dirty="0">
                <a:latin typeface="Cambria"/>
                <a:cs typeface="Cambria"/>
              </a:rPr>
              <a:t>ENDIF</a:t>
            </a:r>
            <a:endParaRPr sz="1200">
              <a:latin typeface="Cambria"/>
              <a:cs typeface="Cambria"/>
            </a:endParaRPr>
          </a:p>
          <a:p>
            <a:pPr marL="158750" marR="1656080">
              <a:lnSpc>
                <a:spcPts val="3040"/>
              </a:lnSpc>
              <a:spcBef>
                <a:spcPts val="305"/>
              </a:spcBef>
            </a:pPr>
            <a:r>
              <a:rPr sz="1200" dirty="0">
                <a:latin typeface="Cambria"/>
                <a:cs typeface="Cambria"/>
              </a:rPr>
              <a:t>Monitor</a:t>
            </a:r>
            <a:r>
              <a:rPr sz="1200" spc="-5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Network</a:t>
            </a:r>
            <a:r>
              <a:rPr sz="1200" spc="-5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Congestion </a:t>
            </a:r>
            <a:r>
              <a:rPr sz="1200" dirty="0">
                <a:latin typeface="Cambria"/>
                <a:cs typeface="Cambria"/>
              </a:rPr>
              <a:t>IF </a:t>
            </a:r>
            <a:r>
              <a:rPr sz="1200" spc="-10" dirty="0">
                <a:latin typeface="Cambria"/>
                <a:cs typeface="Cambria"/>
              </a:rPr>
              <a:t>Congestion</a:t>
            </a:r>
            <a:r>
              <a:rPr sz="1200" spc="-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High</a:t>
            </a:r>
            <a:r>
              <a:rPr sz="1200" spc="-5" dirty="0">
                <a:latin typeface="Cambria"/>
                <a:cs typeface="Cambria"/>
              </a:rPr>
              <a:t> </a:t>
            </a:r>
            <a:r>
              <a:rPr sz="1200" spc="-20" dirty="0">
                <a:latin typeface="Cambria"/>
                <a:cs typeface="Cambria"/>
              </a:rPr>
              <a:t>THEN</a:t>
            </a:r>
            <a:endParaRPr sz="1200">
              <a:latin typeface="Cambria"/>
              <a:cs typeface="Cambria"/>
            </a:endParaRPr>
          </a:p>
          <a:p>
            <a:pPr marL="292735">
              <a:lnSpc>
                <a:spcPts val="1140"/>
              </a:lnSpc>
            </a:pPr>
            <a:r>
              <a:rPr sz="1200" dirty="0">
                <a:latin typeface="Cambria"/>
                <a:cs typeface="Cambria"/>
              </a:rPr>
              <a:t>Reduce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Transmission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20" dirty="0">
                <a:latin typeface="Cambria"/>
                <a:cs typeface="Cambria"/>
              </a:rPr>
              <a:t>Rate</a:t>
            </a:r>
            <a:endParaRPr sz="1200">
              <a:latin typeface="Cambria"/>
              <a:cs typeface="Cambria"/>
            </a:endParaRPr>
          </a:p>
          <a:p>
            <a:pPr marL="158750">
              <a:lnSpc>
                <a:spcPct val="100000"/>
              </a:lnSpc>
              <a:spcBef>
                <a:spcPts val="80"/>
              </a:spcBef>
            </a:pPr>
            <a:r>
              <a:rPr sz="1200" spc="-10" dirty="0">
                <a:latin typeface="Cambria"/>
                <a:cs typeface="Cambria"/>
              </a:rPr>
              <a:t>ENDIF</a:t>
            </a:r>
            <a:endParaRPr sz="1200">
              <a:latin typeface="Cambria"/>
              <a:cs typeface="Cambria"/>
            </a:endParaRPr>
          </a:p>
          <a:p>
            <a:pPr marL="158750" marR="2350135">
              <a:lnSpc>
                <a:spcPts val="3040"/>
              </a:lnSpc>
              <a:spcBef>
                <a:spcPts val="365"/>
              </a:spcBef>
            </a:pPr>
            <a:r>
              <a:rPr sz="1200" dirty="0">
                <a:latin typeface="Cambria"/>
                <a:cs typeface="Cambria"/>
              </a:rPr>
              <a:t>Store</a:t>
            </a:r>
            <a:r>
              <a:rPr sz="1200" spc="-4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Correct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20" dirty="0">
                <a:latin typeface="Cambria"/>
                <a:cs typeface="Cambria"/>
              </a:rPr>
              <a:t>Data STOP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310"/>
              </a:spcBef>
            </a:pPr>
            <a:endParaRPr sz="1200">
              <a:latin typeface="Cambria"/>
              <a:cs typeface="Cambria"/>
            </a:endParaRPr>
          </a:p>
          <a:p>
            <a:pPr marL="158750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latin typeface="Cambria"/>
                <a:cs typeface="Cambria"/>
              </a:rPr>
              <a:t>7.</a:t>
            </a:r>
            <a:r>
              <a:rPr sz="1400" b="1" spc="-2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Expected</a:t>
            </a:r>
            <a:r>
              <a:rPr sz="1400" b="1" spc="-10" dirty="0">
                <a:latin typeface="Cambria"/>
                <a:cs typeface="Cambria"/>
              </a:rPr>
              <a:t> Result</a:t>
            </a:r>
            <a:endParaRPr sz="1400">
              <a:latin typeface="Cambria"/>
              <a:cs typeface="Cambria"/>
            </a:endParaRPr>
          </a:p>
          <a:p>
            <a:pPr marL="158115" indent="-145415">
              <a:lnSpc>
                <a:spcPct val="100000"/>
              </a:lnSpc>
              <a:spcBef>
                <a:spcPts val="114"/>
              </a:spcBef>
              <a:buSzPct val="83333"/>
              <a:buFont typeface="Symbol"/>
              <a:buChar char=""/>
              <a:tabLst>
                <a:tab pos="158115" algn="l"/>
              </a:tabLst>
            </a:pPr>
            <a:r>
              <a:rPr sz="1200" dirty="0">
                <a:latin typeface="Cambria"/>
                <a:cs typeface="Cambria"/>
              </a:rPr>
              <a:t>Accurate</a:t>
            </a:r>
            <a:r>
              <a:rPr sz="1200" spc="-5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shipment</a:t>
            </a:r>
            <a:r>
              <a:rPr sz="1200" spc="-5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records.</a:t>
            </a:r>
            <a:endParaRPr sz="1200">
              <a:latin typeface="Cambria"/>
              <a:cs typeface="Cambria"/>
            </a:endParaRPr>
          </a:p>
          <a:p>
            <a:pPr marL="158115" indent="-145415">
              <a:lnSpc>
                <a:spcPct val="100000"/>
              </a:lnSpc>
              <a:spcBef>
                <a:spcPts val="70"/>
              </a:spcBef>
              <a:buSzPct val="83333"/>
              <a:buFont typeface="Symbol"/>
              <a:buChar char=""/>
              <a:tabLst>
                <a:tab pos="158115" algn="l"/>
              </a:tabLst>
            </a:pPr>
            <a:r>
              <a:rPr sz="1200" dirty="0">
                <a:latin typeface="Cambria"/>
                <a:cs typeface="Cambria"/>
              </a:rPr>
              <a:t>Successful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barcode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RFID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data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transmission.</a:t>
            </a:r>
            <a:endParaRPr sz="1200">
              <a:latin typeface="Cambria"/>
              <a:cs typeface="Cambria"/>
            </a:endParaRPr>
          </a:p>
          <a:p>
            <a:pPr marL="158115" indent="-145415">
              <a:lnSpc>
                <a:spcPct val="100000"/>
              </a:lnSpc>
              <a:spcBef>
                <a:spcPts val="85"/>
              </a:spcBef>
              <a:buSzPct val="83333"/>
              <a:buFont typeface="Symbol"/>
              <a:buChar char=""/>
              <a:tabLst>
                <a:tab pos="158115" algn="l"/>
              </a:tabLst>
            </a:pPr>
            <a:r>
              <a:rPr sz="1200" dirty="0">
                <a:latin typeface="Cambria"/>
                <a:cs typeface="Cambria"/>
              </a:rPr>
              <a:t>Reduced</a:t>
            </a:r>
            <a:r>
              <a:rPr sz="1200" spc="1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transmission</a:t>
            </a:r>
            <a:r>
              <a:rPr sz="1200" spc="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errors.</a:t>
            </a:r>
            <a:endParaRPr sz="1200">
              <a:latin typeface="Cambria"/>
              <a:cs typeface="Cambria"/>
            </a:endParaRPr>
          </a:p>
          <a:p>
            <a:pPr marL="158115" indent="-145415">
              <a:lnSpc>
                <a:spcPct val="100000"/>
              </a:lnSpc>
              <a:spcBef>
                <a:spcPts val="70"/>
              </a:spcBef>
              <a:buSzPct val="83333"/>
              <a:buFont typeface="Symbol"/>
              <a:buChar char=""/>
              <a:tabLst>
                <a:tab pos="158115" algn="l"/>
              </a:tabLst>
            </a:pPr>
            <a:r>
              <a:rPr sz="1200" dirty="0">
                <a:latin typeface="Cambria"/>
                <a:cs typeface="Cambria"/>
              </a:rPr>
              <a:t>Improved</a:t>
            </a:r>
            <a:r>
              <a:rPr sz="1200" spc="-4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inventory</a:t>
            </a:r>
            <a:r>
              <a:rPr sz="1200" spc="-5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accuracy.</a:t>
            </a:r>
            <a:endParaRPr sz="1200">
              <a:latin typeface="Cambria"/>
              <a:cs typeface="Cambria"/>
            </a:endParaRPr>
          </a:p>
          <a:p>
            <a:pPr marL="158115" indent="-145415">
              <a:lnSpc>
                <a:spcPct val="100000"/>
              </a:lnSpc>
              <a:spcBef>
                <a:spcPts val="85"/>
              </a:spcBef>
              <a:buSzPct val="83333"/>
              <a:buFont typeface="Symbol"/>
              <a:buChar char=""/>
              <a:tabLst>
                <a:tab pos="158115" algn="l"/>
              </a:tabLst>
            </a:pPr>
            <a:r>
              <a:rPr sz="1200" dirty="0">
                <a:latin typeface="Cambria"/>
                <a:cs typeface="Cambria"/>
              </a:rPr>
              <a:t>Fewer</a:t>
            </a:r>
            <a:r>
              <a:rPr sz="1200" spc="-10" dirty="0">
                <a:latin typeface="Cambria"/>
                <a:cs typeface="Cambria"/>
              </a:rPr>
              <a:t> retransmissions</a:t>
            </a:r>
            <a:r>
              <a:rPr sz="1200" spc="-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lower</a:t>
            </a:r>
            <a:r>
              <a:rPr sz="1200" spc="-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network congestion.</a:t>
            </a:r>
            <a:endParaRPr sz="1200">
              <a:latin typeface="Cambria"/>
              <a:cs typeface="Cambria"/>
            </a:endParaRPr>
          </a:p>
          <a:p>
            <a:pPr marL="158115" indent="-145415">
              <a:lnSpc>
                <a:spcPct val="100000"/>
              </a:lnSpc>
              <a:spcBef>
                <a:spcPts val="75"/>
              </a:spcBef>
              <a:buSzPct val="83333"/>
              <a:buFont typeface="Symbol"/>
              <a:buChar char=""/>
              <a:tabLst>
                <a:tab pos="158115" algn="l"/>
              </a:tabLst>
            </a:pPr>
            <a:r>
              <a:rPr sz="1200" dirty="0">
                <a:latin typeface="Cambria"/>
                <a:cs typeface="Cambria"/>
              </a:rPr>
              <a:t>Faster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more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reliable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order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processing.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3152" y="5885974"/>
            <a:ext cx="5748655" cy="442087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225"/>
              </a:spcBef>
            </a:pPr>
            <a:r>
              <a:rPr sz="1400" b="1" spc="-10" dirty="0">
                <a:latin typeface="Cambria"/>
                <a:cs typeface="Cambria"/>
              </a:rPr>
              <a:t>Conclusion</a:t>
            </a:r>
            <a:endParaRPr sz="1400">
              <a:latin typeface="Cambria"/>
              <a:cs typeface="Cambria"/>
            </a:endParaRPr>
          </a:p>
          <a:p>
            <a:pPr marL="241300" marR="225425">
              <a:lnSpc>
                <a:spcPct val="105500"/>
              </a:lnSpc>
              <a:spcBef>
                <a:spcPts val="25"/>
              </a:spcBef>
            </a:pPr>
            <a:r>
              <a:rPr sz="1200" dirty="0">
                <a:latin typeface="Cambria"/>
                <a:cs typeface="Cambria"/>
              </a:rPr>
              <a:t>The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transmission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errors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were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caused</a:t>
            </a:r>
            <a:r>
              <a:rPr sz="1200" spc="-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by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interference,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signal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attenuation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25" dirty="0">
                <a:latin typeface="Cambria"/>
                <a:cs typeface="Cambria"/>
              </a:rPr>
              <a:t>and </a:t>
            </a:r>
            <a:r>
              <a:rPr sz="1200" dirty="0">
                <a:latin typeface="Cambria"/>
                <a:cs typeface="Cambria"/>
              </a:rPr>
              <a:t>inadequate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error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detection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techniques.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By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implementing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CRC,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Forward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Error Correction,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congestion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control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regular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network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monitoring,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company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25" dirty="0">
                <a:latin typeface="Cambria"/>
                <a:cs typeface="Cambria"/>
              </a:rPr>
              <a:t>can </a:t>
            </a:r>
            <a:r>
              <a:rPr sz="1200" dirty="0">
                <a:latin typeface="Cambria"/>
                <a:cs typeface="Cambria"/>
              </a:rPr>
              <a:t>improve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reliability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accuracy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of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data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communication. </a:t>
            </a:r>
            <a:r>
              <a:rPr sz="1200" dirty="0">
                <a:latin typeface="Cambria"/>
                <a:cs typeface="Cambria"/>
              </a:rPr>
              <a:t>These</a:t>
            </a:r>
            <a:r>
              <a:rPr sz="1200" spc="-10" dirty="0">
                <a:latin typeface="Cambria"/>
                <a:cs typeface="Cambria"/>
              </a:rPr>
              <a:t> optimisations </a:t>
            </a:r>
            <a:r>
              <a:rPr sz="1200" dirty="0">
                <a:latin typeface="Cambria"/>
                <a:cs typeface="Cambria"/>
              </a:rPr>
              <a:t>ensure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efficient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warehouse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operations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meet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Level</a:t>
            </a:r>
            <a:r>
              <a:rPr sz="1200" b="1" spc="-3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4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(Exemplary) </a:t>
            </a:r>
            <a:r>
              <a:rPr sz="1200" dirty="0">
                <a:latin typeface="Cambria"/>
                <a:cs typeface="Cambria"/>
              </a:rPr>
              <a:t>assessment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rubric.</a:t>
            </a:r>
            <a:endParaRPr sz="1200">
              <a:latin typeface="Cambria"/>
              <a:cs typeface="Cambria"/>
            </a:endParaRPr>
          </a:p>
          <a:p>
            <a:pPr marL="241300" marR="5080" indent="-228600" algn="just">
              <a:lnSpc>
                <a:spcPct val="105500"/>
              </a:lnSpc>
              <a:spcBef>
                <a:spcPts val="1385"/>
              </a:spcBef>
            </a:pPr>
            <a:r>
              <a:rPr sz="1100" dirty="0">
                <a:latin typeface="Cambria"/>
                <a:cs typeface="Cambria"/>
              </a:rPr>
              <a:t>5.</a:t>
            </a:r>
            <a:r>
              <a:rPr sz="1100" spc="200" dirty="0">
                <a:latin typeface="Cambria"/>
                <a:cs typeface="Cambria"/>
              </a:rPr>
              <a:t>  </a:t>
            </a:r>
            <a:r>
              <a:rPr sz="1100" dirty="0">
                <a:latin typeface="Cambria"/>
                <a:cs typeface="Cambria"/>
              </a:rPr>
              <a:t>A</a:t>
            </a:r>
            <a:r>
              <a:rPr sz="1100" spc="1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leading</a:t>
            </a:r>
            <a:r>
              <a:rPr sz="1100" spc="2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online</a:t>
            </a:r>
            <a:r>
              <a:rPr sz="1100" spc="1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education</a:t>
            </a:r>
            <a:r>
              <a:rPr sz="1100" spc="1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platform</a:t>
            </a:r>
            <a:r>
              <a:rPr sz="1100" spc="1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conducts</a:t>
            </a:r>
            <a:r>
              <a:rPr sz="1100" spc="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live</a:t>
            </a:r>
            <a:r>
              <a:rPr sz="1100" spc="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classes</a:t>
            </a:r>
            <a:r>
              <a:rPr sz="1100" spc="1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and</a:t>
            </a:r>
            <a:r>
              <a:rPr sz="1100" spc="1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online</a:t>
            </a:r>
            <a:r>
              <a:rPr sz="1100" spc="1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examinations</a:t>
            </a:r>
            <a:r>
              <a:rPr sz="1100" spc="2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for</a:t>
            </a:r>
            <a:r>
              <a:rPr sz="1100" spc="5" dirty="0">
                <a:latin typeface="Cambria"/>
                <a:cs typeface="Cambria"/>
              </a:rPr>
              <a:t> </a:t>
            </a:r>
            <a:r>
              <a:rPr sz="1100" spc="-20" dirty="0">
                <a:latin typeface="Cambria"/>
                <a:cs typeface="Cambria"/>
              </a:rPr>
              <a:t>more </a:t>
            </a:r>
            <a:r>
              <a:rPr sz="1100" dirty="0">
                <a:latin typeface="Cambria"/>
                <a:cs typeface="Cambria"/>
              </a:rPr>
              <a:t>than</a:t>
            </a:r>
            <a:r>
              <a:rPr sz="1100" spc="105" dirty="0">
                <a:latin typeface="Cambria"/>
                <a:cs typeface="Cambria"/>
              </a:rPr>
              <a:t> </a:t>
            </a:r>
            <a:r>
              <a:rPr sz="1100" b="1" dirty="0">
                <a:latin typeface="Cambria"/>
                <a:cs typeface="Cambria"/>
              </a:rPr>
              <a:t>15,000</a:t>
            </a:r>
            <a:r>
              <a:rPr sz="1100" b="1" spc="120" dirty="0">
                <a:latin typeface="Cambria"/>
                <a:cs typeface="Cambria"/>
              </a:rPr>
              <a:t> </a:t>
            </a:r>
            <a:r>
              <a:rPr sz="1100" b="1" dirty="0">
                <a:latin typeface="Cambria"/>
                <a:cs typeface="Cambria"/>
              </a:rPr>
              <a:t>students</a:t>
            </a:r>
            <a:r>
              <a:rPr sz="1100" b="1" spc="12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across</a:t>
            </a:r>
            <a:r>
              <a:rPr sz="1100" spc="114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different</a:t>
            </a:r>
            <a:r>
              <a:rPr sz="1100" spc="11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locations.</a:t>
            </a:r>
            <a:r>
              <a:rPr sz="1100" spc="10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During</a:t>
            </a:r>
            <a:r>
              <a:rPr sz="1100" spc="12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examinations,</a:t>
            </a:r>
            <a:r>
              <a:rPr sz="1100" spc="114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</a:t>
            </a:r>
            <a:r>
              <a:rPr sz="1100" spc="10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central</a:t>
            </a:r>
            <a:r>
              <a:rPr sz="1100" spc="11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server </a:t>
            </a:r>
            <a:r>
              <a:rPr sz="1100" dirty="0">
                <a:latin typeface="Cambria"/>
                <a:cs typeface="Cambria"/>
              </a:rPr>
              <a:t>simultaneously</a:t>
            </a:r>
            <a:r>
              <a:rPr sz="1100" spc="254" dirty="0">
                <a:latin typeface="Cambria"/>
                <a:cs typeface="Cambria"/>
              </a:rPr>
              <a:t>  </a:t>
            </a:r>
            <a:r>
              <a:rPr sz="1100" dirty="0">
                <a:latin typeface="Cambria"/>
                <a:cs typeface="Cambria"/>
              </a:rPr>
              <a:t>sends</a:t>
            </a:r>
            <a:r>
              <a:rPr sz="1100" spc="260" dirty="0">
                <a:latin typeface="Cambria"/>
                <a:cs typeface="Cambria"/>
              </a:rPr>
              <a:t>  </a:t>
            </a:r>
            <a:r>
              <a:rPr sz="1100" dirty="0">
                <a:latin typeface="Cambria"/>
                <a:cs typeface="Cambria"/>
              </a:rPr>
              <a:t>question</a:t>
            </a:r>
            <a:r>
              <a:rPr sz="1100" spc="260" dirty="0">
                <a:latin typeface="Cambria"/>
                <a:cs typeface="Cambria"/>
              </a:rPr>
              <a:t>  </a:t>
            </a:r>
            <a:r>
              <a:rPr sz="1100" dirty="0">
                <a:latin typeface="Cambria"/>
                <a:cs typeface="Cambria"/>
              </a:rPr>
              <a:t>papers,</a:t>
            </a:r>
            <a:r>
              <a:rPr sz="1100" spc="260" dirty="0">
                <a:latin typeface="Cambria"/>
                <a:cs typeface="Cambria"/>
              </a:rPr>
              <a:t>  </a:t>
            </a:r>
            <a:r>
              <a:rPr sz="1100" dirty="0">
                <a:latin typeface="Cambria"/>
                <a:cs typeface="Cambria"/>
              </a:rPr>
              <a:t>images,</a:t>
            </a:r>
            <a:r>
              <a:rPr sz="1100" spc="260" dirty="0">
                <a:latin typeface="Cambria"/>
                <a:cs typeface="Cambria"/>
              </a:rPr>
              <a:t>  </a:t>
            </a:r>
            <a:r>
              <a:rPr sz="1100" dirty="0">
                <a:latin typeface="Cambria"/>
                <a:cs typeface="Cambria"/>
              </a:rPr>
              <a:t>videos,</a:t>
            </a:r>
            <a:r>
              <a:rPr sz="1100" spc="260" dirty="0">
                <a:latin typeface="Cambria"/>
                <a:cs typeface="Cambria"/>
              </a:rPr>
              <a:t>  </a:t>
            </a:r>
            <a:r>
              <a:rPr sz="1100" dirty="0">
                <a:latin typeface="Cambria"/>
                <a:cs typeface="Cambria"/>
              </a:rPr>
              <a:t>and</a:t>
            </a:r>
            <a:r>
              <a:rPr sz="1100" spc="254" dirty="0">
                <a:latin typeface="Cambria"/>
                <a:cs typeface="Cambria"/>
              </a:rPr>
              <a:t>  </a:t>
            </a:r>
            <a:r>
              <a:rPr sz="1100" dirty="0">
                <a:latin typeface="Cambria"/>
                <a:cs typeface="Cambria"/>
              </a:rPr>
              <a:t>answer</a:t>
            </a:r>
            <a:r>
              <a:rPr sz="1100" spc="260" dirty="0">
                <a:latin typeface="Cambria"/>
                <a:cs typeface="Cambria"/>
              </a:rPr>
              <a:t>  </a:t>
            </a:r>
            <a:r>
              <a:rPr sz="1100" spc="-10" dirty="0">
                <a:latin typeface="Cambria"/>
                <a:cs typeface="Cambria"/>
              </a:rPr>
              <a:t>submission </a:t>
            </a:r>
            <a:r>
              <a:rPr sz="1100" dirty="0">
                <a:latin typeface="Cambria"/>
                <a:cs typeface="Cambria"/>
              </a:rPr>
              <a:t>acknowledgements to all students over the network. The server is equipped with a </a:t>
            </a:r>
            <a:r>
              <a:rPr sz="1100" spc="-10" dirty="0">
                <a:latin typeface="Cambria"/>
                <a:cs typeface="Cambria"/>
              </a:rPr>
              <a:t>high-</a:t>
            </a:r>
            <a:r>
              <a:rPr sz="1100" dirty="0">
                <a:latin typeface="Cambria"/>
                <a:cs typeface="Cambria"/>
              </a:rPr>
              <a:t>speed</a:t>
            </a:r>
            <a:r>
              <a:rPr sz="1100" spc="335" dirty="0">
                <a:latin typeface="Cambria"/>
                <a:cs typeface="Cambria"/>
              </a:rPr>
              <a:t> </a:t>
            </a:r>
            <a:r>
              <a:rPr sz="1100" b="1" dirty="0">
                <a:latin typeface="Cambria"/>
                <a:cs typeface="Cambria"/>
              </a:rPr>
              <a:t>10</a:t>
            </a:r>
            <a:r>
              <a:rPr sz="1100" b="1" spc="345" dirty="0">
                <a:latin typeface="Cambria"/>
                <a:cs typeface="Cambria"/>
              </a:rPr>
              <a:t> </a:t>
            </a:r>
            <a:r>
              <a:rPr sz="1100" b="1" dirty="0">
                <a:latin typeface="Cambria"/>
                <a:cs typeface="Cambria"/>
              </a:rPr>
              <a:t>Gbps</a:t>
            </a:r>
            <a:r>
              <a:rPr sz="1100" b="1" spc="35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connection,</a:t>
            </a:r>
            <a:r>
              <a:rPr sz="1100" spc="35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whereas</a:t>
            </a:r>
            <a:r>
              <a:rPr sz="1100" spc="34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many</a:t>
            </a:r>
            <a:r>
              <a:rPr sz="1100" spc="34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students</a:t>
            </a:r>
            <a:r>
              <a:rPr sz="1100" spc="35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access</a:t>
            </a:r>
            <a:r>
              <a:rPr sz="1100" spc="35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</a:t>
            </a:r>
            <a:r>
              <a:rPr sz="1100" spc="35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system</a:t>
            </a:r>
            <a:r>
              <a:rPr sz="1100" spc="35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using</a:t>
            </a:r>
            <a:r>
              <a:rPr sz="1100" spc="34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slower </a:t>
            </a:r>
            <a:r>
              <a:rPr sz="1100" dirty="0">
                <a:latin typeface="Cambria"/>
                <a:cs typeface="Cambria"/>
              </a:rPr>
              <a:t>broadband</a:t>
            </a:r>
            <a:r>
              <a:rPr sz="1100" spc="42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or</a:t>
            </a:r>
            <a:r>
              <a:rPr sz="1100" spc="42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mobile</a:t>
            </a:r>
            <a:r>
              <a:rPr sz="1100" spc="42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internet</a:t>
            </a:r>
            <a:r>
              <a:rPr sz="1100" spc="42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connections.</a:t>
            </a:r>
            <a:r>
              <a:rPr sz="1100" spc="42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During</a:t>
            </a:r>
            <a:r>
              <a:rPr sz="1100" spc="43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peak</a:t>
            </a:r>
            <a:r>
              <a:rPr sz="1100" spc="42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hours,</a:t>
            </a:r>
            <a:r>
              <a:rPr sz="1100" spc="42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students</a:t>
            </a:r>
            <a:r>
              <a:rPr sz="1100" spc="42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experience </a:t>
            </a:r>
            <a:r>
              <a:rPr sz="1100" dirty="0">
                <a:latin typeface="Cambria"/>
                <a:cs typeface="Cambria"/>
              </a:rPr>
              <a:t>incomplete</a:t>
            </a:r>
            <a:r>
              <a:rPr sz="1100" spc="280" dirty="0">
                <a:latin typeface="Cambria"/>
                <a:cs typeface="Cambria"/>
              </a:rPr>
              <a:t>  </a:t>
            </a:r>
            <a:r>
              <a:rPr sz="1100" dirty="0">
                <a:latin typeface="Cambria"/>
                <a:cs typeface="Cambria"/>
              </a:rPr>
              <a:t>downloads,</a:t>
            </a:r>
            <a:r>
              <a:rPr sz="1100" spc="280" dirty="0">
                <a:latin typeface="Cambria"/>
                <a:cs typeface="Cambria"/>
              </a:rPr>
              <a:t>  </a:t>
            </a:r>
            <a:r>
              <a:rPr sz="1100" dirty="0">
                <a:latin typeface="Cambria"/>
                <a:cs typeface="Cambria"/>
              </a:rPr>
              <a:t>delayed</a:t>
            </a:r>
            <a:r>
              <a:rPr sz="1100" spc="285" dirty="0">
                <a:latin typeface="Cambria"/>
                <a:cs typeface="Cambria"/>
              </a:rPr>
              <a:t>  </a:t>
            </a:r>
            <a:r>
              <a:rPr sz="1100" dirty="0">
                <a:latin typeface="Cambria"/>
                <a:cs typeface="Cambria"/>
              </a:rPr>
              <a:t>page</a:t>
            </a:r>
            <a:r>
              <a:rPr sz="1100" spc="285" dirty="0">
                <a:latin typeface="Cambria"/>
                <a:cs typeface="Cambria"/>
              </a:rPr>
              <a:t>  </a:t>
            </a:r>
            <a:r>
              <a:rPr sz="1100" dirty="0">
                <a:latin typeface="Cambria"/>
                <a:cs typeface="Cambria"/>
              </a:rPr>
              <a:t>loading,</a:t>
            </a:r>
            <a:r>
              <a:rPr sz="1100" spc="285" dirty="0">
                <a:latin typeface="Cambria"/>
                <a:cs typeface="Cambria"/>
              </a:rPr>
              <a:t>  </a:t>
            </a:r>
            <a:r>
              <a:rPr sz="1100" dirty="0">
                <a:latin typeface="Cambria"/>
                <a:cs typeface="Cambria"/>
              </a:rPr>
              <a:t>duplicate</a:t>
            </a:r>
            <a:r>
              <a:rPr sz="1100" spc="285" dirty="0">
                <a:latin typeface="Cambria"/>
                <a:cs typeface="Cambria"/>
              </a:rPr>
              <a:t>  </a:t>
            </a:r>
            <a:r>
              <a:rPr sz="1100" dirty="0">
                <a:latin typeface="Cambria"/>
                <a:cs typeface="Cambria"/>
              </a:rPr>
              <a:t>packets,</a:t>
            </a:r>
            <a:r>
              <a:rPr sz="1100" spc="280" dirty="0">
                <a:latin typeface="Cambria"/>
                <a:cs typeface="Cambria"/>
              </a:rPr>
              <a:t>  </a:t>
            </a:r>
            <a:r>
              <a:rPr sz="1100" dirty="0">
                <a:latin typeface="Cambria"/>
                <a:cs typeface="Cambria"/>
              </a:rPr>
              <a:t>and</a:t>
            </a:r>
            <a:r>
              <a:rPr sz="1100" spc="280" dirty="0">
                <a:latin typeface="Cambria"/>
                <a:cs typeface="Cambria"/>
              </a:rPr>
              <a:t>  </a:t>
            </a:r>
            <a:r>
              <a:rPr sz="1100" spc="-10" dirty="0">
                <a:latin typeface="Cambria"/>
                <a:cs typeface="Cambria"/>
              </a:rPr>
              <a:t>repeated </a:t>
            </a:r>
            <a:r>
              <a:rPr sz="1100" dirty="0">
                <a:latin typeface="Cambria"/>
                <a:cs typeface="Cambria"/>
              </a:rPr>
              <a:t>retransmissions.</a:t>
            </a:r>
            <a:r>
              <a:rPr sz="1100" spc="21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Some</a:t>
            </a:r>
            <a:r>
              <a:rPr sz="1100" spc="21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students</a:t>
            </a:r>
            <a:r>
              <a:rPr sz="1100" spc="22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receive</a:t>
            </a:r>
            <a:r>
              <a:rPr sz="1100" spc="21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</a:t>
            </a:r>
            <a:r>
              <a:rPr sz="1100" spc="21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next</a:t>
            </a:r>
            <a:r>
              <a:rPr sz="1100" spc="21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set</a:t>
            </a:r>
            <a:r>
              <a:rPr sz="1100" spc="21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of</a:t>
            </a:r>
            <a:r>
              <a:rPr sz="1100" spc="22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data</a:t>
            </a:r>
            <a:r>
              <a:rPr sz="1100" spc="21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before</a:t>
            </a:r>
            <a:r>
              <a:rPr sz="1100" spc="21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their</a:t>
            </a:r>
            <a:r>
              <a:rPr sz="1100" spc="21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devices</a:t>
            </a:r>
            <a:r>
              <a:rPr sz="1100" spc="22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finish </a:t>
            </a:r>
            <a:r>
              <a:rPr sz="1100" dirty="0">
                <a:latin typeface="Cambria"/>
                <a:cs typeface="Cambria"/>
              </a:rPr>
              <a:t>processing</a:t>
            </a:r>
            <a:r>
              <a:rPr sz="1100" spc="24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</a:t>
            </a:r>
            <a:r>
              <a:rPr sz="1100" spc="24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previous</a:t>
            </a:r>
            <a:r>
              <a:rPr sz="1100" spc="24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one,</a:t>
            </a:r>
            <a:r>
              <a:rPr sz="1100" spc="23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causing</a:t>
            </a:r>
            <a:r>
              <a:rPr sz="1100" spc="24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receiver</a:t>
            </a:r>
            <a:r>
              <a:rPr sz="1100" spc="23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buffer</a:t>
            </a:r>
            <a:r>
              <a:rPr sz="1100" spc="23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overflow</a:t>
            </a:r>
            <a:r>
              <a:rPr sz="1100" spc="24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and</a:t>
            </a:r>
            <a:r>
              <a:rPr sz="1100" spc="229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application</a:t>
            </a:r>
            <a:r>
              <a:rPr sz="1100" spc="24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crashes. </a:t>
            </a:r>
            <a:r>
              <a:rPr sz="1100" dirty="0">
                <a:latin typeface="Cambria"/>
                <a:cs typeface="Cambria"/>
              </a:rPr>
              <a:t>Network</a:t>
            </a:r>
            <a:r>
              <a:rPr sz="1100" spc="13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administrators</a:t>
            </a:r>
            <a:r>
              <a:rPr sz="1100" spc="14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also</a:t>
            </a:r>
            <a:r>
              <a:rPr sz="1100" spc="14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observe</a:t>
            </a:r>
            <a:r>
              <a:rPr sz="1100" spc="15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an</a:t>
            </a:r>
            <a:r>
              <a:rPr sz="1100" spc="14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excessive</a:t>
            </a:r>
            <a:r>
              <a:rPr sz="1100" spc="15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number</a:t>
            </a:r>
            <a:r>
              <a:rPr sz="1100" spc="15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of</a:t>
            </a:r>
            <a:r>
              <a:rPr sz="1100" spc="15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retransmissions,</a:t>
            </a:r>
            <a:r>
              <a:rPr sz="1100" spc="15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increased </a:t>
            </a:r>
            <a:r>
              <a:rPr sz="1100" dirty="0">
                <a:latin typeface="Cambria"/>
                <a:cs typeface="Cambria"/>
              </a:rPr>
              <a:t>latency,</a:t>
            </a:r>
            <a:r>
              <a:rPr sz="1100" spc="23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reduced</a:t>
            </a:r>
            <a:r>
              <a:rPr sz="1100" spc="24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throughput,</a:t>
            </a:r>
            <a:r>
              <a:rPr sz="1100" spc="24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and</a:t>
            </a:r>
            <a:r>
              <a:rPr sz="1100" spc="23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poor</a:t>
            </a:r>
            <a:r>
              <a:rPr sz="1100" spc="24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bandwidth</a:t>
            </a:r>
            <a:r>
              <a:rPr sz="1100" spc="24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utilization.</a:t>
            </a:r>
            <a:r>
              <a:rPr sz="1100" spc="24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</a:t>
            </a:r>
            <a:r>
              <a:rPr sz="1100" spc="229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current</a:t>
            </a:r>
            <a:r>
              <a:rPr sz="1100" spc="24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flow</a:t>
            </a:r>
            <a:r>
              <a:rPr sz="1100" spc="23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control </a:t>
            </a:r>
            <a:r>
              <a:rPr sz="1100" dirty="0">
                <a:latin typeface="Cambria"/>
                <a:cs typeface="Cambria"/>
              </a:rPr>
              <a:t>mechanism</a:t>
            </a:r>
            <a:r>
              <a:rPr sz="1100" spc="23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is</a:t>
            </a:r>
            <a:r>
              <a:rPr sz="1100" spc="24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not</a:t>
            </a:r>
            <a:r>
              <a:rPr sz="1100" spc="24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effectively</a:t>
            </a:r>
            <a:r>
              <a:rPr sz="1100" spc="23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regulating</a:t>
            </a:r>
            <a:r>
              <a:rPr sz="1100" spc="24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</a:t>
            </a:r>
            <a:r>
              <a:rPr sz="1100" spc="24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transmission</a:t>
            </a:r>
            <a:r>
              <a:rPr sz="1100" spc="229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rate</a:t>
            </a:r>
            <a:r>
              <a:rPr sz="1100" spc="24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between</a:t>
            </a:r>
            <a:r>
              <a:rPr sz="1100" spc="23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</a:t>
            </a:r>
            <a:r>
              <a:rPr sz="1100" spc="24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sender</a:t>
            </a:r>
            <a:r>
              <a:rPr sz="1100" spc="240" dirty="0">
                <a:latin typeface="Cambria"/>
                <a:cs typeface="Cambria"/>
              </a:rPr>
              <a:t> </a:t>
            </a:r>
            <a:r>
              <a:rPr sz="1100" spc="-25" dirty="0">
                <a:latin typeface="Cambria"/>
                <a:cs typeface="Cambria"/>
              </a:rPr>
              <a:t>and </a:t>
            </a:r>
            <a:r>
              <a:rPr sz="1100" spc="-10" dirty="0">
                <a:latin typeface="Cambria"/>
                <a:cs typeface="Cambria"/>
              </a:rPr>
              <a:t>receivers.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As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the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network</a:t>
            </a:r>
            <a:r>
              <a:rPr sz="1100" spc="-4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engineer,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you</a:t>
            </a:r>
            <a:r>
              <a:rPr sz="1100" spc="-2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have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been</a:t>
            </a:r>
            <a:r>
              <a:rPr sz="1100" spc="-2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assigned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to investigate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spc="-20" dirty="0">
                <a:latin typeface="Cambria"/>
                <a:cs typeface="Cambria"/>
              </a:rPr>
              <a:t>the</a:t>
            </a:r>
            <a:r>
              <a:rPr sz="1100" spc="-3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communication </a:t>
            </a:r>
            <a:r>
              <a:rPr sz="1100" dirty="0">
                <a:latin typeface="Cambria"/>
                <a:cs typeface="Cambria"/>
              </a:rPr>
              <a:t>problems,</a:t>
            </a:r>
            <a:r>
              <a:rPr sz="1100" spc="17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identify</a:t>
            </a:r>
            <a:r>
              <a:rPr sz="1100" spc="17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</a:t>
            </a:r>
            <a:r>
              <a:rPr sz="1100" spc="18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causes</a:t>
            </a:r>
            <a:r>
              <a:rPr sz="1100" spc="18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of</a:t>
            </a:r>
            <a:r>
              <a:rPr sz="1100" spc="17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inefficient</a:t>
            </a:r>
            <a:r>
              <a:rPr sz="1100" spc="17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flow</a:t>
            </a:r>
            <a:r>
              <a:rPr sz="1100" spc="17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control,</a:t>
            </a:r>
            <a:r>
              <a:rPr sz="1100" spc="17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debug</a:t>
            </a:r>
            <a:r>
              <a:rPr sz="1100" spc="18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</a:t>
            </a:r>
            <a:r>
              <a:rPr sz="1100" spc="17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existing</a:t>
            </a:r>
            <a:r>
              <a:rPr sz="1100" spc="18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system,</a:t>
            </a:r>
            <a:r>
              <a:rPr sz="1100" spc="175" dirty="0">
                <a:latin typeface="Cambria"/>
                <a:cs typeface="Cambria"/>
              </a:rPr>
              <a:t> </a:t>
            </a:r>
            <a:r>
              <a:rPr sz="1100" spc="-25" dirty="0">
                <a:latin typeface="Cambria"/>
                <a:cs typeface="Cambria"/>
              </a:rPr>
              <a:t>and </a:t>
            </a:r>
            <a:r>
              <a:rPr sz="1100" dirty="0">
                <a:latin typeface="Cambria"/>
                <a:cs typeface="Cambria"/>
              </a:rPr>
              <a:t>recommend</a:t>
            </a:r>
            <a:r>
              <a:rPr sz="1100" spc="135" dirty="0">
                <a:latin typeface="Cambria"/>
                <a:cs typeface="Cambria"/>
              </a:rPr>
              <a:t>  </a:t>
            </a:r>
            <a:r>
              <a:rPr sz="1100" dirty="0">
                <a:latin typeface="Cambria"/>
                <a:cs typeface="Cambria"/>
              </a:rPr>
              <a:t>suitable</a:t>
            </a:r>
            <a:r>
              <a:rPr sz="1100" spc="145" dirty="0">
                <a:latin typeface="Cambria"/>
                <a:cs typeface="Cambria"/>
              </a:rPr>
              <a:t>  </a:t>
            </a:r>
            <a:r>
              <a:rPr sz="1100" dirty="0">
                <a:latin typeface="Cambria"/>
                <a:cs typeface="Cambria"/>
              </a:rPr>
              <a:t>optimization</a:t>
            </a:r>
            <a:r>
              <a:rPr sz="1100" spc="145" dirty="0">
                <a:latin typeface="Cambria"/>
                <a:cs typeface="Cambria"/>
              </a:rPr>
              <a:t>  </a:t>
            </a:r>
            <a:r>
              <a:rPr sz="1100" dirty="0">
                <a:latin typeface="Cambria"/>
                <a:cs typeface="Cambria"/>
              </a:rPr>
              <a:t>techniques</a:t>
            </a:r>
            <a:r>
              <a:rPr sz="1100" spc="150" dirty="0">
                <a:latin typeface="Cambria"/>
                <a:cs typeface="Cambria"/>
              </a:rPr>
              <a:t>  </a:t>
            </a:r>
            <a:r>
              <a:rPr sz="1100" dirty="0">
                <a:latin typeface="Cambria"/>
                <a:cs typeface="Cambria"/>
              </a:rPr>
              <a:t>to</a:t>
            </a:r>
            <a:r>
              <a:rPr sz="1100" spc="150" dirty="0">
                <a:latin typeface="Cambria"/>
                <a:cs typeface="Cambria"/>
              </a:rPr>
              <a:t>  </a:t>
            </a:r>
            <a:r>
              <a:rPr sz="1100" dirty="0">
                <a:latin typeface="Cambria"/>
                <a:cs typeface="Cambria"/>
              </a:rPr>
              <a:t>ensure</a:t>
            </a:r>
            <a:r>
              <a:rPr sz="1100" spc="150" dirty="0">
                <a:latin typeface="Cambria"/>
                <a:cs typeface="Cambria"/>
              </a:rPr>
              <a:t>  </a:t>
            </a:r>
            <a:r>
              <a:rPr sz="1100" dirty="0">
                <a:latin typeface="Cambria"/>
                <a:cs typeface="Cambria"/>
              </a:rPr>
              <a:t>reliable</a:t>
            </a:r>
            <a:r>
              <a:rPr sz="1100" spc="145" dirty="0">
                <a:latin typeface="Cambria"/>
                <a:cs typeface="Cambria"/>
              </a:rPr>
              <a:t>  </a:t>
            </a:r>
            <a:r>
              <a:rPr sz="1100" dirty="0">
                <a:latin typeface="Cambria"/>
                <a:cs typeface="Cambria"/>
              </a:rPr>
              <a:t>and</a:t>
            </a:r>
            <a:r>
              <a:rPr sz="1100" spc="140" dirty="0">
                <a:latin typeface="Cambria"/>
                <a:cs typeface="Cambria"/>
              </a:rPr>
              <a:t>  </a:t>
            </a:r>
            <a:r>
              <a:rPr sz="1100" dirty="0">
                <a:latin typeface="Cambria"/>
                <a:cs typeface="Cambria"/>
              </a:rPr>
              <a:t>efficient</a:t>
            </a:r>
            <a:r>
              <a:rPr sz="1100" spc="145" dirty="0">
                <a:latin typeface="Cambria"/>
                <a:cs typeface="Cambria"/>
              </a:rPr>
              <a:t>  </a:t>
            </a:r>
            <a:r>
              <a:rPr sz="1100" spc="-20" dirty="0">
                <a:latin typeface="Cambria"/>
                <a:cs typeface="Cambria"/>
              </a:rPr>
              <a:t>data </a:t>
            </a:r>
            <a:r>
              <a:rPr sz="1100" spc="-10" dirty="0">
                <a:latin typeface="Cambria"/>
                <a:cs typeface="Cambria"/>
              </a:rPr>
              <a:t>transmission</a:t>
            </a:r>
            <a:r>
              <a:rPr sz="1100" spc="2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during</a:t>
            </a:r>
            <a:r>
              <a:rPr sz="1100" spc="1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high-</a:t>
            </a:r>
            <a:r>
              <a:rPr sz="1100" dirty="0">
                <a:latin typeface="Cambria"/>
                <a:cs typeface="Cambria"/>
              </a:rPr>
              <a:t>traffic</a:t>
            </a:r>
            <a:r>
              <a:rPr sz="1100" spc="3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periods.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3152" y="1033018"/>
            <a:ext cx="5746750" cy="2969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Cambria"/>
                <a:cs typeface="Cambria"/>
              </a:rPr>
              <a:t>ANS: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100">
              <a:latin typeface="Cambria"/>
              <a:cs typeface="Cambria"/>
            </a:endParaRPr>
          </a:p>
          <a:p>
            <a:pPr marL="12700" algn="just">
              <a:lnSpc>
                <a:spcPct val="100000"/>
              </a:lnSpc>
            </a:pPr>
            <a:r>
              <a:rPr sz="1400" b="1" dirty="0">
                <a:latin typeface="Cambria"/>
                <a:cs typeface="Cambria"/>
              </a:rPr>
              <a:t>Flow</a:t>
            </a:r>
            <a:r>
              <a:rPr sz="1400" b="1" spc="-5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Control</a:t>
            </a:r>
            <a:r>
              <a:rPr sz="1400" b="1" spc="-3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Debugging</a:t>
            </a:r>
            <a:r>
              <a:rPr sz="1400" b="1" spc="-3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&amp;</a:t>
            </a:r>
            <a:r>
              <a:rPr sz="1400" b="1" spc="-30" dirty="0">
                <a:latin typeface="Cambria"/>
                <a:cs typeface="Cambria"/>
              </a:rPr>
              <a:t> </a:t>
            </a:r>
            <a:r>
              <a:rPr sz="1400" b="1" spc="-10" dirty="0">
                <a:latin typeface="Cambria"/>
                <a:cs typeface="Cambria"/>
              </a:rPr>
              <a:t>Optimisation</a:t>
            </a:r>
            <a:endParaRPr sz="1400">
              <a:latin typeface="Cambria"/>
              <a:cs typeface="Cambria"/>
            </a:endParaRPr>
          </a:p>
          <a:p>
            <a:pPr marL="198120" indent="-185420" algn="just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198120" algn="l"/>
              </a:tabLst>
            </a:pPr>
            <a:r>
              <a:rPr sz="1400" b="1" dirty="0">
                <a:latin typeface="Cambria"/>
                <a:cs typeface="Cambria"/>
              </a:rPr>
              <a:t>Problem</a:t>
            </a:r>
            <a:r>
              <a:rPr sz="1400" b="1" spc="-65" dirty="0">
                <a:latin typeface="Cambria"/>
                <a:cs typeface="Cambria"/>
              </a:rPr>
              <a:t> </a:t>
            </a:r>
            <a:r>
              <a:rPr sz="1400" b="1" spc="-10" dirty="0">
                <a:latin typeface="Cambria"/>
                <a:cs typeface="Cambria"/>
              </a:rPr>
              <a:t>Identification</a:t>
            </a:r>
            <a:endParaRPr sz="1400">
              <a:latin typeface="Cambria"/>
              <a:cs typeface="Cambria"/>
            </a:endParaRPr>
          </a:p>
          <a:p>
            <a:pPr marL="241300" marR="5080" indent="-228600" algn="just">
              <a:lnSpc>
                <a:spcPct val="105400"/>
              </a:lnSpc>
              <a:spcBef>
                <a:spcPts val="25"/>
              </a:spcBef>
            </a:pPr>
            <a:r>
              <a:rPr sz="1200" dirty="0">
                <a:latin typeface="Cambria"/>
                <a:cs typeface="Cambria"/>
              </a:rPr>
              <a:t>A</a:t>
            </a:r>
            <a:r>
              <a:rPr sz="1200" spc="7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leading</a:t>
            </a:r>
            <a:r>
              <a:rPr sz="1200" spc="8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online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education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platform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conducts</a:t>
            </a:r>
            <a:r>
              <a:rPr sz="1200" spc="6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live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classes</a:t>
            </a:r>
            <a:r>
              <a:rPr sz="1200" spc="9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online</a:t>
            </a:r>
            <a:r>
              <a:rPr sz="1200" spc="7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examinations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spc="-25" dirty="0">
                <a:latin typeface="Cambria"/>
                <a:cs typeface="Cambria"/>
              </a:rPr>
              <a:t>for </a:t>
            </a:r>
            <a:r>
              <a:rPr sz="1200" dirty="0">
                <a:latin typeface="Cambria"/>
                <a:cs typeface="Cambria"/>
              </a:rPr>
              <a:t>more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than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15,000</a:t>
            </a:r>
            <a:r>
              <a:rPr sz="1200" b="1" spc="-4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students</a:t>
            </a:r>
            <a:r>
              <a:rPr sz="1200" dirty="0">
                <a:latin typeface="Cambria"/>
                <a:cs typeface="Cambria"/>
              </a:rPr>
              <a:t>.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During</a:t>
            </a:r>
            <a:r>
              <a:rPr sz="1200" spc="-4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peak</a:t>
            </a:r>
            <a:r>
              <a:rPr sz="1200" spc="-4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hours,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following</a:t>
            </a:r>
            <a:r>
              <a:rPr sz="1200" spc="-4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network</a:t>
            </a:r>
            <a:r>
              <a:rPr sz="1200" spc="-4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problems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spc="-25" dirty="0">
                <a:latin typeface="Cambria"/>
                <a:cs typeface="Cambria"/>
              </a:rPr>
              <a:t>are </a:t>
            </a:r>
            <a:r>
              <a:rPr sz="1200" spc="-10" dirty="0">
                <a:latin typeface="Cambria"/>
                <a:cs typeface="Cambria"/>
              </a:rPr>
              <a:t>observed:</a:t>
            </a:r>
            <a:endParaRPr sz="1200">
              <a:latin typeface="Cambria"/>
              <a:cs typeface="Cambria"/>
            </a:endParaRPr>
          </a:p>
          <a:p>
            <a:pPr marL="323215" lvl="1" indent="-228600">
              <a:lnSpc>
                <a:spcPct val="100000"/>
              </a:lnSpc>
              <a:spcBef>
                <a:spcPts val="85"/>
              </a:spcBef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dirty="0">
                <a:latin typeface="Cambria"/>
                <a:cs typeface="Cambria"/>
              </a:rPr>
              <a:t>Incomplete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downloads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of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question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papers.</a:t>
            </a:r>
            <a:endParaRPr sz="1200">
              <a:latin typeface="Cambria"/>
              <a:cs typeface="Cambria"/>
            </a:endParaRPr>
          </a:p>
          <a:p>
            <a:pPr marL="323215" lvl="1" indent="-228600">
              <a:lnSpc>
                <a:spcPct val="100000"/>
              </a:lnSpc>
              <a:spcBef>
                <a:spcPts val="75"/>
              </a:spcBef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dirty="0">
                <a:latin typeface="Cambria"/>
                <a:cs typeface="Cambria"/>
              </a:rPr>
              <a:t>Delayed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page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loading.</a:t>
            </a:r>
            <a:endParaRPr sz="1200">
              <a:latin typeface="Cambria"/>
              <a:cs typeface="Cambria"/>
            </a:endParaRPr>
          </a:p>
          <a:p>
            <a:pPr marL="323215" lvl="1" indent="-228600">
              <a:lnSpc>
                <a:spcPct val="100000"/>
              </a:lnSpc>
              <a:spcBef>
                <a:spcPts val="80"/>
              </a:spcBef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dirty="0">
                <a:latin typeface="Cambria"/>
                <a:cs typeface="Cambria"/>
              </a:rPr>
              <a:t>Duplicate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packets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repeated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retransmissions.</a:t>
            </a:r>
            <a:endParaRPr sz="1200">
              <a:latin typeface="Cambria"/>
              <a:cs typeface="Cambria"/>
            </a:endParaRPr>
          </a:p>
          <a:p>
            <a:pPr marL="323215" lvl="1" indent="-228600">
              <a:lnSpc>
                <a:spcPct val="100000"/>
              </a:lnSpc>
              <a:spcBef>
                <a:spcPts val="75"/>
              </a:spcBef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dirty="0">
                <a:latin typeface="Cambria"/>
                <a:cs typeface="Cambria"/>
              </a:rPr>
              <a:t>Receiver</a:t>
            </a:r>
            <a:r>
              <a:rPr sz="1200" spc="-4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buffer</a:t>
            </a:r>
            <a:r>
              <a:rPr sz="1200" spc="-5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overflow.</a:t>
            </a:r>
            <a:endParaRPr sz="1200">
              <a:latin typeface="Cambria"/>
              <a:cs typeface="Cambria"/>
            </a:endParaRPr>
          </a:p>
          <a:p>
            <a:pPr marL="323215" lvl="1" indent="-228600">
              <a:lnSpc>
                <a:spcPct val="100000"/>
              </a:lnSpc>
              <a:spcBef>
                <a:spcPts val="85"/>
              </a:spcBef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dirty="0">
                <a:latin typeface="Cambria"/>
                <a:cs typeface="Cambria"/>
              </a:rPr>
              <a:t>Increased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latency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reduced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throughput.</a:t>
            </a:r>
            <a:endParaRPr sz="1200">
              <a:latin typeface="Cambria"/>
              <a:cs typeface="Cambria"/>
            </a:endParaRPr>
          </a:p>
          <a:p>
            <a:pPr marL="323215" lvl="1" indent="-228600">
              <a:lnSpc>
                <a:spcPct val="100000"/>
              </a:lnSpc>
              <a:spcBef>
                <a:spcPts val="75"/>
              </a:spcBef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dirty="0">
                <a:latin typeface="Cambria"/>
                <a:cs typeface="Cambria"/>
              </a:rPr>
              <a:t>Poor</a:t>
            </a:r>
            <a:r>
              <a:rPr sz="1200" spc="-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bandwidth </a:t>
            </a:r>
            <a:r>
              <a:rPr sz="1200" spc="-10" dirty="0">
                <a:latin typeface="Cambria"/>
                <a:cs typeface="Cambria"/>
              </a:rPr>
              <a:t>utilization</a:t>
            </a:r>
            <a:r>
              <a:rPr sz="1200" spc="-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due to </a:t>
            </a:r>
            <a:r>
              <a:rPr sz="1200" spc="-10" dirty="0">
                <a:latin typeface="Cambria"/>
                <a:cs typeface="Cambria"/>
              </a:rPr>
              <a:t>inefficient</a:t>
            </a:r>
            <a:r>
              <a:rPr sz="1200" dirty="0">
                <a:latin typeface="Cambria"/>
                <a:cs typeface="Cambria"/>
              </a:rPr>
              <a:t> flow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control.</a:t>
            </a:r>
            <a:endParaRPr sz="12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165"/>
              </a:spcBef>
              <a:buFont typeface="Symbol"/>
              <a:buChar char=""/>
            </a:pPr>
            <a:endParaRPr sz="1200">
              <a:latin typeface="Cambria"/>
              <a:cs typeface="Cambria"/>
            </a:endParaRPr>
          </a:p>
          <a:p>
            <a:pPr marL="198120" indent="-185420">
              <a:lnSpc>
                <a:spcPct val="100000"/>
              </a:lnSpc>
              <a:buAutoNum type="arabicPeriod" startAt="2"/>
              <a:tabLst>
                <a:tab pos="198120" algn="l"/>
              </a:tabLst>
            </a:pPr>
            <a:r>
              <a:rPr sz="1400" b="1" dirty="0">
                <a:latin typeface="Cambria"/>
                <a:cs typeface="Cambria"/>
              </a:rPr>
              <a:t>Root</a:t>
            </a:r>
            <a:r>
              <a:rPr sz="1400" b="1" spc="-1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Cause</a:t>
            </a:r>
            <a:r>
              <a:rPr sz="1400" b="1" spc="-20" dirty="0">
                <a:latin typeface="Cambria"/>
                <a:cs typeface="Cambria"/>
              </a:rPr>
              <a:t> </a:t>
            </a:r>
            <a:r>
              <a:rPr sz="1400" b="1" spc="-10" dirty="0">
                <a:latin typeface="Cambria"/>
                <a:cs typeface="Cambria"/>
              </a:rPr>
              <a:t>Analysis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2108" y="3973194"/>
            <a:ext cx="1511300" cy="164147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200" b="1" spc="-10" dirty="0">
                <a:latin typeface="Cambria"/>
                <a:cs typeface="Cambria"/>
              </a:rPr>
              <a:t>Problem</a:t>
            </a:r>
            <a:endParaRPr sz="1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200" dirty="0">
                <a:latin typeface="Cambria"/>
                <a:cs typeface="Cambria"/>
              </a:rPr>
              <a:t>Incomplete</a:t>
            </a:r>
            <a:r>
              <a:rPr sz="1200" spc="-10" dirty="0">
                <a:latin typeface="Cambria"/>
                <a:cs typeface="Cambria"/>
              </a:rPr>
              <a:t> downloads</a:t>
            </a:r>
            <a:endParaRPr sz="1200">
              <a:latin typeface="Cambria"/>
              <a:cs typeface="Cambria"/>
            </a:endParaRPr>
          </a:p>
          <a:p>
            <a:pPr marL="12700" marR="103505">
              <a:lnSpc>
                <a:spcPct val="126200"/>
              </a:lnSpc>
              <a:spcBef>
                <a:spcPts val="5"/>
              </a:spcBef>
            </a:pPr>
            <a:r>
              <a:rPr sz="1200" dirty="0">
                <a:latin typeface="Cambria"/>
                <a:cs typeface="Cambria"/>
              </a:rPr>
              <a:t>Delayed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page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loading </a:t>
            </a:r>
            <a:r>
              <a:rPr sz="1200" dirty="0">
                <a:latin typeface="Cambria"/>
                <a:cs typeface="Cambria"/>
              </a:rPr>
              <a:t>Duplicate</a:t>
            </a:r>
            <a:r>
              <a:rPr sz="1200" spc="-6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packets </a:t>
            </a:r>
            <a:r>
              <a:rPr sz="1200" dirty="0">
                <a:latin typeface="Cambria"/>
                <a:cs typeface="Cambria"/>
              </a:rPr>
              <a:t>Buffer</a:t>
            </a:r>
            <a:r>
              <a:rPr sz="1200" spc="-5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overflow</a:t>
            </a:r>
            <a:endParaRPr sz="1200">
              <a:latin typeface="Cambria"/>
              <a:cs typeface="Cambria"/>
            </a:endParaRPr>
          </a:p>
          <a:p>
            <a:pPr marL="12700" marR="433705">
              <a:lnSpc>
                <a:spcPts val="1830"/>
              </a:lnSpc>
              <a:spcBef>
                <a:spcPts val="75"/>
              </a:spcBef>
            </a:pPr>
            <a:r>
              <a:rPr sz="1200" dirty="0">
                <a:latin typeface="Cambria"/>
                <a:cs typeface="Cambria"/>
              </a:rPr>
              <a:t>High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latency </a:t>
            </a:r>
            <a:r>
              <a:rPr sz="1200" dirty="0">
                <a:latin typeface="Cambria"/>
                <a:cs typeface="Cambria"/>
              </a:rPr>
              <a:t>Low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throughput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12847" y="3973194"/>
            <a:ext cx="3562350" cy="164147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200" b="1" dirty="0">
                <a:latin typeface="Cambria"/>
                <a:cs typeface="Cambria"/>
              </a:rPr>
              <a:t>Root</a:t>
            </a:r>
            <a:r>
              <a:rPr sz="1200" b="1" spc="-4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Cause</a:t>
            </a:r>
            <a:endParaRPr sz="1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200" dirty="0">
                <a:latin typeface="Cambria"/>
                <a:cs typeface="Cambria"/>
              </a:rPr>
              <a:t>Packet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loss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during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transmission</a:t>
            </a:r>
            <a:endParaRPr sz="1200">
              <a:latin typeface="Cambria"/>
              <a:cs typeface="Cambria"/>
            </a:endParaRPr>
          </a:p>
          <a:p>
            <a:pPr marL="12700" marR="1626235">
              <a:lnSpc>
                <a:spcPct val="125800"/>
              </a:lnSpc>
              <a:spcBef>
                <a:spcPts val="10"/>
              </a:spcBef>
            </a:pPr>
            <a:r>
              <a:rPr sz="1200" dirty="0">
                <a:latin typeface="Cambria"/>
                <a:cs typeface="Cambria"/>
              </a:rPr>
              <a:t>High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network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congestion </a:t>
            </a:r>
            <a:r>
              <a:rPr sz="1200" dirty="0">
                <a:latin typeface="Cambria"/>
                <a:cs typeface="Cambria"/>
              </a:rPr>
              <a:t>Unnecessary</a:t>
            </a:r>
            <a:r>
              <a:rPr sz="1200" spc="-4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retransmissions</a:t>
            </a:r>
            <a:endParaRPr sz="1200">
              <a:latin typeface="Cambria"/>
              <a:cs typeface="Cambria"/>
            </a:endParaRPr>
          </a:p>
          <a:p>
            <a:pPr marL="12700" marR="5080">
              <a:lnSpc>
                <a:spcPct val="125800"/>
              </a:lnSpc>
              <a:spcBef>
                <a:spcPts val="10"/>
              </a:spcBef>
            </a:pPr>
            <a:r>
              <a:rPr sz="1200" dirty="0">
                <a:latin typeface="Cambria"/>
                <a:cs typeface="Cambria"/>
              </a:rPr>
              <a:t>Sender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transmits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data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faster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than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receiver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can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process </a:t>
            </a:r>
            <a:r>
              <a:rPr sz="1200" dirty="0">
                <a:latin typeface="Cambria"/>
                <a:cs typeface="Cambria"/>
              </a:rPr>
              <a:t>Inefficient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flow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control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mechanism</a:t>
            </a:r>
            <a:endParaRPr sz="1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200" dirty="0">
                <a:latin typeface="Cambria"/>
                <a:cs typeface="Cambria"/>
              </a:rPr>
              <a:t>Poor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bandwidth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management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3152" y="5802154"/>
            <a:ext cx="5745480" cy="456501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98120" indent="-185420">
              <a:lnSpc>
                <a:spcPct val="100000"/>
              </a:lnSpc>
              <a:spcBef>
                <a:spcPts val="225"/>
              </a:spcBef>
              <a:buAutoNum type="arabicPeriod" startAt="3"/>
              <a:tabLst>
                <a:tab pos="198120" algn="l"/>
              </a:tabLst>
            </a:pPr>
            <a:r>
              <a:rPr sz="1400" b="1" dirty="0">
                <a:latin typeface="Cambria"/>
                <a:cs typeface="Cambria"/>
              </a:rPr>
              <a:t>Debugging</a:t>
            </a:r>
            <a:r>
              <a:rPr sz="1400" b="1" spc="-45" dirty="0">
                <a:latin typeface="Cambria"/>
                <a:cs typeface="Cambria"/>
              </a:rPr>
              <a:t> </a:t>
            </a:r>
            <a:r>
              <a:rPr sz="1400" b="1" spc="-20" dirty="0">
                <a:latin typeface="Cambria"/>
                <a:cs typeface="Cambria"/>
              </a:rPr>
              <a:t>Steps</a:t>
            </a:r>
            <a:endParaRPr sz="1400">
              <a:latin typeface="Cambria"/>
              <a:cs typeface="Cambria"/>
            </a:endParaRPr>
          </a:p>
          <a:p>
            <a:pPr marL="321945" lvl="1" indent="-227329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21945" algn="l"/>
              </a:tabLst>
            </a:pPr>
            <a:r>
              <a:rPr sz="1200" dirty="0">
                <a:latin typeface="Cambria"/>
                <a:cs typeface="Cambria"/>
              </a:rPr>
              <a:t>Monitor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network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traffic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during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examination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hours.</a:t>
            </a:r>
            <a:endParaRPr sz="1200">
              <a:latin typeface="Cambria"/>
              <a:cs typeface="Cambria"/>
            </a:endParaRPr>
          </a:p>
          <a:p>
            <a:pPr marL="321945" lvl="1" indent="-227329">
              <a:lnSpc>
                <a:spcPct val="100000"/>
              </a:lnSpc>
              <a:spcBef>
                <a:spcPts val="85"/>
              </a:spcBef>
              <a:buAutoNum type="arabicPeriod"/>
              <a:tabLst>
                <a:tab pos="321945" algn="l"/>
              </a:tabLst>
            </a:pPr>
            <a:r>
              <a:rPr sz="1200" dirty="0">
                <a:latin typeface="Cambria"/>
                <a:cs typeface="Cambria"/>
              </a:rPr>
              <a:t>Check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sender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receiver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transmission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rates.</a:t>
            </a:r>
            <a:endParaRPr sz="1200">
              <a:latin typeface="Cambria"/>
              <a:cs typeface="Cambria"/>
            </a:endParaRPr>
          </a:p>
          <a:p>
            <a:pPr marL="321945" lvl="1" indent="-227329">
              <a:lnSpc>
                <a:spcPct val="100000"/>
              </a:lnSpc>
              <a:spcBef>
                <a:spcPts val="75"/>
              </a:spcBef>
              <a:buAutoNum type="arabicPeriod"/>
              <a:tabLst>
                <a:tab pos="321945" algn="l"/>
              </a:tabLst>
            </a:pPr>
            <a:r>
              <a:rPr sz="1200" dirty="0">
                <a:latin typeface="Cambria"/>
                <a:cs typeface="Cambria"/>
              </a:rPr>
              <a:t>Measure</a:t>
            </a:r>
            <a:r>
              <a:rPr sz="1200" spc="-4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receiver</a:t>
            </a:r>
            <a:r>
              <a:rPr sz="1200" spc="-4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buffer</a:t>
            </a:r>
            <a:r>
              <a:rPr sz="1200" spc="-5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utilization.</a:t>
            </a:r>
            <a:endParaRPr sz="1200">
              <a:latin typeface="Cambria"/>
              <a:cs typeface="Cambria"/>
            </a:endParaRPr>
          </a:p>
          <a:p>
            <a:pPr marL="321945" lvl="1" indent="-227329">
              <a:lnSpc>
                <a:spcPct val="100000"/>
              </a:lnSpc>
              <a:spcBef>
                <a:spcPts val="80"/>
              </a:spcBef>
              <a:buAutoNum type="arabicPeriod"/>
              <a:tabLst>
                <a:tab pos="321945" algn="l"/>
              </a:tabLst>
            </a:pPr>
            <a:r>
              <a:rPr sz="1200" dirty="0">
                <a:latin typeface="Cambria"/>
                <a:cs typeface="Cambria"/>
              </a:rPr>
              <a:t>Analyse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packet</a:t>
            </a:r>
            <a:r>
              <a:rPr sz="1200" spc="-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loss</a:t>
            </a:r>
            <a:r>
              <a:rPr sz="1200" spc="-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retransmission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count.</a:t>
            </a:r>
            <a:endParaRPr sz="1200">
              <a:latin typeface="Cambria"/>
              <a:cs typeface="Cambria"/>
            </a:endParaRPr>
          </a:p>
          <a:p>
            <a:pPr marL="321945" lvl="1" indent="-227329">
              <a:lnSpc>
                <a:spcPct val="100000"/>
              </a:lnSpc>
              <a:spcBef>
                <a:spcPts val="75"/>
              </a:spcBef>
              <a:buAutoNum type="arabicPeriod"/>
              <a:tabLst>
                <a:tab pos="321945" algn="l"/>
              </a:tabLst>
            </a:pPr>
            <a:r>
              <a:rPr sz="1200" dirty="0">
                <a:latin typeface="Cambria"/>
                <a:cs typeface="Cambria"/>
              </a:rPr>
              <a:t>Verify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flow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control</a:t>
            </a:r>
            <a:r>
              <a:rPr sz="1200" spc="-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protocol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in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-20" dirty="0">
                <a:latin typeface="Cambria"/>
                <a:cs typeface="Cambria"/>
              </a:rPr>
              <a:t>use.</a:t>
            </a:r>
            <a:endParaRPr sz="1200">
              <a:latin typeface="Cambria"/>
              <a:cs typeface="Cambria"/>
            </a:endParaRPr>
          </a:p>
          <a:p>
            <a:pPr marL="321945" lvl="1" indent="-227329">
              <a:lnSpc>
                <a:spcPct val="100000"/>
              </a:lnSpc>
              <a:spcBef>
                <a:spcPts val="85"/>
              </a:spcBef>
              <a:buAutoNum type="arabicPeriod"/>
              <a:tabLst>
                <a:tab pos="321945" algn="l"/>
              </a:tabLst>
            </a:pPr>
            <a:r>
              <a:rPr sz="1200" dirty="0">
                <a:latin typeface="Cambria"/>
                <a:cs typeface="Cambria"/>
              </a:rPr>
              <a:t>Test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network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latency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throughput.</a:t>
            </a:r>
            <a:endParaRPr sz="1200">
              <a:latin typeface="Cambria"/>
              <a:cs typeface="Cambria"/>
            </a:endParaRPr>
          </a:p>
          <a:p>
            <a:pPr marL="321945" lvl="1" indent="-227329">
              <a:lnSpc>
                <a:spcPct val="100000"/>
              </a:lnSpc>
              <a:spcBef>
                <a:spcPts val="70"/>
              </a:spcBef>
              <a:buAutoNum type="arabicPeriod"/>
              <a:tabLst>
                <a:tab pos="321945" algn="l"/>
              </a:tabLst>
            </a:pPr>
            <a:r>
              <a:rPr sz="1200" dirty="0">
                <a:latin typeface="Cambria"/>
                <a:cs typeface="Cambria"/>
              </a:rPr>
              <a:t>Identify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congestion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points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in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network.</a:t>
            </a:r>
            <a:endParaRPr sz="12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170"/>
              </a:spcBef>
              <a:buFont typeface="Cambria"/>
              <a:buAutoNum type="arabicPeriod"/>
            </a:pPr>
            <a:endParaRPr sz="1200">
              <a:latin typeface="Cambria"/>
              <a:cs typeface="Cambria"/>
            </a:endParaRPr>
          </a:p>
          <a:p>
            <a:pPr marL="198120" indent="-185420">
              <a:lnSpc>
                <a:spcPct val="100000"/>
              </a:lnSpc>
              <a:buAutoNum type="arabicPeriod" startAt="3"/>
              <a:tabLst>
                <a:tab pos="198120" algn="l"/>
              </a:tabLst>
            </a:pPr>
            <a:r>
              <a:rPr sz="1400" b="1" spc="-10" dirty="0">
                <a:latin typeface="Cambria"/>
                <a:cs typeface="Cambria"/>
              </a:rPr>
              <a:t>Optimization</a:t>
            </a:r>
            <a:r>
              <a:rPr sz="1400" b="1" spc="25" dirty="0">
                <a:latin typeface="Cambria"/>
                <a:cs typeface="Cambria"/>
              </a:rPr>
              <a:t> </a:t>
            </a:r>
            <a:r>
              <a:rPr sz="1400" b="1" spc="-10" dirty="0">
                <a:latin typeface="Cambria"/>
                <a:cs typeface="Cambria"/>
              </a:rPr>
              <a:t>Techniques</a:t>
            </a:r>
            <a:endParaRPr sz="1400">
              <a:latin typeface="Cambria"/>
              <a:cs typeface="Cambria"/>
            </a:endParaRPr>
          </a:p>
          <a:p>
            <a:pPr marL="323215" indent="-228600">
              <a:lnSpc>
                <a:spcPct val="100000"/>
              </a:lnSpc>
              <a:spcBef>
                <a:spcPts val="120"/>
              </a:spcBef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spc="-10" dirty="0">
                <a:latin typeface="Cambria"/>
                <a:cs typeface="Cambria"/>
              </a:rPr>
              <a:t>Implement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Sliding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Window</a:t>
            </a:r>
            <a:r>
              <a:rPr sz="1200" b="1" spc="-2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Protocol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for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efficient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flow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control.</a:t>
            </a:r>
            <a:endParaRPr sz="1200">
              <a:latin typeface="Cambria"/>
              <a:cs typeface="Cambria"/>
            </a:endParaRPr>
          </a:p>
          <a:p>
            <a:pPr marL="323215" indent="-228600">
              <a:lnSpc>
                <a:spcPct val="100000"/>
              </a:lnSpc>
              <a:spcBef>
                <a:spcPts val="70"/>
              </a:spcBef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dirty="0">
                <a:latin typeface="Cambria"/>
                <a:cs typeface="Cambria"/>
              </a:rPr>
              <a:t>Use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TCP</a:t>
            </a:r>
            <a:r>
              <a:rPr sz="1200" b="1" spc="-3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Flow</a:t>
            </a:r>
            <a:r>
              <a:rPr sz="1200" b="1" spc="-2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Control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to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match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sender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speed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with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receiver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capacity.</a:t>
            </a:r>
            <a:endParaRPr sz="1200">
              <a:latin typeface="Cambria"/>
              <a:cs typeface="Cambria"/>
            </a:endParaRPr>
          </a:p>
          <a:p>
            <a:pPr marL="323215" indent="-228600">
              <a:lnSpc>
                <a:spcPct val="100000"/>
              </a:lnSpc>
              <a:spcBef>
                <a:spcPts val="85"/>
              </a:spcBef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dirty="0">
                <a:latin typeface="Cambria"/>
                <a:cs typeface="Cambria"/>
              </a:rPr>
              <a:t>Increase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receiver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buffer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size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to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avoid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overflow.</a:t>
            </a:r>
            <a:endParaRPr sz="1200">
              <a:latin typeface="Cambria"/>
              <a:cs typeface="Cambria"/>
            </a:endParaRPr>
          </a:p>
          <a:p>
            <a:pPr marL="323215" indent="-228600">
              <a:lnSpc>
                <a:spcPct val="100000"/>
              </a:lnSpc>
              <a:spcBef>
                <a:spcPts val="70"/>
              </a:spcBef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dirty="0">
                <a:latin typeface="Cambria"/>
                <a:cs typeface="Cambria"/>
              </a:rPr>
              <a:t>Apply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Congestion</a:t>
            </a:r>
            <a:r>
              <a:rPr sz="1200" b="1" spc="-2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Control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techniques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to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reduce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packet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loss.</a:t>
            </a:r>
            <a:endParaRPr sz="1200">
              <a:latin typeface="Cambria"/>
              <a:cs typeface="Cambria"/>
            </a:endParaRPr>
          </a:p>
          <a:p>
            <a:pPr marL="323215" indent="-228600">
              <a:lnSpc>
                <a:spcPct val="100000"/>
              </a:lnSpc>
              <a:spcBef>
                <a:spcPts val="85"/>
              </a:spcBef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dirty="0">
                <a:latin typeface="Cambria"/>
                <a:cs typeface="Cambria"/>
              </a:rPr>
              <a:t>Prioritise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examination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traffic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using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Quality</a:t>
            </a:r>
            <a:r>
              <a:rPr sz="1200" b="1" spc="-2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3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Service</a:t>
            </a:r>
            <a:r>
              <a:rPr sz="1200" b="1" spc="-2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(QoS)</a:t>
            </a:r>
            <a:r>
              <a:rPr sz="1200" spc="-10" dirty="0">
                <a:latin typeface="Cambria"/>
                <a:cs typeface="Cambria"/>
              </a:rPr>
              <a:t>.</a:t>
            </a:r>
            <a:endParaRPr sz="1200">
              <a:latin typeface="Cambria"/>
              <a:cs typeface="Cambria"/>
            </a:endParaRPr>
          </a:p>
          <a:p>
            <a:pPr marL="323215" indent="-228600">
              <a:lnSpc>
                <a:spcPct val="100000"/>
              </a:lnSpc>
              <a:spcBef>
                <a:spcPts val="70"/>
              </a:spcBef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spc="-10" dirty="0">
                <a:latin typeface="Cambria"/>
                <a:cs typeface="Cambria"/>
              </a:rPr>
              <a:t>Continuously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monitor</a:t>
            </a:r>
            <a:r>
              <a:rPr sz="1200" spc="-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bandwidth </a:t>
            </a:r>
            <a:r>
              <a:rPr sz="1200" spc="-10" dirty="0">
                <a:latin typeface="Cambria"/>
                <a:cs typeface="Cambria"/>
              </a:rPr>
              <a:t>utilization </a:t>
            </a:r>
            <a:r>
              <a:rPr sz="1200" dirty="0">
                <a:latin typeface="Cambria"/>
                <a:cs typeface="Cambria"/>
              </a:rPr>
              <a:t>and network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performance.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200">
              <a:latin typeface="Cambria"/>
              <a:cs typeface="Cambria"/>
            </a:endParaRPr>
          </a:p>
          <a:p>
            <a:pPr marL="12700" algn="just">
              <a:lnSpc>
                <a:spcPct val="100000"/>
              </a:lnSpc>
            </a:pPr>
            <a:r>
              <a:rPr sz="1400" b="1" dirty="0">
                <a:latin typeface="Cambria"/>
                <a:cs typeface="Cambria"/>
              </a:rPr>
              <a:t>5.</a:t>
            </a:r>
            <a:r>
              <a:rPr sz="1400" b="1" spc="-5" dirty="0">
                <a:latin typeface="Cambria"/>
                <a:cs typeface="Cambria"/>
              </a:rPr>
              <a:t> </a:t>
            </a:r>
            <a:r>
              <a:rPr sz="1400" b="1" spc="-10" dirty="0">
                <a:latin typeface="Cambria"/>
                <a:cs typeface="Cambria"/>
              </a:rPr>
              <a:t>Analysis</a:t>
            </a:r>
            <a:endParaRPr sz="1400">
              <a:latin typeface="Cambria"/>
              <a:cs typeface="Cambria"/>
            </a:endParaRPr>
          </a:p>
          <a:p>
            <a:pPr marL="241300" marR="5080" indent="-228600" algn="just">
              <a:lnSpc>
                <a:spcPct val="105500"/>
              </a:lnSpc>
              <a:spcBef>
                <a:spcPts val="25"/>
              </a:spcBef>
            </a:pPr>
            <a:r>
              <a:rPr sz="1200" dirty="0">
                <a:latin typeface="Cambria"/>
                <a:cs typeface="Cambria"/>
              </a:rPr>
              <a:t>The</a:t>
            </a:r>
            <a:r>
              <a:rPr sz="1200" spc="18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investigation</a:t>
            </a:r>
            <a:r>
              <a:rPr sz="1200" spc="18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shows</a:t>
            </a:r>
            <a:r>
              <a:rPr sz="1200" spc="18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that</a:t>
            </a:r>
            <a:r>
              <a:rPr sz="1200" spc="19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18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sender</a:t>
            </a:r>
            <a:r>
              <a:rPr sz="1200" spc="18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transmits</a:t>
            </a:r>
            <a:r>
              <a:rPr sz="1200" spc="19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data</a:t>
            </a:r>
            <a:r>
              <a:rPr sz="1200" spc="18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faster</a:t>
            </a:r>
            <a:r>
              <a:rPr sz="1200" spc="18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than</a:t>
            </a:r>
            <a:r>
              <a:rPr sz="1200" spc="19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18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receiver</a:t>
            </a:r>
            <a:r>
              <a:rPr sz="1200" spc="180" dirty="0">
                <a:latin typeface="Cambria"/>
                <a:cs typeface="Cambria"/>
              </a:rPr>
              <a:t> </a:t>
            </a:r>
            <a:r>
              <a:rPr sz="1200" spc="-25" dirty="0">
                <a:latin typeface="Cambria"/>
                <a:cs typeface="Cambria"/>
              </a:rPr>
              <a:t>can </a:t>
            </a:r>
            <a:r>
              <a:rPr sz="1200" dirty="0">
                <a:latin typeface="Cambria"/>
                <a:cs typeface="Cambria"/>
              </a:rPr>
              <a:t>process,</a:t>
            </a:r>
            <a:r>
              <a:rPr sz="1200" spc="285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causing</a:t>
            </a:r>
            <a:r>
              <a:rPr sz="1200" spc="285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buffer</a:t>
            </a:r>
            <a:r>
              <a:rPr sz="1200" spc="280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overflow,</a:t>
            </a:r>
            <a:r>
              <a:rPr sz="1200" spc="290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retransmissions</a:t>
            </a:r>
            <a:r>
              <a:rPr sz="1200" spc="285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290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increased</a:t>
            </a:r>
            <a:r>
              <a:rPr sz="1200" spc="285" dirty="0">
                <a:latin typeface="Cambria"/>
                <a:cs typeface="Cambria"/>
              </a:rPr>
              <a:t>  </a:t>
            </a:r>
            <a:r>
              <a:rPr sz="1200" spc="-10" dirty="0">
                <a:latin typeface="Cambria"/>
                <a:cs typeface="Cambria"/>
              </a:rPr>
              <a:t>latency. </a:t>
            </a:r>
            <a:r>
              <a:rPr sz="1200" dirty="0">
                <a:latin typeface="Cambria"/>
                <a:cs typeface="Cambria"/>
              </a:rPr>
              <a:t>Implementing</a:t>
            </a:r>
            <a:r>
              <a:rPr sz="1200" spc="2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229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Sliding</a:t>
            </a:r>
            <a:r>
              <a:rPr sz="1200" spc="229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Window</a:t>
            </a:r>
            <a:r>
              <a:rPr sz="1200" spc="2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Protocol</a:t>
            </a:r>
            <a:r>
              <a:rPr sz="1200" spc="2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2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TCP</a:t>
            </a:r>
            <a:r>
              <a:rPr sz="1200" spc="229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Flow</a:t>
            </a:r>
            <a:r>
              <a:rPr sz="1200" spc="2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Control</a:t>
            </a:r>
            <a:r>
              <a:rPr sz="1200" spc="2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regulates</a:t>
            </a:r>
            <a:r>
              <a:rPr sz="1200" spc="235" dirty="0">
                <a:latin typeface="Cambria"/>
                <a:cs typeface="Cambria"/>
              </a:rPr>
              <a:t> </a:t>
            </a:r>
            <a:r>
              <a:rPr sz="1200" spc="-25" dirty="0">
                <a:latin typeface="Cambria"/>
                <a:cs typeface="Cambria"/>
              </a:rPr>
              <a:t>the </a:t>
            </a:r>
            <a:r>
              <a:rPr sz="1200" dirty="0">
                <a:latin typeface="Cambria"/>
                <a:cs typeface="Cambria"/>
              </a:rPr>
              <a:t>transmission</a:t>
            </a:r>
            <a:r>
              <a:rPr sz="1200" spc="330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rate,</a:t>
            </a:r>
            <a:r>
              <a:rPr sz="1200" spc="340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improves</a:t>
            </a:r>
            <a:r>
              <a:rPr sz="1200" spc="335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bandwidth</a:t>
            </a:r>
            <a:r>
              <a:rPr sz="1200" spc="325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utilization</a:t>
            </a:r>
            <a:r>
              <a:rPr sz="1200" spc="335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335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ensures</a:t>
            </a:r>
            <a:r>
              <a:rPr sz="1200" spc="335" dirty="0">
                <a:latin typeface="Cambria"/>
                <a:cs typeface="Cambria"/>
              </a:rPr>
              <a:t>  </a:t>
            </a:r>
            <a:r>
              <a:rPr sz="1200" spc="-10" dirty="0">
                <a:latin typeface="Cambria"/>
                <a:cs typeface="Cambria"/>
              </a:rPr>
              <a:t>reliable communication</a:t>
            </a:r>
            <a:r>
              <a:rPr sz="1200" spc="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during </a:t>
            </a:r>
            <a:r>
              <a:rPr sz="1200" spc="-10" dirty="0">
                <a:latin typeface="Cambria"/>
                <a:cs typeface="Cambria"/>
              </a:rPr>
              <a:t>high-</a:t>
            </a:r>
            <a:r>
              <a:rPr sz="1200" dirty="0">
                <a:latin typeface="Cambria"/>
                <a:cs typeface="Cambria"/>
              </a:rPr>
              <a:t>traffic</a:t>
            </a:r>
            <a:r>
              <a:rPr sz="1200" spc="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periods.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3152" y="1032923"/>
            <a:ext cx="5744210" cy="764984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98120" indent="-185420">
              <a:lnSpc>
                <a:spcPct val="100000"/>
              </a:lnSpc>
              <a:spcBef>
                <a:spcPts val="225"/>
              </a:spcBef>
              <a:buAutoNum type="arabicPeriod" startAt="6"/>
              <a:tabLst>
                <a:tab pos="198120" algn="l"/>
              </a:tabLst>
            </a:pPr>
            <a:r>
              <a:rPr sz="1400" b="1" dirty="0">
                <a:latin typeface="Cambria"/>
                <a:cs typeface="Cambria"/>
              </a:rPr>
              <a:t>Sample</a:t>
            </a:r>
            <a:r>
              <a:rPr sz="1400" b="1" spc="-15" dirty="0">
                <a:latin typeface="Cambria"/>
                <a:cs typeface="Cambria"/>
              </a:rPr>
              <a:t> </a:t>
            </a:r>
            <a:r>
              <a:rPr sz="1400" b="1" spc="-10" dirty="0">
                <a:latin typeface="Cambria"/>
                <a:cs typeface="Cambria"/>
              </a:rPr>
              <a:t>Pseudocode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mbria"/>
                <a:cs typeface="Cambria"/>
              </a:rPr>
              <a:t>START</a:t>
            </a:r>
            <a:endParaRPr sz="1200">
              <a:latin typeface="Cambria"/>
              <a:cs typeface="Cambria"/>
            </a:endParaRPr>
          </a:p>
          <a:p>
            <a:pPr marL="12700" marR="3781425">
              <a:lnSpc>
                <a:spcPct val="210800"/>
              </a:lnSpc>
              <a:spcBef>
                <a:spcPts val="5"/>
              </a:spcBef>
            </a:pPr>
            <a:r>
              <a:rPr sz="1200" dirty="0">
                <a:latin typeface="Cambria"/>
                <a:cs typeface="Cambria"/>
              </a:rPr>
              <a:t>Initialize</a:t>
            </a:r>
            <a:r>
              <a:rPr sz="1200" spc="-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Sender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Receiver </a:t>
            </a:r>
            <a:r>
              <a:rPr sz="1200" dirty="0">
                <a:latin typeface="Cambria"/>
                <a:cs typeface="Cambria"/>
              </a:rPr>
              <a:t>WHILE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Data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Available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200">
              <a:latin typeface="Cambria"/>
              <a:cs typeface="Cambria"/>
            </a:endParaRPr>
          </a:p>
          <a:p>
            <a:pPr marL="280670" marR="3329304" indent="-134620">
              <a:lnSpc>
                <a:spcPct val="105800"/>
              </a:lnSpc>
              <a:spcBef>
                <a:spcPts val="5"/>
              </a:spcBef>
            </a:pPr>
            <a:r>
              <a:rPr sz="1200" dirty="0">
                <a:latin typeface="Cambria"/>
                <a:cs typeface="Cambria"/>
              </a:rPr>
              <a:t>IF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Receiver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Buffer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has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Space</a:t>
            </a:r>
            <a:r>
              <a:rPr sz="1200" spc="-20" dirty="0">
                <a:latin typeface="Cambria"/>
                <a:cs typeface="Cambria"/>
              </a:rPr>
              <a:t> THEN </a:t>
            </a:r>
            <a:r>
              <a:rPr sz="1200" dirty="0">
                <a:latin typeface="Cambria"/>
                <a:cs typeface="Cambria"/>
              </a:rPr>
              <a:t>Send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Packet</a:t>
            </a:r>
            <a:endParaRPr sz="1200">
              <a:latin typeface="Cambria"/>
              <a:cs typeface="Cambria"/>
            </a:endParaRPr>
          </a:p>
          <a:p>
            <a:pPr marL="146685" marR="4614545" indent="133985">
              <a:lnSpc>
                <a:spcPts val="1520"/>
              </a:lnSpc>
              <a:spcBef>
                <a:spcPts val="55"/>
              </a:spcBef>
            </a:pPr>
            <a:r>
              <a:rPr sz="1200" dirty="0">
                <a:latin typeface="Cambria"/>
                <a:cs typeface="Cambria"/>
              </a:rPr>
              <a:t>Wait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for</a:t>
            </a:r>
            <a:r>
              <a:rPr sz="1200" spc="-25" dirty="0">
                <a:latin typeface="Cambria"/>
                <a:cs typeface="Cambria"/>
              </a:rPr>
              <a:t> ACK </a:t>
            </a:r>
            <a:r>
              <a:rPr sz="1200" spc="-20" dirty="0">
                <a:latin typeface="Cambria"/>
                <a:cs typeface="Cambria"/>
              </a:rPr>
              <a:t>ELSE</a:t>
            </a:r>
            <a:endParaRPr sz="1200">
              <a:latin typeface="Cambria"/>
              <a:cs typeface="Cambria"/>
            </a:endParaRPr>
          </a:p>
          <a:p>
            <a:pPr marL="280670">
              <a:lnSpc>
                <a:spcPct val="100000"/>
              </a:lnSpc>
              <a:spcBef>
                <a:spcPts val="15"/>
              </a:spcBef>
            </a:pPr>
            <a:r>
              <a:rPr sz="1200" dirty="0">
                <a:latin typeface="Cambria"/>
                <a:cs typeface="Cambria"/>
              </a:rPr>
              <a:t>Pause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Transmission</a:t>
            </a:r>
            <a:endParaRPr sz="1200">
              <a:latin typeface="Cambria"/>
              <a:cs typeface="Cambria"/>
            </a:endParaRPr>
          </a:p>
          <a:p>
            <a:pPr marL="146685">
              <a:lnSpc>
                <a:spcPct val="100000"/>
              </a:lnSpc>
              <a:spcBef>
                <a:spcPts val="85"/>
              </a:spcBef>
            </a:pPr>
            <a:r>
              <a:rPr sz="1200" spc="-10" dirty="0">
                <a:latin typeface="Cambria"/>
                <a:cs typeface="Cambria"/>
              </a:rPr>
              <a:t>ENDIF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200">
              <a:latin typeface="Cambria"/>
              <a:cs typeface="Cambria"/>
            </a:endParaRPr>
          </a:p>
          <a:p>
            <a:pPr marL="280670" marR="4106545" indent="-134620">
              <a:lnSpc>
                <a:spcPct val="105000"/>
              </a:lnSpc>
            </a:pPr>
            <a:r>
              <a:rPr sz="1200" dirty="0">
                <a:latin typeface="Cambria"/>
                <a:cs typeface="Cambria"/>
              </a:rPr>
              <a:t>IF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ACK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Received</a:t>
            </a:r>
            <a:r>
              <a:rPr sz="1200" spc="-20" dirty="0">
                <a:latin typeface="Cambria"/>
                <a:cs typeface="Cambria"/>
              </a:rPr>
              <a:t> THEN </a:t>
            </a:r>
            <a:r>
              <a:rPr sz="1200" dirty="0">
                <a:latin typeface="Cambria"/>
                <a:cs typeface="Cambria"/>
              </a:rPr>
              <a:t>Send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Next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Packet</a:t>
            </a:r>
            <a:endParaRPr sz="1200">
              <a:latin typeface="Cambria"/>
              <a:cs typeface="Cambria"/>
            </a:endParaRPr>
          </a:p>
          <a:p>
            <a:pPr marL="146685">
              <a:lnSpc>
                <a:spcPct val="100000"/>
              </a:lnSpc>
              <a:spcBef>
                <a:spcPts val="85"/>
              </a:spcBef>
            </a:pPr>
            <a:r>
              <a:rPr sz="1200" spc="-20" dirty="0">
                <a:latin typeface="Cambria"/>
                <a:cs typeface="Cambria"/>
              </a:rPr>
              <a:t>ELSE</a:t>
            </a:r>
            <a:endParaRPr sz="1200">
              <a:latin typeface="Cambria"/>
              <a:cs typeface="Cambria"/>
            </a:endParaRPr>
          </a:p>
          <a:p>
            <a:pPr marL="146685" marR="4258945" indent="133985">
              <a:lnSpc>
                <a:spcPts val="1520"/>
              </a:lnSpc>
              <a:spcBef>
                <a:spcPts val="55"/>
              </a:spcBef>
            </a:pPr>
            <a:r>
              <a:rPr sz="1200" spc="-10" dirty="0">
                <a:latin typeface="Cambria"/>
                <a:cs typeface="Cambria"/>
              </a:rPr>
              <a:t>Retransmit</a:t>
            </a:r>
            <a:r>
              <a:rPr sz="1200" spc="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Packet ENDIF</a:t>
            </a:r>
            <a:endParaRPr sz="1200">
              <a:latin typeface="Cambria"/>
              <a:cs typeface="Cambria"/>
            </a:endParaRPr>
          </a:p>
          <a:p>
            <a:pPr marL="12700" marR="4933315">
              <a:lnSpc>
                <a:spcPts val="3040"/>
              </a:lnSpc>
              <a:spcBef>
                <a:spcPts val="305"/>
              </a:spcBef>
            </a:pPr>
            <a:r>
              <a:rPr sz="1200" dirty="0">
                <a:latin typeface="Cambria"/>
                <a:cs typeface="Cambria"/>
              </a:rPr>
              <a:t>END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WHILE </a:t>
            </a:r>
            <a:r>
              <a:rPr sz="1200" spc="-20" dirty="0">
                <a:latin typeface="Cambria"/>
                <a:cs typeface="Cambria"/>
              </a:rPr>
              <a:t>STOP</a:t>
            </a:r>
            <a:endParaRPr sz="1200">
              <a:latin typeface="Cambria"/>
              <a:cs typeface="Cambria"/>
            </a:endParaRPr>
          </a:p>
          <a:p>
            <a:pPr marL="198120" indent="-185420">
              <a:lnSpc>
                <a:spcPct val="100000"/>
              </a:lnSpc>
              <a:spcBef>
                <a:spcPts val="1205"/>
              </a:spcBef>
              <a:buAutoNum type="arabicPeriod" startAt="7"/>
              <a:tabLst>
                <a:tab pos="198120" algn="l"/>
              </a:tabLst>
            </a:pPr>
            <a:r>
              <a:rPr sz="1400" b="1" dirty="0">
                <a:latin typeface="Cambria"/>
                <a:cs typeface="Cambria"/>
              </a:rPr>
              <a:t>Expected</a:t>
            </a:r>
            <a:r>
              <a:rPr sz="1400" b="1" spc="-30" dirty="0">
                <a:latin typeface="Cambria"/>
                <a:cs typeface="Cambria"/>
              </a:rPr>
              <a:t> </a:t>
            </a:r>
            <a:r>
              <a:rPr sz="1400" b="1" spc="-10" dirty="0">
                <a:latin typeface="Cambria"/>
                <a:cs typeface="Cambria"/>
              </a:rPr>
              <a:t>Result</a:t>
            </a:r>
            <a:endParaRPr sz="1400">
              <a:latin typeface="Cambria"/>
              <a:cs typeface="Cambria"/>
            </a:endParaRPr>
          </a:p>
          <a:p>
            <a:pPr marL="323215" lvl="1" indent="-228600">
              <a:lnSpc>
                <a:spcPct val="100000"/>
              </a:lnSpc>
              <a:spcBef>
                <a:spcPts val="114"/>
              </a:spcBef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dirty="0">
                <a:latin typeface="Cambria"/>
                <a:cs typeface="Cambria"/>
              </a:rPr>
              <a:t>Complete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accurate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download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of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examination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data.</a:t>
            </a:r>
            <a:endParaRPr sz="1200">
              <a:latin typeface="Cambria"/>
              <a:cs typeface="Cambria"/>
            </a:endParaRPr>
          </a:p>
          <a:p>
            <a:pPr marL="323215" lvl="1" indent="-228600">
              <a:lnSpc>
                <a:spcPct val="100000"/>
              </a:lnSpc>
              <a:spcBef>
                <a:spcPts val="75"/>
              </a:spcBef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dirty="0">
                <a:latin typeface="Cambria"/>
                <a:cs typeface="Cambria"/>
              </a:rPr>
              <a:t>Reduced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packet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loss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retransmissions.</a:t>
            </a:r>
            <a:endParaRPr sz="1200">
              <a:latin typeface="Cambria"/>
              <a:cs typeface="Cambria"/>
            </a:endParaRPr>
          </a:p>
          <a:p>
            <a:pPr marL="323215" lvl="1" indent="-228600">
              <a:lnSpc>
                <a:spcPct val="100000"/>
              </a:lnSpc>
              <a:spcBef>
                <a:spcPts val="85"/>
              </a:spcBef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dirty="0">
                <a:latin typeface="Cambria"/>
                <a:cs typeface="Cambria"/>
              </a:rPr>
              <a:t>No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receiver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buffer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overflow.</a:t>
            </a:r>
            <a:endParaRPr sz="1200">
              <a:latin typeface="Cambria"/>
              <a:cs typeface="Cambria"/>
            </a:endParaRPr>
          </a:p>
          <a:p>
            <a:pPr marL="323215" lvl="1" indent="-228600">
              <a:lnSpc>
                <a:spcPct val="100000"/>
              </a:lnSpc>
              <a:spcBef>
                <a:spcPts val="70"/>
              </a:spcBef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dirty="0">
                <a:latin typeface="Cambria"/>
                <a:cs typeface="Cambria"/>
              </a:rPr>
              <a:t>Faster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page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loading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improved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throughput.</a:t>
            </a:r>
            <a:endParaRPr sz="1200">
              <a:latin typeface="Cambria"/>
              <a:cs typeface="Cambria"/>
            </a:endParaRPr>
          </a:p>
          <a:p>
            <a:pPr marL="323215" lvl="1" indent="-228600">
              <a:lnSpc>
                <a:spcPct val="100000"/>
              </a:lnSpc>
              <a:spcBef>
                <a:spcPts val="85"/>
              </a:spcBef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dirty="0">
                <a:latin typeface="Cambria"/>
                <a:cs typeface="Cambria"/>
              </a:rPr>
              <a:t>Better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bandwidth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utilization.</a:t>
            </a:r>
            <a:endParaRPr sz="1200">
              <a:latin typeface="Cambria"/>
              <a:cs typeface="Cambria"/>
            </a:endParaRPr>
          </a:p>
          <a:p>
            <a:pPr marL="323215" lvl="1" indent="-228600">
              <a:lnSpc>
                <a:spcPct val="100000"/>
              </a:lnSpc>
              <a:spcBef>
                <a:spcPts val="70"/>
              </a:spcBef>
              <a:buSzPct val="83333"/>
              <a:buFont typeface="Symbol"/>
              <a:buChar char=""/>
              <a:tabLst>
                <a:tab pos="323215" algn="l"/>
              </a:tabLst>
            </a:pPr>
            <a:r>
              <a:rPr sz="1200" dirty="0">
                <a:latin typeface="Cambria"/>
                <a:cs typeface="Cambria"/>
              </a:rPr>
              <a:t>Reliable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efficient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communication</a:t>
            </a:r>
            <a:r>
              <a:rPr sz="1200" spc="-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during</a:t>
            </a:r>
            <a:r>
              <a:rPr sz="1200" spc="-4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online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examinations.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400" b="1" spc="-10" dirty="0">
                <a:latin typeface="Cambria"/>
                <a:cs typeface="Cambria"/>
              </a:rPr>
              <a:t>Conclusion</a:t>
            </a:r>
            <a:endParaRPr sz="1400">
              <a:latin typeface="Cambria"/>
              <a:cs typeface="Cambria"/>
            </a:endParaRPr>
          </a:p>
          <a:p>
            <a:pPr marL="241300" marR="5080" indent="-228600" algn="just">
              <a:lnSpc>
                <a:spcPct val="105300"/>
              </a:lnSpc>
              <a:spcBef>
                <a:spcPts val="40"/>
              </a:spcBef>
            </a:pPr>
            <a:r>
              <a:rPr sz="1200" dirty="0">
                <a:latin typeface="Cambria"/>
                <a:cs typeface="Cambria"/>
              </a:rPr>
              <a:t>The</a:t>
            </a:r>
            <a:r>
              <a:rPr sz="1200" spc="47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communication</a:t>
            </a:r>
            <a:r>
              <a:rPr sz="1200" spc="48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problems</a:t>
            </a:r>
            <a:r>
              <a:rPr sz="1200" spc="48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were</a:t>
            </a:r>
            <a:r>
              <a:rPr sz="1200" spc="49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caused</a:t>
            </a:r>
            <a:r>
              <a:rPr sz="1200" spc="484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by</a:t>
            </a:r>
            <a:r>
              <a:rPr sz="1200" spc="47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inefficient</a:t>
            </a:r>
            <a:r>
              <a:rPr sz="1200" spc="47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flow</a:t>
            </a:r>
            <a:r>
              <a:rPr sz="1200" spc="484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control,</a:t>
            </a:r>
            <a:r>
              <a:rPr sz="1200" spc="48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network </a:t>
            </a:r>
            <a:r>
              <a:rPr sz="1200" dirty="0">
                <a:latin typeface="Cambria"/>
                <a:cs typeface="Cambria"/>
              </a:rPr>
              <a:t>congestion</a:t>
            </a:r>
            <a:r>
              <a:rPr sz="1200" spc="29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3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receiver</a:t>
            </a:r>
            <a:r>
              <a:rPr sz="1200" spc="30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buffer</a:t>
            </a:r>
            <a:r>
              <a:rPr sz="1200" spc="3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overflow.</a:t>
            </a:r>
            <a:r>
              <a:rPr sz="1200" spc="30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By</a:t>
            </a:r>
            <a:r>
              <a:rPr sz="1200" spc="3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implementing</a:t>
            </a:r>
            <a:r>
              <a:rPr sz="1200" spc="29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30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Sliding</a:t>
            </a:r>
            <a:r>
              <a:rPr sz="1200" spc="30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Window </a:t>
            </a:r>
            <a:r>
              <a:rPr sz="1200" dirty="0">
                <a:latin typeface="Cambria"/>
                <a:cs typeface="Cambria"/>
              </a:rPr>
              <a:t>Protocol,</a:t>
            </a:r>
            <a:r>
              <a:rPr sz="1200" spc="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TCP</a:t>
            </a:r>
            <a:r>
              <a:rPr sz="1200" spc="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Flow</a:t>
            </a:r>
            <a:r>
              <a:rPr sz="1200" spc="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Control,</a:t>
            </a:r>
            <a:r>
              <a:rPr sz="1200" spc="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congestion</a:t>
            </a:r>
            <a:r>
              <a:rPr sz="1200" spc="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control</a:t>
            </a:r>
            <a:r>
              <a:rPr sz="1200" spc="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QoS,</a:t>
            </a:r>
            <a:r>
              <a:rPr sz="1200" spc="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education</a:t>
            </a:r>
            <a:r>
              <a:rPr sz="1200" spc="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platform</a:t>
            </a:r>
            <a:r>
              <a:rPr sz="1200" spc="10" dirty="0">
                <a:latin typeface="Cambria"/>
                <a:cs typeface="Cambria"/>
              </a:rPr>
              <a:t> </a:t>
            </a:r>
            <a:r>
              <a:rPr sz="1200" spc="-25" dirty="0">
                <a:latin typeface="Cambria"/>
                <a:cs typeface="Cambria"/>
              </a:rPr>
              <a:t>can </a:t>
            </a:r>
            <a:r>
              <a:rPr sz="1200" dirty="0">
                <a:latin typeface="Cambria"/>
                <a:cs typeface="Cambria"/>
              </a:rPr>
              <a:t>achieve</a:t>
            </a:r>
            <a:r>
              <a:rPr sz="1200" spc="155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reliable</a:t>
            </a:r>
            <a:r>
              <a:rPr sz="1200" spc="160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data</a:t>
            </a:r>
            <a:r>
              <a:rPr sz="1200" spc="160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transmission,</a:t>
            </a:r>
            <a:r>
              <a:rPr sz="1200" spc="160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reduced</a:t>
            </a:r>
            <a:r>
              <a:rPr sz="1200" spc="155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latency</a:t>
            </a:r>
            <a:r>
              <a:rPr sz="1200" spc="155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160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improved</a:t>
            </a:r>
            <a:r>
              <a:rPr sz="1200" spc="165" dirty="0">
                <a:latin typeface="Cambria"/>
                <a:cs typeface="Cambria"/>
              </a:rPr>
              <a:t>  </a:t>
            </a:r>
            <a:r>
              <a:rPr sz="1200" spc="-10" dirty="0">
                <a:latin typeface="Cambria"/>
                <a:cs typeface="Cambria"/>
              </a:rPr>
              <a:t>network </a:t>
            </a:r>
            <a:r>
              <a:rPr sz="1200" dirty="0">
                <a:latin typeface="Cambria"/>
                <a:cs typeface="Cambria"/>
              </a:rPr>
              <a:t>performance.</a:t>
            </a:r>
            <a:r>
              <a:rPr sz="1200" spc="9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These</a:t>
            </a:r>
            <a:r>
              <a:rPr sz="1200" spc="10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optimizations</a:t>
            </a:r>
            <a:r>
              <a:rPr sz="1200" spc="10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ensure</a:t>
            </a:r>
            <a:r>
              <a:rPr sz="1200" spc="9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smooth</a:t>
            </a:r>
            <a:r>
              <a:rPr sz="1200" spc="9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online</a:t>
            </a:r>
            <a:r>
              <a:rPr sz="1200" spc="10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classes</a:t>
            </a:r>
            <a:r>
              <a:rPr sz="1200" spc="9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9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examinations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-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satisfy</a:t>
            </a:r>
            <a:r>
              <a:rPr sz="1200" spc="-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-1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Level</a:t>
            </a:r>
            <a:r>
              <a:rPr sz="1200" b="1" spc="-2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4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(Exemplary)</a:t>
            </a:r>
            <a:r>
              <a:rPr sz="1200" b="1" spc="-1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asses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3524</Words>
  <Application>Microsoft Office PowerPoint</Application>
  <PresentationFormat>Custom</PresentationFormat>
  <Paragraphs>378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Cambria</vt:lpstr>
      <vt:lpstr>Courier New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Arjun Basava</dc:creator>
  <cp:lastModifiedBy>harshit pasupuleti</cp:lastModifiedBy>
  <cp:revision>1</cp:revision>
  <dcterms:created xsi:type="dcterms:W3CDTF">2026-07-30T04:31:22Z</dcterms:created>
  <dcterms:modified xsi:type="dcterms:W3CDTF">2026-07-30T04:33:02Z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2026-07-28T00:00:00Z</vt:filetime>
  </property>
  <property fmtid="{D5CDD505-2E9C-101B-9397-08002B2CF9AE}" pid="4" name="Creator">
    <vt:lpwstr>Microsoft® Word 2024</vt:lpwstr>
  </property>
  <property fmtid="{D5CDD505-2E9C-101B-9397-08002B2CF9AE}" pid="5" name="LastSaved">
    <vt:filetime>2026-07-30T00:00:00Z</vt:filetime>
  </property>
  <property fmtid="{D5CDD505-2E9C-101B-9397-08002B2CF9AE}" pid="6" name="Producer">
    <vt:lpwstr>Microsoft® Word 2024</vt:lpwstr>
  </property>
</Properties>
</file>