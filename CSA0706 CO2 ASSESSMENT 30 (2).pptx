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7556500" cy="10680700"/>
  <p:notesSz cx="7556500" cy="10680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1017"/>
            <a:ext cx="6423025" cy="2242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1192"/>
            <a:ext cx="5289550" cy="267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228"/>
            <a:ext cx="6800850" cy="1708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6561"/>
            <a:ext cx="6800850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33051"/>
            <a:ext cx="2418080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7657" y="883665"/>
            <a:ext cx="2455545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10"/>
              </a:lnSpc>
              <a:spcBef>
                <a:spcPts val="100"/>
              </a:spcBef>
            </a:pPr>
            <a:r>
              <a:rPr sz="1700" b="1" dirty="0">
                <a:latin typeface="Times New Roman"/>
                <a:cs typeface="Times New Roman"/>
              </a:rPr>
              <a:t>SIMATS</a:t>
            </a:r>
            <a:r>
              <a:rPr sz="1700" b="1" spc="-7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ENGINEERING</a:t>
            </a:r>
            <a:endParaRPr sz="1700">
              <a:latin typeface="Times New Roman"/>
              <a:cs typeface="Times New Roman"/>
            </a:endParaRPr>
          </a:p>
          <a:p>
            <a:pPr marR="40640" algn="ctr">
              <a:lnSpc>
                <a:spcPts val="1650"/>
              </a:lnSpc>
            </a:pPr>
            <a:r>
              <a:rPr sz="1400" b="1" dirty="0">
                <a:latin typeface="Times New Roman"/>
                <a:cs typeface="Times New Roman"/>
              </a:rPr>
              <a:t>ASSESSMENT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TOOL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838071"/>
            <a:ext cx="3042285" cy="38227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1370"/>
              </a:lnSpc>
              <a:spcBef>
                <a:spcPts val="200"/>
              </a:spcBef>
            </a:pPr>
            <a:r>
              <a:rPr sz="1200" b="1" spc="-10" dirty="0">
                <a:latin typeface="Arial"/>
                <a:cs typeface="Arial"/>
              </a:rPr>
              <a:t>COURSE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NAME: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COMPUTER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NETWORKS </a:t>
            </a:r>
            <a:r>
              <a:rPr sz="1200" b="1" dirty="0">
                <a:latin typeface="Arial"/>
                <a:cs typeface="Arial"/>
              </a:rPr>
              <a:t>COURSE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CODE:</a:t>
            </a:r>
            <a:r>
              <a:rPr sz="1200" b="1" spc="-10" dirty="0">
                <a:latin typeface="Arial"/>
                <a:cs typeface="Arial"/>
              </a:rPr>
              <a:t> CSA0706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2889885"/>
            <a:ext cx="5746750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COURSE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OUTCOME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COVERED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660"/>
              </a:lnSpc>
            </a:pPr>
            <a:r>
              <a:rPr sz="1200" b="1" i="1" dirty="0">
                <a:latin typeface="Arial"/>
                <a:cs typeface="Arial"/>
              </a:rPr>
              <a:t>CO2:</a:t>
            </a:r>
            <a:r>
              <a:rPr sz="1200" b="1" i="1" spc="-40" dirty="0">
                <a:latin typeface="Arial"/>
                <a:cs typeface="Arial"/>
              </a:rPr>
              <a:t> </a:t>
            </a:r>
            <a:r>
              <a:rPr sz="2100" baseline="1984" dirty="0">
                <a:latin typeface="Times New Roman"/>
                <a:cs typeface="Times New Roman"/>
              </a:rPr>
              <a:t>Configure</a:t>
            </a:r>
            <a:r>
              <a:rPr sz="2100" spc="-60" baseline="1984" dirty="0">
                <a:latin typeface="Times New Roman"/>
                <a:cs typeface="Times New Roman"/>
              </a:rPr>
              <a:t> </a:t>
            </a:r>
            <a:r>
              <a:rPr sz="2100" baseline="1984" dirty="0">
                <a:latin typeface="Times New Roman"/>
                <a:cs typeface="Times New Roman"/>
              </a:rPr>
              <a:t>IP</a:t>
            </a:r>
            <a:r>
              <a:rPr sz="2100" spc="-75" baseline="1984" dirty="0">
                <a:latin typeface="Times New Roman"/>
                <a:cs typeface="Times New Roman"/>
              </a:rPr>
              <a:t> </a:t>
            </a:r>
            <a:r>
              <a:rPr sz="2100" baseline="1984" dirty="0">
                <a:latin typeface="Times New Roman"/>
                <a:cs typeface="Times New Roman"/>
              </a:rPr>
              <a:t>addressing</a:t>
            </a:r>
            <a:r>
              <a:rPr sz="2100" spc="-104" baseline="1984" dirty="0">
                <a:latin typeface="Times New Roman"/>
                <a:cs typeface="Times New Roman"/>
              </a:rPr>
              <a:t> </a:t>
            </a:r>
            <a:r>
              <a:rPr sz="2100" baseline="1984" dirty="0">
                <a:latin typeface="Times New Roman"/>
                <a:cs typeface="Times New Roman"/>
              </a:rPr>
              <a:t>schemes,</a:t>
            </a:r>
            <a:r>
              <a:rPr sz="2100" spc="-44" baseline="1984" dirty="0">
                <a:latin typeface="Times New Roman"/>
                <a:cs typeface="Times New Roman"/>
              </a:rPr>
              <a:t> </a:t>
            </a:r>
            <a:r>
              <a:rPr sz="2100" baseline="1984" dirty="0">
                <a:latin typeface="Times New Roman"/>
                <a:cs typeface="Times New Roman"/>
              </a:rPr>
              <a:t>subnetting,</a:t>
            </a:r>
            <a:r>
              <a:rPr sz="2100" spc="-52" baseline="1984" dirty="0">
                <a:latin typeface="Times New Roman"/>
                <a:cs typeface="Times New Roman"/>
              </a:rPr>
              <a:t> </a:t>
            </a:r>
            <a:r>
              <a:rPr sz="2100" baseline="1984" dirty="0">
                <a:latin typeface="Times New Roman"/>
                <a:cs typeface="Times New Roman"/>
              </a:rPr>
              <a:t>and</a:t>
            </a:r>
            <a:r>
              <a:rPr sz="2100" spc="-67" baseline="1984" dirty="0">
                <a:latin typeface="Times New Roman"/>
                <a:cs typeface="Times New Roman"/>
              </a:rPr>
              <a:t> </a:t>
            </a:r>
            <a:r>
              <a:rPr sz="2100" baseline="1984" dirty="0">
                <a:latin typeface="Times New Roman"/>
                <a:cs typeface="Times New Roman"/>
              </a:rPr>
              <a:t>basic</a:t>
            </a:r>
            <a:r>
              <a:rPr sz="2100" spc="-67" baseline="1984" dirty="0">
                <a:latin typeface="Times New Roman"/>
                <a:cs typeface="Times New Roman"/>
              </a:rPr>
              <a:t> </a:t>
            </a:r>
            <a:r>
              <a:rPr sz="2100" baseline="1984" dirty="0">
                <a:latin typeface="Times New Roman"/>
                <a:cs typeface="Times New Roman"/>
              </a:rPr>
              <a:t>routing</a:t>
            </a:r>
            <a:r>
              <a:rPr sz="2100" spc="-67" baseline="1984" dirty="0">
                <a:latin typeface="Times New Roman"/>
                <a:cs typeface="Times New Roman"/>
              </a:rPr>
              <a:t> </a:t>
            </a:r>
            <a:r>
              <a:rPr sz="2100" spc="-15" baseline="1984" dirty="0">
                <a:latin typeface="Times New Roman"/>
                <a:cs typeface="Times New Roman"/>
              </a:rPr>
              <a:t>techniques </a:t>
            </a:r>
            <a:r>
              <a:rPr sz="2100" baseline="3968" dirty="0">
                <a:latin typeface="Times New Roman"/>
                <a:cs typeface="Times New Roman"/>
              </a:rPr>
              <a:t>using</a:t>
            </a:r>
            <a:r>
              <a:rPr sz="2100" spc="-89" baseline="3968" dirty="0">
                <a:latin typeface="Times New Roman"/>
                <a:cs typeface="Times New Roman"/>
              </a:rPr>
              <a:t> </a:t>
            </a:r>
            <a:r>
              <a:rPr sz="2100" baseline="3968" dirty="0">
                <a:latin typeface="Times New Roman"/>
                <a:cs typeface="Times New Roman"/>
              </a:rPr>
              <a:t>simulation</a:t>
            </a:r>
            <a:r>
              <a:rPr sz="2100" spc="-89" baseline="3968" dirty="0">
                <a:latin typeface="Times New Roman"/>
                <a:cs typeface="Times New Roman"/>
              </a:rPr>
              <a:t> </a:t>
            </a:r>
            <a:r>
              <a:rPr sz="2100" baseline="3968" dirty="0">
                <a:latin typeface="Times New Roman"/>
                <a:cs typeface="Times New Roman"/>
              </a:rPr>
              <a:t>tool,</a:t>
            </a:r>
            <a:r>
              <a:rPr sz="2100" spc="-7" baseline="3968" dirty="0">
                <a:latin typeface="Times New Roman"/>
                <a:cs typeface="Times New Roman"/>
              </a:rPr>
              <a:t> </a:t>
            </a:r>
            <a:r>
              <a:rPr sz="2100" baseline="3968" dirty="0">
                <a:latin typeface="Times New Roman"/>
                <a:cs typeface="Times New Roman"/>
              </a:rPr>
              <a:t>for</a:t>
            </a:r>
            <a:r>
              <a:rPr sz="2100" spc="-60" baseline="3968" dirty="0">
                <a:latin typeface="Times New Roman"/>
                <a:cs typeface="Times New Roman"/>
              </a:rPr>
              <a:t> </a:t>
            </a:r>
            <a:r>
              <a:rPr sz="2100" baseline="3968" dirty="0">
                <a:latin typeface="Times New Roman"/>
                <a:cs typeface="Times New Roman"/>
              </a:rPr>
              <a:t>efficient</a:t>
            </a:r>
            <a:r>
              <a:rPr sz="2100" spc="-60" baseline="3968" dirty="0">
                <a:latin typeface="Times New Roman"/>
                <a:cs typeface="Times New Roman"/>
              </a:rPr>
              <a:t> </a:t>
            </a:r>
            <a:r>
              <a:rPr sz="2100" baseline="3968" dirty="0">
                <a:latin typeface="Times New Roman"/>
                <a:cs typeface="Times New Roman"/>
              </a:rPr>
              <a:t>network</a:t>
            </a:r>
            <a:r>
              <a:rPr sz="2100" spc="-22" baseline="3968" dirty="0">
                <a:latin typeface="Times New Roman"/>
                <a:cs typeface="Times New Roman"/>
              </a:rPr>
              <a:t> </a:t>
            </a:r>
            <a:r>
              <a:rPr sz="2100" baseline="3968" dirty="0">
                <a:latin typeface="Times New Roman"/>
                <a:cs typeface="Times New Roman"/>
              </a:rPr>
              <a:t>design</a:t>
            </a:r>
            <a:r>
              <a:rPr sz="2100" spc="-89" baseline="3968" dirty="0">
                <a:latin typeface="Times New Roman"/>
                <a:cs typeface="Times New Roman"/>
              </a:rPr>
              <a:t> </a:t>
            </a:r>
            <a:r>
              <a:rPr sz="2100" baseline="3968" dirty="0">
                <a:latin typeface="Times New Roman"/>
                <a:cs typeface="Times New Roman"/>
              </a:rPr>
              <a:t>and</a:t>
            </a:r>
            <a:r>
              <a:rPr sz="2100" spc="-7" baseline="3968" dirty="0">
                <a:latin typeface="Times New Roman"/>
                <a:cs typeface="Times New Roman"/>
              </a:rPr>
              <a:t> </a:t>
            </a:r>
            <a:r>
              <a:rPr sz="2100" baseline="3968" dirty="0">
                <a:latin typeface="Times New Roman"/>
                <a:cs typeface="Times New Roman"/>
              </a:rPr>
              <a:t>topology</a:t>
            </a:r>
            <a:r>
              <a:rPr sz="1800" i="1" baseline="2314" dirty="0">
                <a:latin typeface="Arial"/>
                <a:cs typeface="Arial"/>
              </a:rPr>
              <a:t>.</a:t>
            </a:r>
            <a:r>
              <a:rPr sz="1800" i="1" spc="-52" baseline="2314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(BL3)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1200" i="1" dirty="0">
                <a:latin typeface="Arial"/>
                <a:cs typeface="Arial"/>
              </a:rPr>
              <a:t>Assessment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Tool</a:t>
            </a:r>
            <a:r>
              <a:rPr sz="1200" i="1" spc="-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Weightage: </a:t>
            </a:r>
            <a:r>
              <a:rPr sz="1200" i="1" spc="-25" dirty="0">
                <a:latin typeface="Arial"/>
                <a:cs typeface="Arial"/>
              </a:rPr>
              <a:t>30%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5066" y="4701032"/>
            <a:ext cx="822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Annexure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226" y="5048504"/>
            <a:ext cx="153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Scenario-</a:t>
            </a:r>
            <a:r>
              <a:rPr sz="1800" b="1" spc="-20" dirty="0">
                <a:latin typeface="Times New Roman"/>
                <a:cs typeface="Times New Roman"/>
              </a:rPr>
              <a:t>Based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5841238"/>
            <a:ext cx="5784850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Times New Roman"/>
                <a:cs typeface="Times New Roman"/>
              </a:rPr>
              <a:t>Code</a:t>
            </a:r>
            <a:r>
              <a:rPr sz="1200" b="1" i="1" spc="-15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of </a:t>
            </a:r>
            <a:r>
              <a:rPr sz="1200" b="1" i="1" spc="-10" dirty="0">
                <a:latin typeface="Times New Roman"/>
                <a:cs typeface="Times New Roman"/>
              </a:rPr>
              <a:t>Conduct: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ts val="1390"/>
              </a:lnSpc>
              <a:spcBef>
                <a:spcPts val="5"/>
              </a:spcBef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lang="en-US" sz="1200" i="1" spc="-5" dirty="0">
                <a:latin typeface="Times New Roman"/>
                <a:cs typeface="Times New Roman"/>
              </a:rPr>
              <a:t>GODDAVULA NITISH KANTH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(1925</a:t>
            </a:r>
            <a:r>
              <a:rPr lang="en-US" sz="1200" i="1" dirty="0">
                <a:latin typeface="Times New Roman"/>
                <a:cs typeface="Times New Roman"/>
              </a:rPr>
              <a:t>12232</a:t>
            </a:r>
            <a:r>
              <a:rPr sz="1200" i="1" dirty="0">
                <a:latin typeface="Times New Roman"/>
                <a:cs typeface="Times New Roman"/>
              </a:rPr>
              <a:t>)</a:t>
            </a:r>
            <a:r>
              <a:rPr sz="1200" i="1" spc="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certify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this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submission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my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original</a:t>
            </a:r>
            <a:r>
              <a:rPr sz="1200" i="1" spc="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work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and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spc="-20" dirty="0">
                <a:latin typeface="Times New Roman"/>
                <a:cs typeface="Times New Roman"/>
              </a:rPr>
              <a:t>have </a:t>
            </a:r>
            <a:r>
              <a:rPr sz="1200" i="1" dirty="0">
                <a:latin typeface="Times New Roman"/>
                <a:cs typeface="Times New Roman"/>
              </a:rPr>
              <a:t>adhered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to the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guidelines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specified</a:t>
            </a:r>
            <a:r>
              <a:rPr sz="1200" i="1" spc="-4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this</a:t>
            </a:r>
            <a:r>
              <a:rPr sz="1200" i="1" spc="-10" dirty="0">
                <a:latin typeface="Times New Roman"/>
                <a:cs typeface="Times New Roman"/>
              </a:rPr>
              <a:t> assessment.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ts val="1330"/>
              </a:lnSpc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understand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that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any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violation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of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academic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integrity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rules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will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result</a:t>
            </a:r>
            <a:r>
              <a:rPr sz="1200" i="1" spc="-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in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disciplinary</a:t>
            </a:r>
            <a:r>
              <a:rPr sz="1200" i="1" spc="1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action.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b="1" i="1" dirty="0">
                <a:latin typeface="Times New Roman"/>
                <a:cs typeface="Times New Roman"/>
              </a:rPr>
              <a:t>Signature</a:t>
            </a:r>
            <a:r>
              <a:rPr sz="1200" b="1" i="1" spc="-2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of</a:t>
            </a:r>
            <a:r>
              <a:rPr sz="1200" b="1" i="1" spc="-25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the</a:t>
            </a:r>
            <a:r>
              <a:rPr sz="1200" b="1" i="1" spc="-5" dirty="0">
                <a:latin typeface="Times New Roman"/>
                <a:cs typeface="Times New Roman"/>
              </a:rPr>
              <a:t> </a:t>
            </a:r>
            <a:r>
              <a:rPr sz="1200" b="1" i="1" spc="-10" dirty="0">
                <a:latin typeface="Times New Roman"/>
                <a:cs typeface="Times New Roman"/>
              </a:rPr>
              <a:t>student:</a:t>
            </a:r>
            <a:r>
              <a:rPr sz="1200" b="1" i="1" spc="-25" dirty="0">
                <a:latin typeface="Times New Roman"/>
                <a:cs typeface="Times New Roman"/>
              </a:rPr>
              <a:t> </a:t>
            </a:r>
            <a:r>
              <a:rPr lang="en-US" sz="1200" b="1" i="1" spc="-10" dirty="0">
                <a:latin typeface="Times New Roman"/>
                <a:cs typeface="Times New Roman"/>
              </a:rPr>
              <a:t>G . </a:t>
            </a:r>
            <a:r>
              <a:rPr lang="en-US" sz="1200" b="1" i="1" spc="-10">
                <a:latin typeface="Times New Roman"/>
                <a:cs typeface="Times New Roman"/>
              </a:rPr>
              <a:t>Nitish Kanth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1"/>
            <a:ext cx="5788660" cy="869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211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Annexure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  <a:p>
            <a:pPr marR="349885" algn="ctr">
              <a:lnSpc>
                <a:spcPct val="100000"/>
              </a:lnSpc>
              <a:spcBef>
                <a:spcPts val="1295"/>
              </a:spcBef>
            </a:pPr>
            <a:r>
              <a:rPr sz="1800" b="1" spc="-10" dirty="0">
                <a:latin typeface="Times New Roman"/>
                <a:cs typeface="Times New Roman"/>
              </a:rPr>
              <a:t>Scenario-</a:t>
            </a:r>
            <a:r>
              <a:rPr sz="1800" b="1" spc="-20" dirty="0">
                <a:latin typeface="Times New Roman"/>
                <a:cs typeface="Times New Roman"/>
              </a:rPr>
              <a:t>Based</a:t>
            </a:r>
            <a:endParaRPr sz="1800">
              <a:latin typeface="Times New Roman"/>
              <a:cs typeface="Times New Roman"/>
            </a:endParaRPr>
          </a:p>
          <a:p>
            <a:pPr marL="12700" marR="9525" indent="264160" algn="just">
              <a:lnSpc>
                <a:spcPct val="144000"/>
              </a:lnSpc>
              <a:spcBef>
                <a:spcPts val="525"/>
              </a:spcBef>
              <a:buAutoNum type="arabicPeriod"/>
              <a:tabLst>
                <a:tab pos="276860" algn="l"/>
              </a:tabLst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15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newly</a:t>
            </a:r>
            <a:r>
              <a:rPr sz="1400" spc="14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established</a:t>
            </a:r>
            <a:r>
              <a:rPr sz="1400" spc="15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Smart</a:t>
            </a:r>
            <a:r>
              <a:rPr sz="1400" spc="15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Campus</a:t>
            </a:r>
            <a:r>
              <a:rPr sz="1400" spc="15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15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deploying</a:t>
            </a:r>
            <a:r>
              <a:rPr sz="1400" spc="14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15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secure</a:t>
            </a:r>
            <a:r>
              <a:rPr sz="1400" spc="155" dirty="0">
                <a:latin typeface="Times New Roman"/>
                <a:cs typeface="Times New Roman"/>
              </a:rPr>
              <a:t>  </a:t>
            </a:r>
            <a:r>
              <a:rPr sz="1400" spc="-10" dirty="0">
                <a:latin typeface="Times New Roman"/>
                <a:cs typeface="Times New Roman"/>
              </a:rPr>
              <a:t>network </a:t>
            </a:r>
            <a:r>
              <a:rPr sz="1400" dirty="0">
                <a:latin typeface="Times New Roman"/>
                <a:cs typeface="Times New Roman"/>
              </a:rPr>
              <a:t>infrastructure</a:t>
            </a:r>
            <a:r>
              <a:rPr sz="1400" spc="3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its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academic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2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administrative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departments.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network administrator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been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allocated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block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192.168.100.0/24.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Based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on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expected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number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devices,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following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subnet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masks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already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been </a:t>
            </a:r>
            <a:r>
              <a:rPr sz="1400" spc="-10" dirty="0">
                <a:latin typeface="Times New Roman"/>
                <a:cs typeface="Times New Roman"/>
              </a:rPr>
              <a:t>assigned:</a:t>
            </a:r>
            <a:endParaRPr sz="1400">
              <a:latin typeface="Times New Roman"/>
              <a:cs typeface="Times New Roman"/>
            </a:endParaRPr>
          </a:p>
          <a:p>
            <a:pPr marL="12700" marR="3751579">
              <a:lnSpc>
                <a:spcPct val="143000"/>
              </a:lnSpc>
              <a:spcBef>
                <a:spcPts val="25"/>
              </a:spcBef>
            </a:pPr>
            <a:r>
              <a:rPr sz="1400" spc="-10" dirty="0">
                <a:latin typeface="Times New Roman"/>
                <a:cs typeface="Times New Roman"/>
              </a:rPr>
              <a:t>School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Computing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/25 </a:t>
            </a:r>
            <a:r>
              <a:rPr sz="1400" dirty="0">
                <a:latin typeface="Times New Roman"/>
                <a:cs typeface="Times New Roman"/>
              </a:rPr>
              <a:t>School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Electronics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/26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dirty="0">
                <a:latin typeface="Times New Roman"/>
                <a:cs typeface="Times New Roman"/>
              </a:rPr>
              <a:t>School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Mechanical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Engineering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/27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124460">
              <a:lnSpc>
                <a:spcPct val="144400"/>
              </a:lnSpc>
            </a:pP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3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3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engineer,</a:t>
            </a:r>
            <a:r>
              <a:rPr sz="1400" spc="3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design</a:t>
            </a:r>
            <a:r>
              <a:rPr sz="1400" spc="3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subnet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allocation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3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performing</a:t>
            </a:r>
            <a:r>
              <a:rPr sz="1400" spc="35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following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tasks:</a:t>
            </a:r>
            <a:endParaRPr sz="1400">
              <a:latin typeface="Times New Roman"/>
              <a:cs typeface="Times New Roman"/>
            </a:endParaRPr>
          </a:p>
          <a:p>
            <a:pPr marL="468630" marR="13970" lvl="1" indent="-227965">
              <a:lnSpc>
                <a:spcPct val="142900"/>
              </a:lnSpc>
              <a:spcBef>
                <a:spcPts val="25"/>
              </a:spcBef>
              <a:buAutoNum type="arabicPeriod"/>
              <a:tabLst>
                <a:tab pos="469900" algn="l"/>
                <a:tab pos="1372235" algn="l"/>
                <a:tab pos="1741805" algn="l"/>
                <a:tab pos="2476500" algn="l"/>
                <a:tab pos="3162300" algn="l"/>
                <a:tab pos="3570604" algn="l"/>
                <a:tab pos="4406265" algn="l"/>
                <a:tab pos="5092700" algn="l"/>
                <a:tab pos="5449570" algn="l"/>
              </a:tabLst>
            </a:pPr>
            <a:r>
              <a:rPr sz="1400" spc="-10" dirty="0">
                <a:latin typeface="Times New Roman"/>
                <a:cs typeface="Times New Roman"/>
              </a:rPr>
              <a:t>Determine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the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network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address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and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broadcast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address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for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35" dirty="0">
                <a:latin typeface="Times New Roman"/>
                <a:cs typeface="Times New Roman"/>
              </a:rPr>
              <a:t>each 	</a:t>
            </a:r>
            <a:r>
              <a:rPr sz="1400" spc="-10" dirty="0">
                <a:latin typeface="Times New Roman"/>
                <a:cs typeface="Times New Roman"/>
              </a:rPr>
              <a:t>department.</a:t>
            </a:r>
            <a:endParaRPr sz="1400">
              <a:latin typeface="Times New Roman"/>
              <a:cs typeface="Times New Roman"/>
            </a:endParaRPr>
          </a:p>
          <a:p>
            <a:pPr marL="469265" lvl="1" indent="-22796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Identify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valid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range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subnet.</a:t>
            </a:r>
            <a:endParaRPr sz="1400">
              <a:latin typeface="Times New Roman"/>
              <a:cs typeface="Times New Roman"/>
            </a:endParaRPr>
          </a:p>
          <a:p>
            <a:pPr marL="469265" lvl="1" indent="-22796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469265" algn="l"/>
              </a:tabLst>
            </a:pPr>
            <a:r>
              <a:rPr sz="1400" spc="-10" dirty="0">
                <a:latin typeface="Times New Roman"/>
                <a:cs typeface="Times New Roman"/>
              </a:rPr>
              <a:t>Calculate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number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usable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available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subnet.</a:t>
            </a:r>
            <a:endParaRPr sz="1400">
              <a:latin typeface="Times New Roman"/>
              <a:cs typeface="Times New Roman"/>
            </a:endParaRPr>
          </a:p>
          <a:p>
            <a:pPr marL="468630" marR="108585" lvl="1" indent="-227965">
              <a:lnSpc>
                <a:spcPts val="2450"/>
              </a:lnSpc>
              <a:spcBef>
                <a:spcPts val="160"/>
              </a:spcBef>
              <a:buAutoNum type="arabicPeriod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Determine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remaining</a:t>
            </a:r>
            <a:r>
              <a:rPr sz="1400" spc="3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unused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</a:t>
            </a:r>
            <a:r>
              <a:rPr sz="1400" spc="3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range</a:t>
            </a:r>
            <a:r>
              <a:rPr sz="1400" spc="3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within</a:t>
            </a:r>
            <a:r>
              <a:rPr sz="1400" spc="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given 	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block.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9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12700" marR="5080" indent="181610" algn="just">
              <a:lnSpc>
                <a:spcPct val="143800"/>
              </a:lnSpc>
              <a:buAutoNum type="arabicPeriod" startAt="2"/>
              <a:tabLst>
                <a:tab pos="194310" algn="l"/>
              </a:tabLst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multinational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software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company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expanding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headquarters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 has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been </a:t>
            </a:r>
            <a:r>
              <a:rPr sz="1400" spc="-10" dirty="0">
                <a:latin typeface="Times New Roman"/>
                <a:cs typeface="Times New Roman"/>
              </a:rPr>
              <a:t>assigned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private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IP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block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10.10.0.0/16</a:t>
            </a:r>
            <a:r>
              <a:rPr sz="1400" spc="-10" dirty="0">
                <a:latin typeface="Times New Roman"/>
                <a:cs typeface="Times New Roman"/>
              </a:rPr>
              <a:t>.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Different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departments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require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different </a:t>
            </a:r>
            <a:r>
              <a:rPr sz="1400" dirty="0">
                <a:latin typeface="Times New Roman"/>
                <a:cs typeface="Times New Roman"/>
              </a:rPr>
              <a:t>subnet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sizes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based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number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employees.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administrator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has </a:t>
            </a:r>
            <a:r>
              <a:rPr sz="1400" spc="-10" dirty="0">
                <a:latin typeface="Times New Roman"/>
                <a:cs typeface="Times New Roman"/>
              </a:rPr>
              <a:t>allocated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following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subnet </a:t>
            </a:r>
            <a:r>
              <a:rPr sz="1400" spc="-10" dirty="0">
                <a:latin typeface="Times New Roman"/>
                <a:cs typeface="Times New Roman"/>
              </a:rPr>
              <a:t>masks: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-10" dirty="0">
                <a:latin typeface="Times New Roman"/>
                <a:cs typeface="Times New Roman"/>
              </a:rPr>
              <a:t>Software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Development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/24</a:t>
            </a:r>
            <a:endParaRPr sz="1400">
              <a:latin typeface="Times New Roman"/>
              <a:cs typeface="Times New Roman"/>
            </a:endParaRPr>
          </a:p>
          <a:p>
            <a:pPr marL="12700" marR="3599179">
              <a:lnSpc>
                <a:spcPct val="143600"/>
              </a:lnSpc>
              <a:spcBef>
                <a:spcPts val="15"/>
              </a:spcBef>
            </a:pPr>
            <a:r>
              <a:rPr sz="1400" dirty="0">
                <a:latin typeface="Times New Roman"/>
                <a:cs typeface="Times New Roman"/>
              </a:rPr>
              <a:t>Quality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Assurance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/25 </a:t>
            </a:r>
            <a:r>
              <a:rPr sz="1400" dirty="0">
                <a:latin typeface="Times New Roman"/>
                <a:cs typeface="Times New Roman"/>
              </a:rPr>
              <a:t>Human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Resources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/26 </a:t>
            </a:r>
            <a:r>
              <a:rPr sz="1400" dirty="0">
                <a:latin typeface="Times New Roman"/>
                <a:cs typeface="Times New Roman"/>
              </a:rPr>
              <a:t>Executive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Management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/27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94055"/>
            <a:ext cx="5775960" cy="891921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administrator,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following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tasks:</a:t>
            </a:r>
            <a:endParaRPr sz="1400">
              <a:latin typeface="Times New Roman"/>
              <a:cs typeface="Times New Roman"/>
            </a:endParaRPr>
          </a:p>
          <a:p>
            <a:pPr marL="468630" marR="50800" indent="-227965">
              <a:lnSpc>
                <a:spcPts val="2430"/>
              </a:lnSpc>
              <a:spcBef>
                <a:spcPts val="175"/>
              </a:spcBef>
              <a:buAutoNum type="arabicPeriod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Determine</a:t>
            </a:r>
            <a:r>
              <a:rPr sz="1400" spc="9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90" dirty="0">
                <a:latin typeface="Times New Roman"/>
                <a:cs typeface="Times New Roman"/>
              </a:rPr>
              <a:t>  </a:t>
            </a:r>
            <a:r>
              <a:rPr sz="1400" b="1" dirty="0">
                <a:latin typeface="Times New Roman"/>
                <a:cs typeface="Times New Roman"/>
              </a:rPr>
              <a:t>network</a:t>
            </a:r>
            <a:r>
              <a:rPr sz="1400" b="1" spc="90" dirty="0">
                <a:latin typeface="Times New Roman"/>
                <a:cs typeface="Times New Roman"/>
              </a:rPr>
              <a:t>  </a:t>
            </a:r>
            <a:r>
              <a:rPr sz="1400" b="1" dirty="0">
                <a:latin typeface="Times New Roman"/>
                <a:cs typeface="Times New Roman"/>
              </a:rPr>
              <a:t>address</a:t>
            </a:r>
            <a:r>
              <a:rPr sz="1400" b="1" spc="9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0" dirty="0">
                <a:latin typeface="Times New Roman"/>
                <a:cs typeface="Times New Roman"/>
              </a:rPr>
              <a:t>  </a:t>
            </a:r>
            <a:r>
              <a:rPr sz="1400" b="1" dirty="0">
                <a:latin typeface="Times New Roman"/>
                <a:cs typeface="Times New Roman"/>
              </a:rPr>
              <a:t>broadcast</a:t>
            </a:r>
            <a:r>
              <a:rPr sz="1400" b="1" spc="90" dirty="0">
                <a:latin typeface="Times New Roman"/>
                <a:cs typeface="Times New Roman"/>
              </a:rPr>
              <a:t>  </a:t>
            </a:r>
            <a:r>
              <a:rPr sz="1400" b="1" dirty="0">
                <a:latin typeface="Times New Roman"/>
                <a:cs typeface="Times New Roman"/>
              </a:rPr>
              <a:t>address</a:t>
            </a:r>
            <a:r>
              <a:rPr sz="1400" b="1" spc="9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75" dirty="0">
                <a:latin typeface="Times New Roman"/>
                <a:cs typeface="Times New Roman"/>
              </a:rPr>
              <a:t>  </a:t>
            </a:r>
            <a:r>
              <a:rPr sz="1400" spc="-20" dirty="0">
                <a:latin typeface="Times New Roman"/>
                <a:cs typeface="Times New Roman"/>
              </a:rPr>
              <a:t>each 	</a:t>
            </a:r>
            <a:r>
              <a:rPr sz="1400" spc="-10" dirty="0">
                <a:latin typeface="Times New Roman"/>
                <a:cs typeface="Times New Roman"/>
              </a:rPr>
              <a:t>department.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535"/>
              </a:spcBef>
              <a:buAutoNum type="arabicPeriod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Identify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valid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range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host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IP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addresses</a:t>
            </a:r>
            <a:r>
              <a:rPr sz="1400" spc="-10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469265" algn="l"/>
              </a:tabLst>
            </a:pPr>
            <a:r>
              <a:rPr sz="1400" spc="-10" dirty="0">
                <a:latin typeface="Times New Roman"/>
                <a:cs typeface="Times New Roman"/>
              </a:rPr>
              <a:t>Calculate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number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usable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hosts</a:t>
            </a:r>
            <a:r>
              <a:rPr sz="1400" b="1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subnet.</a:t>
            </a:r>
            <a:endParaRPr sz="1400">
              <a:latin typeface="Times New Roman"/>
              <a:cs typeface="Times New Roman"/>
            </a:endParaRPr>
          </a:p>
          <a:p>
            <a:pPr marL="468630" marR="146685" indent="-227965">
              <a:lnSpc>
                <a:spcPts val="242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Identify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unused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IP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address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range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remaining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within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allocated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IP 	</a:t>
            </a:r>
            <a:r>
              <a:rPr sz="1400" spc="-10" dirty="0">
                <a:latin typeface="Times New Roman"/>
                <a:cs typeface="Times New Roman"/>
              </a:rPr>
              <a:t>block.</a:t>
            </a:r>
            <a:endParaRPr sz="1400">
              <a:latin typeface="Times New Roman"/>
              <a:cs typeface="Times New Roman"/>
            </a:endParaRPr>
          </a:p>
          <a:p>
            <a:pPr marL="145415" lvl="1" indent="-140970">
              <a:lnSpc>
                <a:spcPct val="100000"/>
              </a:lnSpc>
              <a:spcBef>
                <a:spcPts val="520"/>
              </a:spcBef>
              <a:buSzPct val="96428"/>
              <a:buAutoNum type="arabicPeriod" startAt="3"/>
              <a:tabLst>
                <a:tab pos="145415" algn="l"/>
              </a:tabLst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smart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hospital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migrating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infrastructure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IPv4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IPv6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to</a:t>
            </a:r>
            <a:endParaRPr sz="1400">
              <a:latin typeface="Times New Roman"/>
              <a:cs typeface="Times New Roman"/>
            </a:endParaRPr>
          </a:p>
          <a:p>
            <a:pPr marL="12700" marR="182245">
              <a:lnSpc>
                <a:spcPts val="2430"/>
              </a:lnSpc>
              <a:spcBef>
                <a:spcPts val="200"/>
              </a:spcBef>
            </a:pPr>
            <a:r>
              <a:rPr sz="1400" dirty="0">
                <a:latin typeface="Times New Roman"/>
                <a:cs typeface="Times New Roman"/>
              </a:rPr>
              <a:t>support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thousands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connected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medical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devices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IoT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sensors.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hospital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been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assigned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IPv6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network: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400" b="1" spc="-10" dirty="0">
                <a:latin typeface="Times New Roman"/>
                <a:cs typeface="Times New Roman"/>
              </a:rPr>
              <a:t>2001:0db8:abcd:0000:0000:0000:0000:0000/64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engineer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responsible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migration,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following:</a:t>
            </a:r>
            <a:endParaRPr sz="1400">
              <a:latin typeface="Times New Roman"/>
              <a:cs typeface="Times New Roman"/>
            </a:endParaRPr>
          </a:p>
          <a:p>
            <a:pPr marL="469265" lvl="2" indent="-227965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Convert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given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IPv6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compressed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notation</a:t>
            </a:r>
            <a:r>
              <a:rPr sz="1400" spc="-10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468630" marR="5080" lvl="2" indent="-227965">
              <a:lnSpc>
                <a:spcPts val="2450"/>
              </a:lnSpc>
              <a:spcBef>
                <a:spcPts val="160"/>
              </a:spcBef>
              <a:buAutoNum type="arabicPeriod"/>
              <a:tabLst>
                <a:tab pos="469900" algn="l"/>
                <a:tab pos="1162050" algn="l"/>
                <a:tab pos="1527810" algn="l"/>
                <a:tab pos="2515870" algn="l"/>
                <a:tab pos="3199130" algn="l"/>
                <a:tab pos="3680460" algn="l"/>
                <a:tab pos="4107815" algn="l"/>
                <a:tab pos="4421505" algn="l"/>
                <a:tab pos="4827270" algn="l"/>
              </a:tabLst>
            </a:pPr>
            <a:r>
              <a:rPr sz="1400" spc="-10" dirty="0">
                <a:latin typeface="Times New Roman"/>
                <a:cs typeface="Times New Roman"/>
              </a:rPr>
              <a:t>Expand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the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compressed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address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0" dirty="0">
                <a:latin typeface="Times New Roman"/>
                <a:cs typeface="Times New Roman"/>
              </a:rPr>
              <a:t>back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0" dirty="0">
                <a:latin typeface="Times New Roman"/>
                <a:cs typeface="Times New Roman"/>
              </a:rPr>
              <a:t>into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its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b="1" spc="-20" dirty="0">
                <a:latin typeface="Times New Roman"/>
                <a:cs typeface="Times New Roman"/>
              </a:rPr>
              <a:t>full</a:t>
            </a:r>
            <a:r>
              <a:rPr sz="1400" b="1" dirty="0">
                <a:latin typeface="Times New Roman"/>
                <a:cs typeface="Times New Roman"/>
              </a:rPr>
              <a:t>	</a:t>
            </a:r>
            <a:r>
              <a:rPr sz="1400" b="1" spc="-20" dirty="0">
                <a:latin typeface="Times New Roman"/>
                <a:cs typeface="Times New Roman"/>
              </a:rPr>
              <a:t>hexadecimal 	</a:t>
            </a:r>
            <a:r>
              <a:rPr sz="1400" b="1" spc="-10" dirty="0">
                <a:latin typeface="Times New Roman"/>
                <a:cs typeface="Times New Roman"/>
              </a:rPr>
              <a:t>representation</a:t>
            </a:r>
            <a:r>
              <a:rPr sz="1400" spc="-10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469265" lvl="2" indent="-227965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Identify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network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prefix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/64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prefix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length.</a:t>
            </a:r>
            <a:endParaRPr sz="1400">
              <a:latin typeface="Times New Roman"/>
              <a:cs typeface="Times New Roman"/>
            </a:endParaRPr>
          </a:p>
          <a:p>
            <a:pPr marL="468630" marR="38735" lvl="2" indent="-227965">
              <a:lnSpc>
                <a:spcPts val="2420"/>
              </a:lnSpc>
              <a:spcBef>
                <a:spcPts val="185"/>
              </a:spcBef>
              <a:buAutoNum type="arabicPeriod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Calculate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3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total</a:t>
            </a:r>
            <a:r>
              <a:rPr sz="1400" b="1" spc="37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number</a:t>
            </a:r>
            <a:r>
              <a:rPr sz="1400" b="1" spc="38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3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host</a:t>
            </a:r>
            <a:r>
              <a:rPr sz="1400" b="1" spc="3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addresses</a:t>
            </a:r>
            <a:r>
              <a:rPr sz="1400" b="1" spc="3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supported</a:t>
            </a:r>
            <a:r>
              <a:rPr sz="1400" spc="3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within</a:t>
            </a:r>
            <a:r>
              <a:rPr sz="1400" spc="3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	</a:t>
            </a:r>
            <a:r>
              <a:rPr sz="1400" spc="-10" dirty="0">
                <a:latin typeface="Times New Roman"/>
                <a:cs typeface="Times New Roman"/>
              </a:rPr>
              <a:t>subnet.</a:t>
            </a:r>
            <a:endParaRPr sz="1400">
              <a:latin typeface="Times New Roman"/>
              <a:cs typeface="Times New Roman"/>
            </a:endParaRPr>
          </a:p>
          <a:p>
            <a:pPr marL="469265" lvl="2" indent="-227965">
              <a:lnSpc>
                <a:spcPct val="100000"/>
              </a:lnSpc>
              <a:spcBef>
                <a:spcPts val="545"/>
              </a:spcBef>
              <a:buAutoNum type="arabicPeriod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total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number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possible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available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within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network.</a:t>
            </a:r>
            <a:endParaRPr sz="14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795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12700" marR="164465" lvl="1" indent="224790" algn="just">
              <a:lnSpc>
                <a:spcPct val="144300"/>
              </a:lnSpc>
              <a:buSzPct val="96428"/>
              <a:buAutoNum type="arabicPeriod" startAt="4"/>
              <a:tabLst>
                <a:tab pos="237490" algn="l"/>
              </a:tabLst>
            </a:pP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Internet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Service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Provider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(ISP)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connects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multiple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customer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networks </a:t>
            </a: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router.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router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maintains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following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table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entries: 192.168.1.0/24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-10" dirty="0">
                <a:latin typeface="Times New Roman"/>
                <a:cs typeface="Times New Roman"/>
              </a:rPr>
              <a:t>192.168.2.0/24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spc="-10" dirty="0">
                <a:latin typeface="Times New Roman"/>
                <a:cs typeface="Times New Roman"/>
              </a:rPr>
              <a:t>192.168.3.0/24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packet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arrives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router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destination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address: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b="1" spc="-10" dirty="0">
                <a:latin typeface="Times New Roman"/>
                <a:cs typeface="Times New Roman"/>
              </a:rPr>
              <a:t>192.168.2.45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routing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engineer, </a:t>
            </a:r>
            <a:r>
              <a:rPr sz="1400" spc="-10" dirty="0">
                <a:latin typeface="Times New Roman"/>
                <a:cs typeface="Times New Roman"/>
              </a:rPr>
              <a:t>determine:</a:t>
            </a:r>
            <a:endParaRPr sz="1400">
              <a:latin typeface="Times New Roman"/>
              <a:cs typeface="Times New Roman"/>
            </a:endParaRPr>
          </a:p>
          <a:p>
            <a:pPr marL="469265" lvl="2" indent="-22796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destination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subnet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which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packet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belongs.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909" y="791007"/>
            <a:ext cx="5528945" cy="125412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44"/>
              </a:spcBef>
              <a:buFont typeface="Times New Roman"/>
              <a:buAutoNum type="arabicPeriod" startAt="2"/>
              <a:tabLst>
                <a:tab pos="240665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matching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routing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table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entry</a:t>
            </a:r>
            <a:r>
              <a:rPr sz="1400" spc="-10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45"/>
              </a:spcBef>
              <a:buAutoNum type="arabicPeriod" startAt="2"/>
              <a:tabLst>
                <a:tab pos="240665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next-</a:t>
            </a:r>
            <a:r>
              <a:rPr sz="1400" b="1" dirty="0">
                <a:latin typeface="Times New Roman"/>
                <a:cs typeface="Times New Roman"/>
              </a:rPr>
              <a:t>hop </a:t>
            </a:r>
            <a:r>
              <a:rPr sz="1400" b="1" spc="-10" dirty="0">
                <a:latin typeface="Times New Roman"/>
                <a:cs typeface="Times New Roman"/>
              </a:rPr>
              <a:t>network/interface</a:t>
            </a:r>
            <a:r>
              <a:rPr sz="1400" b="1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forward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10" dirty="0">
                <a:latin typeface="Times New Roman"/>
                <a:cs typeface="Times New Roman"/>
              </a:rPr>
              <a:t>packet.</a:t>
            </a:r>
            <a:endParaRPr sz="1400">
              <a:latin typeface="Times New Roman"/>
              <a:cs typeface="Times New Roman"/>
            </a:endParaRPr>
          </a:p>
          <a:p>
            <a:pPr marL="240029" marR="5080" indent="-227965">
              <a:lnSpc>
                <a:spcPts val="2420"/>
              </a:lnSpc>
              <a:spcBef>
                <a:spcPts val="85"/>
              </a:spcBef>
              <a:buAutoNum type="arabicPeriod" startAt="2"/>
              <a:tabLst>
                <a:tab pos="241300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default</a:t>
            </a:r>
            <a:r>
              <a:rPr sz="1400" b="1" spc="9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route</a:t>
            </a:r>
            <a:r>
              <a:rPr sz="1400" b="1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should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destination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does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match 	</a:t>
            </a:r>
            <a:r>
              <a:rPr sz="1400" dirty="0">
                <a:latin typeface="Times New Roman"/>
                <a:cs typeface="Times New Roman"/>
              </a:rPr>
              <a:t>any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table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entry.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635681"/>
            <a:ext cx="5636260" cy="4010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4310">
              <a:lnSpc>
                <a:spcPct val="142900"/>
              </a:lnSpc>
              <a:spcBef>
                <a:spcPts val="100"/>
              </a:spcBef>
              <a:buAutoNum type="arabicPeriod" startAt="5"/>
              <a:tabLst>
                <a:tab pos="207010" algn="l"/>
              </a:tabLst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company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establishes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two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office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departments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Layer-</a:t>
            </a:r>
            <a:r>
              <a:rPr sz="1400" spc="-50" dirty="0">
                <a:latin typeface="Times New Roman"/>
                <a:cs typeface="Times New Roman"/>
              </a:rPr>
              <a:t>3 </a:t>
            </a:r>
            <a:r>
              <a:rPr sz="1400" dirty="0">
                <a:latin typeface="Times New Roman"/>
                <a:cs typeface="Times New Roman"/>
              </a:rPr>
              <a:t>router.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allocated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subnet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information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follows: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spc="-10" dirty="0">
                <a:latin typeface="Times New Roman"/>
                <a:cs typeface="Times New Roman"/>
              </a:rPr>
              <a:t>Administration</a:t>
            </a:r>
            <a:r>
              <a:rPr sz="1400" dirty="0">
                <a:latin typeface="Times New Roman"/>
                <a:cs typeface="Times New Roman"/>
              </a:rPr>
              <a:t> LAN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192.168.10.0/26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dirty="0">
                <a:latin typeface="Times New Roman"/>
                <a:cs typeface="Times New Roman"/>
              </a:rPr>
              <a:t>Finance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192.168.10.64/26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router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interfaces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configured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with: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spc="-10" dirty="0">
                <a:latin typeface="Times New Roman"/>
                <a:cs typeface="Times New Roman"/>
              </a:rPr>
              <a:t>Administration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Gateway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192.168.10.1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dirty="0">
                <a:latin typeface="Times New Roman"/>
                <a:cs typeface="Times New Roman"/>
              </a:rPr>
              <a:t>Finance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Gateway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192.168.10.65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administrator,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following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tasks:</a:t>
            </a:r>
            <a:endParaRPr sz="1400">
              <a:latin typeface="Times New Roman"/>
              <a:cs typeface="Times New Roman"/>
            </a:endParaRPr>
          </a:p>
          <a:p>
            <a:pPr marL="469265" lvl="1" indent="-22796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Determine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network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address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broadcast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address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LAN.</a:t>
            </a:r>
            <a:endParaRPr sz="1400">
              <a:latin typeface="Times New Roman"/>
              <a:cs typeface="Times New Roman"/>
            </a:endParaRPr>
          </a:p>
          <a:p>
            <a:pPr marL="469265" lvl="1" indent="-22796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Identify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valid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host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IP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address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range</a:t>
            </a:r>
            <a:r>
              <a:rPr sz="1400" spc="-10" dirty="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469265" lvl="1" indent="-22796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469265" algn="l"/>
              </a:tabLst>
            </a:pPr>
            <a:r>
              <a:rPr sz="1400" dirty="0">
                <a:latin typeface="Times New Roman"/>
                <a:cs typeface="Times New Roman"/>
              </a:rPr>
              <a:t>Suggest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suitable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three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computers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LAN.</a:t>
            </a:r>
            <a:endParaRPr sz="1400">
              <a:latin typeface="Times New Roman"/>
              <a:cs typeface="Times New Roman"/>
            </a:endParaRPr>
          </a:p>
          <a:p>
            <a:pPr marL="468630" marR="74295" lvl="1" indent="-227965">
              <a:lnSpc>
                <a:spcPts val="2420"/>
              </a:lnSpc>
              <a:spcBef>
                <a:spcPts val="85"/>
              </a:spcBef>
              <a:buAutoNum type="arabicPeriod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Identify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default</a:t>
            </a:r>
            <a:r>
              <a:rPr sz="1400" b="1" spc="1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gateway</a:t>
            </a:r>
            <a:r>
              <a:rPr sz="1400" b="1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hosts</a:t>
            </a:r>
            <a:r>
              <a:rPr sz="1400" spc="1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LAN</a:t>
            </a:r>
            <a:r>
              <a:rPr sz="1400" spc="1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should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</a:t>
            </a:r>
            <a:r>
              <a:rPr sz="1400" spc="19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for 	</a:t>
            </a:r>
            <a:r>
              <a:rPr sz="1400" spc="-10" dirty="0">
                <a:latin typeface="Times New Roman"/>
                <a:cs typeface="Times New Roman"/>
              </a:rPr>
              <a:t>communication.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255522"/>
            <a:ext cx="22148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RUBRICS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CALCULATION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0696" y="1984882"/>
          <a:ext cx="5842635" cy="6120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2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1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4980">
                <a:tc gridSpan="6">
                  <a:txBody>
                    <a:bodyPr/>
                    <a:lstStyle/>
                    <a:p>
                      <a:pPr marL="7620" algn="ctr">
                        <a:lnSpc>
                          <a:spcPts val="137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Scenario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Assessment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69850">
                        <a:lnSpc>
                          <a:spcPts val="137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38430">
                        <a:lnSpc>
                          <a:spcPts val="1390"/>
                        </a:lnSpc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Weightage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(%)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03505">
                        <a:lnSpc>
                          <a:spcPts val="139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4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(Exemplary)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93980">
                        <a:lnSpc>
                          <a:spcPts val="139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3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(Proficient)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00965">
                        <a:lnSpc>
                          <a:spcPts val="139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(Developing)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76200">
                        <a:lnSpc>
                          <a:spcPts val="139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(Beginning)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6985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Understanding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41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Scenario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4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Demonstrates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141605">
                        <a:lnSpc>
                          <a:spcPct val="95700"/>
                        </a:lnSpc>
                        <a:spcBef>
                          <a:spcPts val="3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clear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complete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understandin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scenario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context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Shows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good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23825">
                        <a:lnSpc>
                          <a:spcPct val="95800"/>
                        </a:lnSpc>
                        <a:spcBef>
                          <a:spcPts val="3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understandi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minor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gaps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Partial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111125" algn="just">
                        <a:lnSpc>
                          <a:spcPct val="95800"/>
                        </a:lnSpc>
                        <a:spcBef>
                          <a:spcPts val="3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understandin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g;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misses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key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aspects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Misinterpret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102235" algn="just">
                        <a:lnSpc>
                          <a:spcPct val="95800"/>
                        </a:lnSpc>
                        <a:spcBef>
                          <a:spcPts val="3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fails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understand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scenario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7910">
                <a:tc>
                  <a:txBody>
                    <a:bodyPr/>
                    <a:lstStyle/>
                    <a:p>
                      <a:pPr marL="69850" marR="173990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Identification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Issues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4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66370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Accurately identifies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303530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relevant issues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391795">
                        <a:lnSpc>
                          <a:spcPts val="137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factors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involved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62890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Identifies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key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60020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issues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minor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omissions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354330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Identifies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limited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162560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issues;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some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irrelevant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points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02235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Unable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identify</a:t>
                      </a:r>
                      <a:r>
                        <a:rPr sz="12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key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ts val="135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issues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7275">
                <a:tc>
                  <a:txBody>
                    <a:bodyPr/>
                    <a:lstStyle/>
                    <a:p>
                      <a:pPr marL="69850" marR="121285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Concepts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4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25%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229870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Applies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appropriate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114300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concepts effectively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233045">
                        <a:lnSpc>
                          <a:spcPts val="137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address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scenario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95910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Applies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concepts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63830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minor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errors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268605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partially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248920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correct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application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236220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Unable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296545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relevant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concepts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7910">
                <a:tc>
                  <a:txBody>
                    <a:bodyPr/>
                    <a:lstStyle/>
                    <a:p>
                      <a:pPr marL="69850" marR="465455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Decision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Making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4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70180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Makes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well-reasoned,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356870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logical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decisions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233679">
                        <a:lnSpc>
                          <a:spcPts val="137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strong rationale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87325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Makes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reasonable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96850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decisions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some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justification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63195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Makes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weak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decisions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179705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limited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justification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268605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clear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decisions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303530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made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rationale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provided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0744">
                <a:tc>
                  <a:txBody>
                    <a:bodyPr/>
                    <a:lstStyle/>
                    <a:p>
                      <a:pPr marL="69850" marR="417195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Clarity</a:t>
                      </a:r>
                      <a:r>
                        <a:rPr sz="12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Response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4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15%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92405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Response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clear,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133350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structured, and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logically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presented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17804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Generally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clear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466090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minor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issues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282575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Somewhat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unclear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316230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poorly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structured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04775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Disorganize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675" marR="166370">
                        <a:lnSpc>
                          <a:spcPts val="137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difficult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understand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1612519"/>
            <a:ext cx="5948680" cy="2579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  <a:spcBef>
                <a:spcPts val="1535"/>
              </a:spcBef>
            </a:pPr>
            <a:r>
              <a:rPr sz="1600" b="1" dirty="0">
                <a:latin typeface="Times New Roman"/>
                <a:cs typeface="Times New Roman"/>
              </a:rPr>
              <a:t>SCENARIO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1: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Times New Roman"/>
              <a:cs typeface="Times New Roman"/>
            </a:endParaRPr>
          </a:p>
          <a:p>
            <a:pPr marL="79375" marR="3134360">
              <a:lnSpc>
                <a:spcPts val="1610"/>
              </a:lnSpc>
            </a:pPr>
            <a:r>
              <a:rPr sz="1400" b="1" dirty="0">
                <a:latin typeface="Times New Roman"/>
                <a:cs typeface="Times New Roman"/>
              </a:rPr>
              <a:t>Smart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Campus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Network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Subnetting </a:t>
            </a:r>
            <a:r>
              <a:rPr sz="1400" b="1" dirty="0">
                <a:latin typeface="Times New Roman"/>
                <a:cs typeface="Times New Roman"/>
              </a:rPr>
              <a:t>Scenario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Understanding</a:t>
            </a:r>
            <a:endParaRPr sz="1400">
              <a:latin typeface="Times New Roman"/>
              <a:cs typeface="Times New Roman"/>
            </a:endParaRPr>
          </a:p>
          <a:p>
            <a:pPr marL="79375">
              <a:lnSpc>
                <a:spcPts val="1530"/>
              </a:lnSpc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Smart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Campus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been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assigned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block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192.168.100.0/24.</a:t>
            </a:r>
            <a:endParaRPr sz="1400">
              <a:latin typeface="Times New Roman"/>
              <a:cs typeface="Times New Roman"/>
            </a:endParaRPr>
          </a:p>
          <a:p>
            <a:pPr marL="79375" marR="5080">
              <a:lnSpc>
                <a:spcPct val="95800"/>
              </a:lnSpc>
              <a:spcBef>
                <a:spcPts val="35"/>
              </a:spcBef>
            </a:pPr>
            <a:r>
              <a:rPr sz="1400" dirty="0">
                <a:latin typeface="Times New Roman"/>
                <a:cs typeface="Times New Roman"/>
              </a:rPr>
              <a:t>Different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departments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require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different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subnet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sizes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based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expected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number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devices.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objective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allocate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efficiently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subnetting </a:t>
            </a:r>
            <a:r>
              <a:rPr sz="1400" dirty="0">
                <a:latin typeface="Times New Roman"/>
                <a:cs typeface="Times New Roman"/>
              </a:rPr>
              <a:t>while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minimizing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</a:t>
            </a:r>
            <a:r>
              <a:rPr sz="1400" spc="-10" dirty="0">
                <a:latin typeface="Times New Roman"/>
                <a:cs typeface="Times New Roman"/>
              </a:rPr>
              <a:t> wastage.</a:t>
            </a:r>
            <a:endParaRPr sz="14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  <a:spcBef>
                <a:spcPts val="1560"/>
              </a:spcBef>
            </a:pPr>
            <a:r>
              <a:rPr sz="1400" b="1" dirty="0">
                <a:latin typeface="Times New Roman"/>
                <a:cs typeface="Times New Roman"/>
              </a:rPr>
              <a:t>Given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73810" y="4214567"/>
          <a:ext cx="3210560" cy="9232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6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710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Department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Subnet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School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Computing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/25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School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Electronics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/26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School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Mechanical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Engineering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00"/>
                        </a:lnSpc>
                        <a:spcBef>
                          <a:spcPts val="1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/27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65428" y="5554472"/>
            <a:ext cx="2104390" cy="44513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655"/>
              </a:lnSpc>
              <a:spcBef>
                <a:spcPts val="90"/>
              </a:spcBef>
            </a:pPr>
            <a:r>
              <a:rPr sz="1400" dirty="0">
                <a:latin typeface="Times New Roman"/>
                <a:cs typeface="Times New Roman"/>
              </a:rPr>
              <a:t>Step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1: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Calculate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Subnets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55"/>
              </a:lnSpc>
            </a:pPr>
            <a:r>
              <a:rPr sz="1400" b="1" dirty="0">
                <a:latin typeface="Times New Roman"/>
                <a:cs typeface="Times New Roman"/>
              </a:rPr>
              <a:t>School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Computing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73810" y="6022539"/>
          <a:ext cx="3984625" cy="140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710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Parameter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Value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Subnet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Mask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255.255.255.128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Broadcast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192.168.100.127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Host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192.168.100.1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192.168.100.126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Usable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Hosts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00"/>
                        </a:lnSpc>
                        <a:spcBef>
                          <a:spcPts val="1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126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65428" y="7850505"/>
            <a:ext cx="16109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School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Electronics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73810" y="8111054"/>
          <a:ext cx="4161154" cy="140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710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Parameter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Value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192.168.100.128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Subnet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Mask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255.255.255.192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Broadcast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192.168.100.191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Host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192.168.100.129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192.168.100.190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Usable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Hosts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00"/>
                        </a:lnSpc>
                        <a:spcBef>
                          <a:spcPts val="1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62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5428" y="2023999"/>
            <a:ext cx="26136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School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Mechanical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73810" y="2287596"/>
          <a:ext cx="4161154" cy="140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710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Parameter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Value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192.168.100.192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Subnet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Mask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255.255.255.224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Broadcast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192.168.100.223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Host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192.168.100.193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192.168.100.222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Usable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Hosts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00"/>
                        </a:lnSpc>
                        <a:spcBef>
                          <a:spcPts val="3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65428" y="4112514"/>
            <a:ext cx="26625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Remaining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Unused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Address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Range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73810" y="4376111"/>
          <a:ext cx="2645410" cy="435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804">
                <a:tc>
                  <a:txBody>
                    <a:bodyPr/>
                    <a:lstStyle/>
                    <a:p>
                      <a:pPr marR="26034" algn="ctr">
                        <a:lnSpc>
                          <a:spcPts val="152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Starting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ts val="152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Ending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 marR="15875" algn="ctr">
                        <a:lnSpc>
                          <a:spcPts val="16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192.168.100.224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6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192.168.100.255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65428" y="5231384"/>
            <a:ext cx="14382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Times New Roman"/>
                <a:cs typeface="Times New Roman"/>
              </a:rPr>
              <a:t>Observation </a:t>
            </a:r>
            <a:r>
              <a:rPr sz="1400" b="1" spc="-20" dirty="0">
                <a:latin typeface="Times New Roman"/>
                <a:cs typeface="Times New Roman"/>
              </a:rPr>
              <a:t>Table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73810" y="5494981"/>
          <a:ext cx="5877560" cy="1740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2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4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Department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Host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4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Broadcast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ts val="164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4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Usable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ts val="1645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Hosts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Computing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192.168.100.0/25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645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192.168.100.1–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ts val="164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126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192.168.100.127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126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Electronics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192.168.100.128/26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645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192.168.100.129–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ts val="164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190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192.168.100.191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62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Mechanical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192.168.100.192/27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655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192.168.100.193–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ts val="157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222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192.168.100.223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65428" y="7447915"/>
            <a:ext cx="5788660" cy="29514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630"/>
              </a:lnSpc>
              <a:spcBef>
                <a:spcPts val="90"/>
              </a:spcBef>
            </a:pPr>
            <a:r>
              <a:rPr sz="1400" b="1" spc="-10" dirty="0">
                <a:latin typeface="Times New Roman"/>
                <a:cs typeface="Times New Roman"/>
              </a:rPr>
              <a:t>Decision</a:t>
            </a:r>
            <a:endParaRPr sz="1400">
              <a:latin typeface="Times New Roman"/>
              <a:cs typeface="Times New Roman"/>
            </a:endParaRPr>
          </a:p>
          <a:p>
            <a:pPr marL="12700" marR="43815">
              <a:lnSpc>
                <a:spcPct val="95800"/>
              </a:lnSpc>
              <a:spcBef>
                <a:spcPts val="25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subnet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allocation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efficiently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divides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available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192.168.100.0/24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network </a:t>
            </a:r>
            <a:r>
              <a:rPr sz="1400" dirty="0">
                <a:latin typeface="Times New Roman"/>
                <a:cs typeface="Times New Roman"/>
              </a:rPr>
              <a:t>among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departments.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department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receives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sufficient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addresses,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remaining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(192.168.100.224–</a:t>
            </a:r>
            <a:r>
              <a:rPr sz="1400" dirty="0">
                <a:latin typeface="Times New Roman"/>
                <a:cs typeface="Times New Roman"/>
              </a:rPr>
              <a:t>192.168.100.255)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reserved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for </a:t>
            </a:r>
            <a:r>
              <a:rPr sz="1400" dirty="0">
                <a:latin typeface="Times New Roman"/>
                <a:cs typeface="Times New Roman"/>
              </a:rPr>
              <a:t>future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expansion.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SCENARIO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2: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 marR="3216275">
              <a:lnSpc>
                <a:spcPts val="1610"/>
              </a:lnSpc>
            </a:pPr>
            <a:r>
              <a:rPr sz="1400" b="1" dirty="0">
                <a:latin typeface="Times New Roman"/>
                <a:cs typeface="Times New Roman"/>
              </a:rPr>
              <a:t>Multinational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Software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Company </a:t>
            </a:r>
            <a:r>
              <a:rPr sz="1400" b="1" dirty="0">
                <a:latin typeface="Times New Roman"/>
                <a:cs typeface="Times New Roman"/>
              </a:rPr>
              <a:t>Scenario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Understanding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05"/>
              </a:lnSpc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software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company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received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private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10.10.0.0/16.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Each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1610"/>
              </a:lnSpc>
              <a:spcBef>
                <a:spcPts val="80"/>
              </a:spcBef>
            </a:pPr>
            <a:r>
              <a:rPr sz="1400" dirty="0">
                <a:latin typeface="Times New Roman"/>
                <a:cs typeface="Times New Roman"/>
              </a:rPr>
              <a:t>department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different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networking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requirements.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Appropriate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subnet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masks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are </a:t>
            </a:r>
            <a:r>
              <a:rPr sz="1400" dirty="0">
                <a:latin typeface="Times New Roman"/>
                <a:cs typeface="Times New Roman"/>
              </a:rPr>
              <a:t>assigned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maximize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</a:t>
            </a:r>
            <a:r>
              <a:rPr sz="1400" spc="-10" dirty="0">
                <a:latin typeface="Times New Roman"/>
                <a:cs typeface="Times New Roman"/>
              </a:rPr>
              <a:t> utilization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while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supporting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future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growth.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5428" y="2435733"/>
            <a:ext cx="88773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Given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73810" y="2696282"/>
          <a:ext cx="2420620" cy="1163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5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710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Department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Subnet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Development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/24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Assurance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/25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Resources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/26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Executive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Management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600"/>
                        </a:lnSpc>
                        <a:spcBef>
                          <a:spcPts val="2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/27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65428" y="4280154"/>
            <a:ext cx="13817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Subnet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Allocation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73810" y="4540703"/>
          <a:ext cx="5767705" cy="2188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6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Department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/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ts val="149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Network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01295">
                        <a:lnSpc>
                          <a:spcPts val="165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Host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149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Broadcast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ts val="165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ts val="149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Usable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ts val="1655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Hosts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31750" marR="193675">
                        <a:lnSpc>
                          <a:spcPts val="1610"/>
                        </a:lnSpc>
                        <a:spcBef>
                          <a:spcPts val="1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Software Development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10.10.0.0/24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645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10.10.0.1–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ts val="164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10.10.0.254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10.10.0.255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254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31750" marR="410845">
                        <a:lnSpc>
                          <a:spcPts val="1610"/>
                        </a:lnSpc>
                        <a:spcBef>
                          <a:spcPts val="14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Quality Assurance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10.10.1.0/25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645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10.10.1.1–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ts val="164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10.10.1.126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10.10.1.127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126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31750" marR="421005">
                        <a:lnSpc>
                          <a:spcPts val="1610"/>
                        </a:lnSpc>
                        <a:spcBef>
                          <a:spcPts val="1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Human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Resources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10.10.1.128/26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645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10.10.1.129–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ts val="164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10.10.1.190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10.10.1.191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62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545">
                <a:tc>
                  <a:txBody>
                    <a:bodyPr/>
                    <a:lstStyle/>
                    <a:p>
                      <a:pPr marL="31750" marR="224154">
                        <a:lnSpc>
                          <a:spcPts val="161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Executive Management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10.10.1.192/27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645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10.10.1.193–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ts val="156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10.10.1.222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10.10.1.223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65428" y="7149211"/>
            <a:ext cx="26625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Remaining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Unused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Address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Range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73810" y="7409760"/>
          <a:ext cx="2573655" cy="43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710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Starting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52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Ending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10.10.1.224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6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10.10.255.255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65428" y="8060817"/>
            <a:ext cx="5811520" cy="850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630"/>
              </a:lnSpc>
              <a:spcBef>
                <a:spcPts val="90"/>
              </a:spcBef>
            </a:pPr>
            <a:r>
              <a:rPr sz="1400" b="1" spc="-10" dirty="0">
                <a:latin typeface="Times New Roman"/>
                <a:cs typeface="Times New Roman"/>
              </a:rPr>
              <a:t>Decision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96400"/>
              </a:lnSpc>
              <a:spcBef>
                <a:spcPts val="15"/>
              </a:spcBef>
            </a:pPr>
            <a:r>
              <a:rPr sz="1400" dirty="0">
                <a:latin typeface="Times New Roman"/>
                <a:cs typeface="Times New Roman"/>
              </a:rPr>
              <a:t>Variable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Length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Subnet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Masking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(VLSM)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efficiently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allocates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addresses </a:t>
            </a:r>
            <a:r>
              <a:rPr sz="1400" dirty="0">
                <a:latin typeface="Times New Roman"/>
                <a:cs typeface="Times New Roman"/>
              </a:rPr>
              <a:t>according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department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size.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remaining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space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future </a:t>
            </a:r>
            <a:r>
              <a:rPr sz="1400" dirty="0">
                <a:latin typeface="Times New Roman"/>
                <a:cs typeface="Times New Roman"/>
              </a:rPr>
              <a:t>departments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expansion.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5428" y="1203706"/>
            <a:ext cx="5744845" cy="2549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SCENARIO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3: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 marR="3887470">
              <a:lnSpc>
                <a:spcPts val="1630"/>
              </a:lnSpc>
            </a:pPr>
            <a:r>
              <a:rPr sz="1400" b="1" dirty="0">
                <a:latin typeface="Times New Roman"/>
                <a:cs typeface="Times New Roman"/>
              </a:rPr>
              <a:t>IPv6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Migration</a:t>
            </a:r>
            <a:r>
              <a:rPr sz="1400" b="1" spc="50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Scenario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Understanding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05"/>
              </a:lnSpc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smart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hospital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migrating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IPv4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IPv6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support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thousands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medical</a:t>
            </a:r>
            <a:endParaRPr sz="1400">
              <a:latin typeface="Times New Roman"/>
              <a:cs typeface="Times New Roman"/>
            </a:endParaRPr>
          </a:p>
          <a:p>
            <a:pPr marL="12700" marR="257175">
              <a:lnSpc>
                <a:spcPts val="1610"/>
              </a:lnSpc>
              <a:spcBef>
                <a:spcPts val="75"/>
              </a:spcBef>
            </a:pPr>
            <a:r>
              <a:rPr sz="1400" dirty="0">
                <a:latin typeface="Times New Roman"/>
                <a:cs typeface="Times New Roman"/>
              </a:rPr>
              <a:t>devices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IoT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sensors.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IPv6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offers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significantly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larger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space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than IPv4.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30"/>
              </a:lnSpc>
              <a:spcBef>
                <a:spcPts val="1520"/>
              </a:spcBef>
            </a:pPr>
            <a:r>
              <a:rPr sz="1400" b="1" dirty="0">
                <a:latin typeface="Times New Roman"/>
                <a:cs typeface="Times New Roman"/>
              </a:rPr>
              <a:t>Given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IPv6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Address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30"/>
              </a:lnSpc>
            </a:pPr>
            <a:r>
              <a:rPr sz="1400" spc="-10" dirty="0">
                <a:latin typeface="Times New Roman"/>
                <a:cs typeface="Times New Roman"/>
              </a:rPr>
              <a:t>2001:0db8:abcd:0000:0000:0000:0000:0000/64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1400" b="1" dirty="0">
                <a:latin typeface="Times New Roman"/>
                <a:cs typeface="Times New Roman"/>
              </a:rPr>
              <a:t>IPv6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Analysis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73810" y="3778703"/>
          <a:ext cx="4944745" cy="140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4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3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804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Task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Answer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Compressed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2001:db8:abcd::/64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Expanded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2001:0db8:abcd:0000:0000:0000:0000:0000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Prefix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2001:db8:abcd::/64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Host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Bits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64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bits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Host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2⁶⁴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18,446,744,073,709,551,616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65428" y="5399023"/>
            <a:ext cx="5871845" cy="3158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635"/>
              </a:lnSpc>
              <a:spcBef>
                <a:spcPts val="90"/>
              </a:spcBef>
            </a:pPr>
            <a:r>
              <a:rPr sz="1400" b="1" spc="-10" dirty="0">
                <a:latin typeface="Times New Roman"/>
                <a:cs typeface="Times New Roman"/>
              </a:rPr>
              <a:t>Decision</a:t>
            </a:r>
            <a:endParaRPr sz="1400">
              <a:latin typeface="Times New Roman"/>
              <a:cs typeface="Times New Roman"/>
            </a:endParaRPr>
          </a:p>
          <a:p>
            <a:pPr marL="12700" marR="63500">
              <a:lnSpc>
                <a:spcPts val="1610"/>
              </a:lnSpc>
              <a:spcBef>
                <a:spcPts val="65"/>
              </a:spcBef>
            </a:pPr>
            <a:r>
              <a:rPr sz="1400" dirty="0">
                <a:latin typeface="Times New Roman"/>
                <a:cs typeface="Times New Roman"/>
              </a:rPr>
              <a:t>IPv6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enormous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space,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making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ideal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hospitals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with </a:t>
            </a:r>
            <a:r>
              <a:rPr sz="1400" dirty="0">
                <a:latin typeface="Times New Roman"/>
                <a:cs typeface="Times New Roman"/>
              </a:rPr>
              <a:t>thousands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medical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devices,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IoT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sensors,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future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smart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healthcare applications.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Times New Roman"/>
                <a:cs typeface="Times New Roman"/>
              </a:rPr>
              <a:t>SCENARIO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4: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 marR="4015104">
              <a:lnSpc>
                <a:spcPts val="1610"/>
              </a:lnSpc>
            </a:pPr>
            <a:r>
              <a:rPr sz="1400" b="1" dirty="0">
                <a:latin typeface="Times New Roman"/>
                <a:cs typeface="Times New Roman"/>
              </a:rPr>
              <a:t>Routing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Table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Analysis </a:t>
            </a:r>
            <a:r>
              <a:rPr sz="1400" b="1" dirty="0">
                <a:latin typeface="Times New Roman"/>
                <a:cs typeface="Times New Roman"/>
              </a:rPr>
              <a:t>Scenario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Understanding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05"/>
              </a:lnSpc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router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receives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packet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destined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192.168.2.45.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router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checks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routing</a:t>
            </a:r>
            <a:endParaRPr sz="1400">
              <a:latin typeface="Times New Roman"/>
              <a:cs typeface="Times New Roman"/>
            </a:endParaRPr>
          </a:p>
          <a:p>
            <a:pPr marL="12700" marR="819150">
              <a:lnSpc>
                <a:spcPts val="1610"/>
              </a:lnSpc>
              <a:spcBef>
                <a:spcPts val="75"/>
              </a:spcBef>
            </a:pPr>
            <a:r>
              <a:rPr sz="1400" dirty="0">
                <a:latin typeface="Times New Roman"/>
                <a:cs typeface="Times New Roman"/>
              </a:rPr>
              <a:t>table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identify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matching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subnet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forwards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packet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appropriate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interface.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400" b="1" dirty="0">
                <a:latin typeface="Times New Roman"/>
                <a:cs typeface="Times New Roman"/>
              </a:rPr>
              <a:t>Routing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Table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73810" y="8583494"/>
          <a:ext cx="1209675" cy="920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Network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192.168.1.0/24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192.168.2.0/24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192.168.3.0/24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5428" y="1411351"/>
            <a:ext cx="13239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Routing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Decision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73810" y="1674948"/>
          <a:ext cx="4326255" cy="140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0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804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Question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Answer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Destination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192.168.2.45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Destination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Subnet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192.168.2.0/24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Route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192.168.2.0/24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Next-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Hop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Interface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Interface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connected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192.168.2.0/24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Default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Route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6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0.0.0.0/0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65428" y="3499865"/>
            <a:ext cx="5826125" cy="3158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630"/>
              </a:lnSpc>
              <a:spcBef>
                <a:spcPts val="90"/>
              </a:spcBef>
            </a:pPr>
            <a:r>
              <a:rPr sz="1400" b="1" spc="-10" dirty="0">
                <a:latin typeface="Times New Roman"/>
                <a:cs typeface="Times New Roman"/>
              </a:rPr>
              <a:t>Decision</a:t>
            </a:r>
            <a:endParaRPr sz="1400">
              <a:latin typeface="Times New Roman"/>
              <a:cs typeface="Times New Roman"/>
            </a:endParaRPr>
          </a:p>
          <a:p>
            <a:pPr marL="12700" marR="130175" algn="just">
              <a:lnSpc>
                <a:spcPts val="1610"/>
              </a:lnSpc>
              <a:spcBef>
                <a:spcPts val="65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router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performs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longest-</a:t>
            </a:r>
            <a:r>
              <a:rPr sz="1400" dirty="0">
                <a:latin typeface="Times New Roman"/>
                <a:cs typeface="Times New Roman"/>
              </a:rPr>
              <a:t>prefix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match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forwards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packet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interface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associated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192.168.2.0/24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subnet.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matching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exists,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packet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forwarded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default</a:t>
            </a:r>
            <a:r>
              <a:rPr sz="1400" spc="-10" dirty="0">
                <a:latin typeface="Times New Roman"/>
                <a:cs typeface="Times New Roman"/>
              </a:rPr>
              <a:t> route.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600" b="1" dirty="0">
                <a:latin typeface="Times New Roman"/>
                <a:cs typeface="Times New Roman"/>
              </a:rPr>
              <a:t>SCENARIO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5: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 marR="3803650">
              <a:lnSpc>
                <a:spcPts val="1610"/>
              </a:lnSpc>
            </a:pPr>
            <a:r>
              <a:rPr sz="1400" b="1" dirty="0">
                <a:latin typeface="Times New Roman"/>
                <a:cs typeface="Times New Roman"/>
              </a:rPr>
              <a:t>Office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LAN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Configuration </a:t>
            </a:r>
            <a:r>
              <a:rPr sz="1400" b="1" dirty="0">
                <a:latin typeface="Times New Roman"/>
                <a:cs typeface="Times New Roman"/>
              </a:rPr>
              <a:t>Scenario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Understanding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05"/>
              </a:lnSpc>
            </a:pP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company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two LANs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Layer-</a:t>
            </a:r>
            <a:r>
              <a:rPr sz="1400" dirty="0">
                <a:latin typeface="Times New Roman"/>
                <a:cs typeface="Times New Roman"/>
              </a:rPr>
              <a:t>3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router.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25" dirty="0">
                <a:latin typeface="Times New Roman"/>
                <a:cs typeface="Times New Roman"/>
              </a:rPr>
              <a:t> LAN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1610"/>
              </a:lnSpc>
              <a:spcBef>
                <a:spcPts val="80"/>
              </a:spcBef>
            </a:pPr>
            <a:r>
              <a:rPr sz="1400" dirty="0">
                <a:latin typeface="Times New Roman"/>
                <a:cs typeface="Times New Roman"/>
              </a:rPr>
              <a:t>requires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proper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addressing,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host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allocation,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gateway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configuration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to </a:t>
            </a:r>
            <a:r>
              <a:rPr sz="1400" dirty="0">
                <a:latin typeface="Times New Roman"/>
                <a:cs typeface="Times New Roman"/>
              </a:rPr>
              <a:t>ensure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reliable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communication.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515"/>
              </a:spcBef>
            </a:pPr>
            <a:r>
              <a:rPr sz="1400" b="1" dirty="0">
                <a:latin typeface="Times New Roman"/>
                <a:cs typeface="Times New Roman"/>
              </a:rPr>
              <a:t>Given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73810" y="6684336"/>
          <a:ext cx="3700779" cy="679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804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LAN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Subnet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Gateway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Administration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192.168.10.0/26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Finance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6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192.168.10.64/26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192.168.10.65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65428" y="7783448"/>
            <a:ext cx="125222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Network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Details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73810" y="8043998"/>
          <a:ext cx="5951220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35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LAN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4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Network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3975">
                        <a:lnSpc>
                          <a:spcPts val="164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Host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Broadcast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64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Gateway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Administration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645"/>
                        </a:lnSpc>
                        <a:spcBef>
                          <a:spcPts val="3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192.168.10.1–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ts val="164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192.168.10.62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192.168.10.63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Finance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192.168.10.64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655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192.168.10.65–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192.168.10.126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192.168.10.127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192.168.10.65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60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65428" y="9752787"/>
            <a:ext cx="173291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Times New Roman"/>
                <a:cs typeface="Times New Roman"/>
              </a:rPr>
              <a:t>Suggested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IP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Addresses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5428" y="1206754"/>
            <a:ext cx="160528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Times New Roman"/>
                <a:cs typeface="Times New Roman"/>
              </a:rPr>
              <a:t>Administration</a:t>
            </a:r>
            <a:r>
              <a:rPr sz="1400" b="1" spc="3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LAN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73810" y="1470732"/>
          <a:ext cx="1889760" cy="919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804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Computer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52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IP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PC1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PC2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  <a:spcBef>
                          <a:spcPts val="1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PC3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65428" y="2398902"/>
            <a:ext cx="9937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Times New Roman"/>
                <a:cs typeface="Times New Roman"/>
              </a:rPr>
              <a:t>Finance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LAN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73810" y="2662754"/>
          <a:ext cx="1978025" cy="923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710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Computer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52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IP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PC1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192.168.10.66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PC2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192.168.10.67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  <a:spcBef>
                          <a:spcPts val="3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PC3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00"/>
                        </a:lnSpc>
                        <a:spcBef>
                          <a:spcPts val="3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192.168.10.68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65428" y="4210050"/>
            <a:ext cx="5848350" cy="1256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latin typeface="Times New Roman"/>
                <a:cs typeface="Times New Roman"/>
              </a:rPr>
              <a:t>Decision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1610"/>
              </a:lnSpc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two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LANs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correctly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subnetted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/26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networks.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LAN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its</a:t>
            </a:r>
            <a:r>
              <a:rPr sz="1400" spc="-25" dirty="0">
                <a:latin typeface="Times New Roman"/>
                <a:cs typeface="Times New Roman"/>
              </a:rPr>
              <a:t> own </a:t>
            </a:r>
            <a:r>
              <a:rPr sz="1400" dirty="0">
                <a:latin typeface="Times New Roman"/>
                <a:cs typeface="Times New Roman"/>
              </a:rPr>
              <a:t>gateway,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preventing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address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conflicts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enabling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efficient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communication </a:t>
            </a: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10" dirty="0">
                <a:latin typeface="Times New Roman"/>
                <a:cs typeface="Times New Roman"/>
              </a:rPr>
              <a:t>Layer-</a:t>
            </a:r>
            <a:r>
              <a:rPr sz="1400" dirty="0">
                <a:latin typeface="Times New Roman"/>
                <a:cs typeface="Times New Roman"/>
              </a:rPr>
              <a:t>3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router.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design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allows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easy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network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management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future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expansion.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1580</Words>
  <Application>Microsoft Office PowerPoint</Application>
  <PresentationFormat>Custom</PresentationFormat>
  <Paragraphs>383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MT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Arjun Basava</dc:creator>
  <cp:lastModifiedBy>harshit pasupuleti</cp:lastModifiedBy>
  <cp:revision>1</cp:revision>
  <dcterms:created xsi:type="dcterms:W3CDTF">2026-07-30T04:44:56Z</dcterms:created>
  <dcterms:modified xsi:type="dcterms:W3CDTF">2026-07-30T04:46:38Z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2026-07-30T00:00:00Z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2026-07-30T00:00:00Z</vt:filetime>
  </property>
  <property fmtid="{D5CDD505-2E9C-101B-9397-08002B2CF9AE}" pid="6" name="Producer">
    <vt:lpwstr>www.ilovepdf.com</vt:lpwstr>
  </property>
</Properties>
</file>