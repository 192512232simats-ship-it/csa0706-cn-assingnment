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7569200" cy="10693400"/>
  <p:notesSz cx="75692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0" d="100"/>
          <a:sy n="50" d="100"/>
        </p:scale>
        <p:origin x="2635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690" y="3314954"/>
            <a:ext cx="6433820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5380" y="5988304"/>
            <a:ext cx="5298440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460" y="2459482"/>
            <a:ext cx="3292602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8138" y="2459482"/>
            <a:ext cx="3292602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460" y="427736"/>
            <a:ext cx="6812280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460" y="2459482"/>
            <a:ext cx="6812280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3528" y="9944862"/>
            <a:ext cx="2422144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460" y="9944862"/>
            <a:ext cx="1740916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9824" y="9944862"/>
            <a:ext cx="1740916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612859" y="845827"/>
            <a:ext cx="2418080" cy="4902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2010"/>
              </a:lnSpc>
              <a:spcBef>
                <a:spcPts val="100"/>
              </a:spcBef>
            </a:pPr>
            <a:r>
              <a:rPr sz="1700" b="1" spc="-45" dirty="0">
                <a:latin typeface="Times New Roman"/>
                <a:cs typeface="Times New Roman"/>
              </a:rPr>
              <a:t>SIMATS</a:t>
            </a:r>
            <a:r>
              <a:rPr sz="1700" b="1" spc="-75" dirty="0">
                <a:latin typeface="Times New Roman"/>
                <a:cs typeface="Times New Roman"/>
              </a:rPr>
              <a:t> </a:t>
            </a:r>
            <a:r>
              <a:rPr sz="1700" b="1" spc="-10" dirty="0">
                <a:latin typeface="Times New Roman"/>
                <a:cs typeface="Times New Roman"/>
              </a:rPr>
              <a:t>ENGINEERING</a:t>
            </a:r>
            <a:endParaRPr sz="1700">
              <a:latin typeface="Times New Roman"/>
              <a:cs typeface="Times New Roman"/>
            </a:endParaRPr>
          </a:p>
          <a:p>
            <a:pPr marR="40640" algn="ctr">
              <a:lnSpc>
                <a:spcPts val="1650"/>
              </a:lnSpc>
            </a:pPr>
            <a:r>
              <a:rPr sz="1400" b="1" spc="-10" dirty="0">
                <a:latin typeface="Times New Roman"/>
                <a:cs typeface="Times New Roman"/>
              </a:rPr>
              <a:t>ASSESSMENT</a:t>
            </a:r>
            <a:r>
              <a:rPr sz="1400" b="1" spc="-85" dirty="0">
                <a:latin typeface="Times New Roman"/>
                <a:cs typeface="Times New Roman"/>
              </a:rPr>
              <a:t> </a:t>
            </a:r>
            <a:r>
              <a:rPr sz="1400" b="1" spc="-20" dirty="0">
                <a:latin typeface="Times New Roman"/>
                <a:cs typeface="Times New Roman"/>
              </a:rPr>
              <a:t>TOOL</a:t>
            </a:r>
            <a:r>
              <a:rPr sz="1400" b="1" spc="-105" dirty="0">
                <a:latin typeface="Times New Roman"/>
                <a:cs typeface="Times New Roman"/>
              </a:rPr>
              <a:t> </a:t>
            </a:r>
            <a:r>
              <a:rPr sz="1400" b="1" spc="-50" dirty="0">
                <a:latin typeface="Times New Roman"/>
                <a:cs typeface="Times New Roman"/>
              </a:rPr>
              <a:t>1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1802948"/>
            <a:ext cx="1761489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Arial"/>
                <a:cs typeface="Arial"/>
              </a:rPr>
              <a:t>COURSE</a:t>
            </a:r>
            <a:r>
              <a:rPr sz="1200" b="1" spc="-10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CODE:</a:t>
            </a:r>
            <a:r>
              <a:rPr sz="1200" b="1" spc="190" dirty="0">
                <a:latin typeface="Arial"/>
                <a:cs typeface="Arial"/>
              </a:rPr>
              <a:t> </a:t>
            </a:r>
            <a:r>
              <a:rPr sz="1200" spc="-10" dirty="0">
                <a:latin typeface="Arial MT"/>
                <a:cs typeface="Arial MT"/>
              </a:rPr>
              <a:t>CSA07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272854" y="1802948"/>
            <a:ext cx="2141855" cy="386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34290" algn="r">
              <a:lnSpc>
                <a:spcPts val="1420"/>
              </a:lnSpc>
              <a:spcBef>
                <a:spcPts val="100"/>
              </a:spcBef>
            </a:pPr>
            <a:r>
              <a:rPr sz="1200" b="1" spc="-10" dirty="0">
                <a:latin typeface="Arial"/>
                <a:cs typeface="Arial"/>
              </a:rPr>
              <a:t>COURSE</a:t>
            </a:r>
            <a:r>
              <a:rPr sz="1200" b="1" spc="-55" dirty="0">
                <a:latin typeface="Arial"/>
                <a:cs typeface="Arial"/>
              </a:rPr>
              <a:t> </a:t>
            </a:r>
            <a:r>
              <a:rPr sz="1200" b="1" spc="-10" dirty="0">
                <a:latin typeface="Arial"/>
                <a:cs typeface="Arial"/>
              </a:rPr>
              <a:t>NAME:</a:t>
            </a:r>
            <a:r>
              <a:rPr sz="1200" b="1" spc="-50" dirty="0">
                <a:latin typeface="Arial"/>
                <a:cs typeface="Arial"/>
              </a:rPr>
              <a:t> </a:t>
            </a:r>
            <a:r>
              <a:rPr sz="1200" b="1" spc="-10" dirty="0">
                <a:latin typeface="Arial"/>
                <a:cs typeface="Arial"/>
              </a:rPr>
              <a:t>COMPUTER</a:t>
            </a:r>
            <a:endParaRPr sz="1200">
              <a:latin typeface="Arial"/>
              <a:cs typeface="Arial"/>
            </a:endParaRPr>
          </a:p>
          <a:p>
            <a:pPr marR="5080" algn="r">
              <a:lnSpc>
                <a:spcPts val="1420"/>
              </a:lnSpc>
            </a:pPr>
            <a:r>
              <a:rPr sz="1200" b="1" spc="-10" dirty="0">
                <a:latin typeface="Arial"/>
                <a:cs typeface="Arial"/>
              </a:rPr>
              <a:t>NETWORKS</a:t>
            </a:r>
            <a:endParaRPr sz="12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01700" y="3014529"/>
            <a:ext cx="5729605" cy="11455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Arial"/>
                <a:cs typeface="Arial"/>
              </a:rPr>
              <a:t>COURSE</a:t>
            </a:r>
            <a:r>
              <a:rPr sz="1200" b="1" spc="-20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OUTCOME</a:t>
            </a:r>
            <a:r>
              <a:rPr sz="1200" b="1" spc="-20" dirty="0">
                <a:latin typeface="Arial"/>
                <a:cs typeface="Arial"/>
              </a:rPr>
              <a:t> </a:t>
            </a:r>
            <a:r>
              <a:rPr sz="1200" b="1" spc="-10" dirty="0">
                <a:latin typeface="Arial"/>
                <a:cs typeface="Arial"/>
              </a:rPr>
              <a:t>COVERED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200">
              <a:latin typeface="Arial"/>
              <a:cs typeface="Arial"/>
            </a:endParaRPr>
          </a:p>
          <a:p>
            <a:pPr marL="12700" marR="5080">
              <a:lnSpc>
                <a:spcPts val="1600"/>
              </a:lnSpc>
            </a:pPr>
            <a:r>
              <a:rPr sz="1200" b="1" i="1" dirty="0">
                <a:latin typeface="Arial"/>
                <a:cs typeface="Arial"/>
              </a:rPr>
              <a:t>CO2:</a:t>
            </a:r>
            <a:r>
              <a:rPr sz="1200" b="1" i="1" spc="-30" dirty="0">
                <a:latin typeface="Arial"/>
                <a:cs typeface="Arial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Configure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IP</a:t>
            </a:r>
            <a:r>
              <a:rPr sz="1400" spc="-7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addressing</a:t>
            </a:r>
            <a:r>
              <a:rPr sz="1400" spc="-5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schemes,</a:t>
            </a:r>
            <a:r>
              <a:rPr sz="1400" spc="-5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subnetting,</a:t>
            </a:r>
            <a:r>
              <a:rPr sz="1400" spc="-5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and</a:t>
            </a:r>
            <a:r>
              <a:rPr sz="1400" spc="-4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basic</a:t>
            </a:r>
            <a:r>
              <a:rPr sz="1400" spc="-5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routing</a:t>
            </a:r>
            <a:r>
              <a:rPr sz="1400" spc="-50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techniques </a:t>
            </a:r>
            <a:r>
              <a:rPr sz="1400" dirty="0">
                <a:latin typeface="Times New Roman"/>
                <a:cs typeface="Times New Roman"/>
              </a:rPr>
              <a:t>using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simulation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tool,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for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efficient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network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design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and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topology</a:t>
            </a:r>
            <a:r>
              <a:rPr sz="1200" i="1" dirty="0">
                <a:latin typeface="Arial"/>
                <a:cs typeface="Arial"/>
              </a:rPr>
              <a:t>.</a:t>
            </a:r>
            <a:r>
              <a:rPr sz="1200" i="1" spc="-30" dirty="0">
                <a:latin typeface="Arial"/>
                <a:cs typeface="Arial"/>
              </a:rPr>
              <a:t> </a:t>
            </a:r>
            <a:r>
              <a:rPr sz="1000" i="1" spc="-10" dirty="0">
                <a:latin typeface="Arial"/>
                <a:cs typeface="Arial"/>
              </a:rPr>
              <a:t>(BL3)</a:t>
            </a:r>
            <a:endParaRPr sz="10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330"/>
              </a:spcBef>
            </a:pPr>
            <a:r>
              <a:rPr sz="1200" i="1" spc="-10" dirty="0">
                <a:latin typeface="Arial"/>
                <a:cs typeface="Arial"/>
              </a:rPr>
              <a:t>Assessment</a:t>
            </a:r>
            <a:r>
              <a:rPr sz="1200" i="1" spc="-35" dirty="0">
                <a:latin typeface="Arial"/>
                <a:cs typeface="Arial"/>
              </a:rPr>
              <a:t> </a:t>
            </a:r>
            <a:r>
              <a:rPr sz="1200" i="1" spc="-30" dirty="0">
                <a:latin typeface="Arial"/>
                <a:cs typeface="Arial"/>
              </a:rPr>
              <a:t>Tool</a:t>
            </a:r>
            <a:r>
              <a:rPr sz="1200" i="1" spc="-15" dirty="0">
                <a:latin typeface="Arial"/>
                <a:cs typeface="Arial"/>
              </a:rPr>
              <a:t> </a:t>
            </a:r>
            <a:r>
              <a:rPr sz="1200" i="1" spc="-10" dirty="0">
                <a:latin typeface="Arial"/>
                <a:cs typeface="Arial"/>
              </a:rPr>
              <a:t>Weightage: </a:t>
            </a:r>
            <a:r>
              <a:rPr sz="1200" i="1" spc="-25" dirty="0">
                <a:latin typeface="Arial"/>
                <a:cs typeface="Arial"/>
              </a:rPr>
              <a:t>40%</a:t>
            </a:r>
            <a:endParaRPr sz="12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319129" y="4615364"/>
            <a:ext cx="2952115" cy="5861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93444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latin typeface="Arial MT"/>
                <a:cs typeface="Arial MT"/>
              </a:rPr>
              <a:t>Annexure</a:t>
            </a:r>
            <a:r>
              <a:rPr sz="1200" spc="-5" dirty="0">
                <a:latin typeface="Arial MT"/>
                <a:cs typeface="Arial MT"/>
              </a:rPr>
              <a:t> </a:t>
            </a:r>
            <a:r>
              <a:rPr sz="1200" spc="-60" dirty="0">
                <a:latin typeface="Arial MT"/>
                <a:cs typeface="Arial MT"/>
              </a:rPr>
              <a:t>A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290"/>
              </a:spcBef>
            </a:pPr>
            <a:r>
              <a:rPr sz="1400" b="1" spc="-40" dirty="0">
                <a:latin typeface="Times New Roman"/>
                <a:cs typeface="Times New Roman"/>
              </a:rPr>
              <a:t>ANALYTICAL</a:t>
            </a:r>
            <a:r>
              <a:rPr sz="1400" b="1" spc="-70" dirty="0">
                <a:latin typeface="Times New Roman"/>
                <a:cs typeface="Times New Roman"/>
              </a:rPr>
              <a:t> </a:t>
            </a:r>
            <a:r>
              <a:rPr sz="1400" b="1" spc="-20" dirty="0">
                <a:latin typeface="Times New Roman"/>
                <a:cs typeface="Times New Roman"/>
              </a:rPr>
              <a:t>PROBLEM</a:t>
            </a:r>
            <a:r>
              <a:rPr sz="1400" b="1" spc="20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SOLVING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01700" y="5701595"/>
            <a:ext cx="5601335" cy="1563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i="1" dirty="0">
                <a:latin typeface="Times New Roman"/>
                <a:cs typeface="Times New Roman"/>
              </a:rPr>
              <a:t>Code</a:t>
            </a:r>
            <a:r>
              <a:rPr sz="1200" b="1" i="1" spc="-25" dirty="0">
                <a:latin typeface="Times New Roman"/>
                <a:cs typeface="Times New Roman"/>
              </a:rPr>
              <a:t> </a:t>
            </a:r>
            <a:r>
              <a:rPr sz="1200" b="1" i="1" dirty="0">
                <a:latin typeface="Times New Roman"/>
                <a:cs typeface="Times New Roman"/>
              </a:rPr>
              <a:t>of</a:t>
            </a:r>
            <a:r>
              <a:rPr sz="1200" b="1" i="1" spc="-25" dirty="0">
                <a:latin typeface="Times New Roman"/>
                <a:cs typeface="Times New Roman"/>
              </a:rPr>
              <a:t> </a:t>
            </a:r>
            <a:r>
              <a:rPr sz="1200" b="1" i="1" spc="-10" dirty="0">
                <a:latin typeface="Times New Roman"/>
                <a:cs typeface="Times New Roman"/>
              </a:rPr>
              <a:t>Conduct:</a:t>
            </a: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14"/>
              </a:spcBef>
            </a:pPr>
            <a:endParaRPr sz="1200" dirty="0">
              <a:latin typeface="Times New Roman"/>
              <a:cs typeface="Times New Roman"/>
            </a:endParaRPr>
          </a:p>
          <a:p>
            <a:pPr marL="12700" marR="132715">
              <a:lnSpc>
                <a:spcPct val="104200"/>
              </a:lnSpc>
              <a:spcBef>
                <a:spcPts val="5"/>
              </a:spcBef>
            </a:pPr>
            <a:r>
              <a:rPr sz="1200" i="1" dirty="0">
                <a:latin typeface="Times New Roman"/>
                <a:cs typeface="Times New Roman"/>
              </a:rPr>
              <a:t>I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Kadam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lang="en-IN" sz="1200" i="1" spc="-10" dirty="0">
                <a:latin typeface="Times New Roman"/>
                <a:cs typeface="Times New Roman"/>
              </a:rPr>
              <a:t>GODDAVULA NITISH KANTH </a:t>
            </a:r>
            <a:r>
              <a:rPr sz="1200" i="1" spc="-10" dirty="0">
                <a:latin typeface="Times New Roman"/>
                <a:cs typeface="Times New Roman"/>
              </a:rPr>
              <a:t>(192</a:t>
            </a:r>
            <a:r>
              <a:rPr lang="en-IN" sz="1200" i="1" spc="-10" dirty="0">
                <a:latin typeface="Times New Roman"/>
                <a:cs typeface="Times New Roman"/>
              </a:rPr>
              <a:t>512232</a:t>
            </a:r>
            <a:r>
              <a:rPr sz="1200" i="1" spc="-10" dirty="0">
                <a:latin typeface="Times New Roman"/>
                <a:cs typeface="Times New Roman"/>
              </a:rPr>
              <a:t>)</a:t>
            </a:r>
            <a:r>
              <a:rPr sz="1200" i="1" spc="-1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(Name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/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Reg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No)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certify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that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this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submission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is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my</a:t>
            </a:r>
            <a:r>
              <a:rPr sz="1200" i="1" spc="-10" dirty="0">
                <a:latin typeface="Times New Roman"/>
                <a:cs typeface="Times New Roman"/>
              </a:rPr>
              <a:t> original </a:t>
            </a:r>
            <a:r>
              <a:rPr sz="1200" i="1" dirty="0">
                <a:latin typeface="Times New Roman"/>
                <a:cs typeface="Times New Roman"/>
              </a:rPr>
              <a:t>work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that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have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adhered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guidelines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specified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this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assessment.</a:t>
            </a:r>
            <a:endParaRPr sz="12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1200" i="1" dirty="0">
                <a:latin typeface="Times New Roman"/>
                <a:cs typeface="Times New Roman"/>
              </a:rPr>
              <a:t>I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understand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that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any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violation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academic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integrity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rules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will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result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disciplinary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action.</a:t>
            </a: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75"/>
              </a:spcBef>
            </a:pPr>
            <a:endParaRPr sz="12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b="1" i="1" dirty="0">
                <a:latin typeface="Times New Roman"/>
                <a:cs typeface="Times New Roman"/>
              </a:rPr>
              <a:t>Signature</a:t>
            </a:r>
            <a:r>
              <a:rPr sz="1200" b="1" i="1" spc="-15" dirty="0">
                <a:latin typeface="Times New Roman"/>
                <a:cs typeface="Times New Roman"/>
              </a:rPr>
              <a:t> </a:t>
            </a:r>
            <a:r>
              <a:rPr sz="1200" b="1" i="1" dirty="0">
                <a:latin typeface="Times New Roman"/>
                <a:cs typeface="Times New Roman"/>
              </a:rPr>
              <a:t>of</a:t>
            </a:r>
            <a:r>
              <a:rPr sz="1200" b="1" i="1" spc="-10" dirty="0">
                <a:latin typeface="Times New Roman"/>
                <a:cs typeface="Times New Roman"/>
              </a:rPr>
              <a:t> </a:t>
            </a:r>
            <a:r>
              <a:rPr sz="1200" b="1" i="1" dirty="0">
                <a:latin typeface="Times New Roman"/>
                <a:cs typeface="Times New Roman"/>
              </a:rPr>
              <a:t>the</a:t>
            </a:r>
            <a:r>
              <a:rPr sz="1200" b="1" i="1" spc="-15" dirty="0">
                <a:latin typeface="Times New Roman"/>
                <a:cs typeface="Times New Roman"/>
              </a:rPr>
              <a:t> </a:t>
            </a:r>
            <a:r>
              <a:rPr sz="1200" b="1" i="1" spc="-10" dirty="0">
                <a:latin typeface="Times New Roman"/>
                <a:cs typeface="Times New Roman"/>
              </a:rPr>
              <a:t>student:</a:t>
            </a:r>
            <a:r>
              <a:rPr sz="1200" b="1" i="1" spc="-30" dirty="0">
                <a:latin typeface="Times New Roman"/>
                <a:cs typeface="Times New Roman"/>
              </a:rPr>
              <a:t> </a:t>
            </a:r>
            <a:r>
              <a:rPr lang="en-IN" sz="1200" b="1" i="1" spc="-10" dirty="0">
                <a:latin typeface="Times New Roman"/>
                <a:cs typeface="Times New Roman"/>
              </a:rPr>
              <a:t>G.NITISH KANTH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33450" y="2831039"/>
            <a:ext cx="5762625" cy="0"/>
          </a:xfrm>
          <a:custGeom>
            <a:avLst/>
            <a:gdLst/>
            <a:ahLst/>
            <a:cxnLst/>
            <a:rect l="l" t="t" r="r" b="b"/>
            <a:pathLst>
              <a:path w="5762625">
                <a:moveTo>
                  <a:pt x="0" y="0"/>
                </a:moveTo>
                <a:lnTo>
                  <a:pt x="5762625" y="0"/>
                </a:lnTo>
              </a:path>
            </a:pathLst>
          </a:custGeom>
          <a:ln w="381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933450" y="4441167"/>
            <a:ext cx="5762625" cy="0"/>
          </a:xfrm>
          <a:custGeom>
            <a:avLst/>
            <a:gdLst/>
            <a:ahLst/>
            <a:cxnLst/>
            <a:rect l="l" t="t" r="r" b="b"/>
            <a:pathLst>
              <a:path w="5762625">
                <a:moveTo>
                  <a:pt x="0" y="0"/>
                </a:moveTo>
                <a:lnTo>
                  <a:pt x="5762625" y="0"/>
                </a:lnTo>
              </a:path>
            </a:pathLst>
          </a:custGeom>
          <a:ln w="381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933450" y="5485735"/>
            <a:ext cx="5762625" cy="0"/>
          </a:xfrm>
          <a:custGeom>
            <a:avLst/>
            <a:gdLst/>
            <a:ahLst/>
            <a:cxnLst/>
            <a:rect l="l" t="t" r="r" b="b"/>
            <a:pathLst>
              <a:path w="5762625">
                <a:moveTo>
                  <a:pt x="0" y="0"/>
                </a:moveTo>
                <a:lnTo>
                  <a:pt x="5762625" y="0"/>
                </a:lnTo>
              </a:path>
            </a:pathLst>
          </a:custGeom>
          <a:ln w="381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87094" y="1194619"/>
            <a:ext cx="5800090" cy="915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352425" algn="ctr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latin typeface="Arial MT"/>
                <a:cs typeface="Arial MT"/>
              </a:rPr>
              <a:t>Annexure</a:t>
            </a:r>
            <a:r>
              <a:rPr sz="1200" spc="-5" dirty="0">
                <a:latin typeface="Arial MT"/>
                <a:cs typeface="Arial MT"/>
              </a:rPr>
              <a:t> </a:t>
            </a:r>
            <a:r>
              <a:rPr sz="1200" spc="-60" dirty="0">
                <a:latin typeface="Arial MT"/>
                <a:cs typeface="Arial MT"/>
              </a:rPr>
              <a:t>A</a:t>
            </a:r>
            <a:endParaRPr sz="1200">
              <a:latin typeface="Arial MT"/>
              <a:cs typeface="Arial MT"/>
            </a:endParaRPr>
          </a:p>
          <a:p>
            <a:pPr marR="22225" algn="ctr">
              <a:lnSpc>
                <a:spcPct val="100000"/>
              </a:lnSpc>
              <a:spcBef>
                <a:spcPts val="1270"/>
              </a:spcBef>
            </a:pPr>
            <a:r>
              <a:rPr sz="1400" b="1" spc="-40" dirty="0">
                <a:latin typeface="Times New Roman"/>
                <a:cs typeface="Times New Roman"/>
              </a:rPr>
              <a:t>ANALYTICAL</a:t>
            </a:r>
            <a:r>
              <a:rPr sz="1400" b="1" spc="-70" dirty="0">
                <a:latin typeface="Times New Roman"/>
                <a:cs typeface="Times New Roman"/>
              </a:rPr>
              <a:t> </a:t>
            </a:r>
            <a:r>
              <a:rPr sz="1400" b="1" spc="-20" dirty="0">
                <a:latin typeface="Times New Roman"/>
                <a:cs typeface="Times New Roman"/>
              </a:rPr>
              <a:t>PROBLEM</a:t>
            </a:r>
            <a:r>
              <a:rPr sz="1400" b="1" spc="20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SOLVING</a:t>
            </a:r>
            <a:endParaRPr sz="1400">
              <a:latin typeface="Times New Roman"/>
              <a:cs typeface="Times New Roman"/>
            </a:endParaRPr>
          </a:p>
          <a:p>
            <a:pPr marL="240665" marR="5080" indent="-213995" algn="just">
              <a:lnSpc>
                <a:spcPct val="144300"/>
              </a:lnSpc>
              <a:spcBef>
                <a:spcPts val="505"/>
              </a:spcBef>
            </a:pPr>
            <a:r>
              <a:rPr sz="1400" dirty="0">
                <a:latin typeface="Times New Roman"/>
                <a:cs typeface="Times New Roman"/>
              </a:rPr>
              <a:t>1.</a:t>
            </a:r>
            <a:r>
              <a:rPr sz="1400" spc="3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Suppose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want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transmit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message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11100011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protect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errors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CRC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polynomial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X3+1.</a:t>
            </a:r>
            <a:endParaRPr sz="1200">
              <a:latin typeface="Times New Roman"/>
              <a:cs typeface="Times New Roman"/>
            </a:endParaRPr>
          </a:p>
          <a:p>
            <a:pPr marL="208279" algn="just">
              <a:lnSpc>
                <a:spcPct val="100000"/>
              </a:lnSpc>
              <a:spcBef>
                <a:spcPts val="785"/>
              </a:spcBef>
            </a:pPr>
            <a:r>
              <a:rPr sz="1200" dirty="0">
                <a:latin typeface="Times New Roman"/>
                <a:cs typeface="Times New Roman"/>
              </a:rPr>
              <a:t>i.)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polynomial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division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determine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message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should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transmitted.</a:t>
            </a:r>
            <a:endParaRPr sz="1200">
              <a:latin typeface="Times New Roman"/>
              <a:cs typeface="Times New Roman"/>
            </a:endParaRPr>
          </a:p>
          <a:p>
            <a:pPr marL="208279" marR="7620" algn="just">
              <a:lnSpc>
                <a:spcPts val="2220"/>
              </a:lnSpc>
              <a:spcBef>
                <a:spcPts val="175"/>
              </a:spcBef>
            </a:pPr>
            <a:r>
              <a:rPr sz="1200" dirty="0">
                <a:latin typeface="Times New Roman"/>
                <a:cs typeface="Times New Roman"/>
              </a:rPr>
              <a:t>ii)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Suppose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leftmost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bit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message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inverted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noise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transmission </a:t>
            </a:r>
            <a:r>
              <a:rPr sz="1200" dirty="0">
                <a:latin typeface="Times New Roman"/>
                <a:cs typeface="Times New Roman"/>
              </a:rPr>
              <a:t>link.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What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result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receiver's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CRC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calculation?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does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know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that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error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occurred?</a:t>
            </a:r>
            <a:endParaRPr sz="1200">
              <a:latin typeface="Times New Roman"/>
              <a:cs typeface="Times New Roman"/>
            </a:endParaRPr>
          </a:p>
          <a:p>
            <a:pPr marL="208279">
              <a:lnSpc>
                <a:spcPct val="100000"/>
              </a:lnSpc>
              <a:spcBef>
                <a:spcPts val="1280"/>
              </a:spcBef>
            </a:pPr>
            <a:r>
              <a:rPr sz="1200" b="1" spc="-10" dirty="0">
                <a:latin typeface="Times New Roman"/>
                <a:cs typeface="Times New Roman"/>
              </a:rPr>
              <a:t>SOLUTION:</a:t>
            </a:r>
            <a:endParaRPr sz="1200">
              <a:latin typeface="Times New Roman"/>
              <a:cs typeface="Times New Roman"/>
            </a:endParaRPr>
          </a:p>
          <a:p>
            <a:pPr marL="279400">
              <a:lnSpc>
                <a:spcPct val="100000"/>
              </a:lnSpc>
              <a:spcBef>
                <a:spcPts val="635"/>
              </a:spcBef>
            </a:pPr>
            <a:r>
              <a:rPr sz="1400" b="1" spc="-10" dirty="0">
                <a:latin typeface="Times New Roman"/>
                <a:cs typeface="Times New Roman"/>
              </a:rPr>
              <a:t>Given:</a:t>
            </a:r>
            <a:endParaRPr sz="1400">
              <a:latin typeface="Times New Roman"/>
              <a:cs typeface="Times New Roman"/>
            </a:endParaRPr>
          </a:p>
          <a:p>
            <a:pPr marL="469900">
              <a:lnSpc>
                <a:spcPct val="100000"/>
              </a:lnSpc>
              <a:spcBef>
                <a:spcPts val="1475"/>
              </a:spcBef>
            </a:pPr>
            <a:r>
              <a:rPr sz="1200" b="1" dirty="0">
                <a:latin typeface="Times New Roman"/>
                <a:cs typeface="Times New Roman"/>
              </a:rPr>
              <a:t>Message:</a:t>
            </a:r>
            <a:r>
              <a:rPr sz="1200" b="1" spc="-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11100011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410"/>
              </a:lnSpc>
              <a:spcBef>
                <a:spcPts val="60"/>
              </a:spcBef>
            </a:pPr>
            <a:r>
              <a:rPr sz="1200" b="1" spc="-10" dirty="0">
                <a:latin typeface="Times New Roman"/>
                <a:cs typeface="Times New Roman"/>
              </a:rPr>
              <a:t>Generator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Polynomial: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spc="-50" dirty="0">
                <a:latin typeface="Times New Roman"/>
                <a:cs typeface="Times New Roman"/>
              </a:rPr>
              <a:t>x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050"/>
              </a:lnSpc>
            </a:pPr>
            <a:r>
              <a:rPr sz="900" spc="-50" dirty="0">
                <a:latin typeface="Times New Roman"/>
                <a:cs typeface="Times New Roman"/>
              </a:rPr>
              <a:t>3</a:t>
            </a:r>
            <a:endParaRPr sz="9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45"/>
              </a:spcBef>
            </a:pPr>
            <a:endParaRPr sz="900">
              <a:latin typeface="Times New Roman"/>
              <a:cs typeface="Times New Roman"/>
            </a:endParaRPr>
          </a:p>
          <a:p>
            <a:pPr marL="469900" marR="5236210">
              <a:lnSpc>
                <a:spcPct val="104200"/>
              </a:lnSpc>
            </a:pPr>
            <a:r>
              <a:rPr sz="1200" spc="-50" dirty="0">
                <a:latin typeface="Times New Roman"/>
                <a:cs typeface="Times New Roman"/>
              </a:rPr>
              <a:t>+ 1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ct val="100000"/>
              </a:lnSpc>
            </a:pPr>
            <a:r>
              <a:rPr sz="1200" spc="-20" dirty="0">
                <a:latin typeface="Times New Roman"/>
                <a:cs typeface="Times New Roman"/>
              </a:rPr>
              <a:t>x3+1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395"/>
              </a:lnSpc>
              <a:spcBef>
                <a:spcPts val="60"/>
              </a:spcBef>
            </a:pPr>
            <a:r>
              <a:rPr sz="1200" b="1" dirty="0">
                <a:latin typeface="Times New Roman"/>
                <a:cs typeface="Times New Roman"/>
              </a:rPr>
              <a:t>Binary </a:t>
            </a:r>
            <a:r>
              <a:rPr sz="1200" b="1" spc="-10" dirty="0">
                <a:latin typeface="Times New Roman"/>
                <a:cs typeface="Times New Roman"/>
              </a:rPr>
              <a:t>Generator: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1001</a:t>
            </a:r>
            <a:endParaRPr sz="1200">
              <a:latin typeface="Times New Roman"/>
              <a:cs typeface="Times New Roman"/>
            </a:endParaRPr>
          </a:p>
          <a:p>
            <a:pPr marL="224790" indent="-212090">
              <a:lnSpc>
                <a:spcPts val="1635"/>
              </a:lnSpc>
              <a:buAutoNum type="romanLcParenBoth"/>
              <a:tabLst>
                <a:tab pos="224790" algn="l"/>
              </a:tabLst>
            </a:pPr>
            <a:r>
              <a:rPr sz="1400" b="1" dirty="0">
                <a:latin typeface="Times New Roman"/>
                <a:cs typeface="Times New Roman"/>
              </a:rPr>
              <a:t>CRC</a:t>
            </a:r>
            <a:r>
              <a:rPr sz="1400" b="1" spc="-35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Calculation</a:t>
            </a: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475"/>
              </a:spcBef>
            </a:pPr>
            <a:r>
              <a:rPr sz="1200" dirty="0">
                <a:latin typeface="Times New Roman"/>
                <a:cs typeface="Times New Roman"/>
              </a:rPr>
              <a:t>Append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3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zeros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(degree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polynomial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25" dirty="0">
                <a:latin typeface="Times New Roman"/>
                <a:cs typeface="Times New Roman"/>
              </a:rPr>
              <a:t> 3):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60"/>
              </a:spcBef>
            </a:pPr>
            <a:r>
              <a:rPr sz="1200" b="1" spc="-25" dirty="0">
                <a:latin typeface="Times New Roman"/>
                <a:cs typeface="Times New Roman"/>
              </a:rPr>
              <a:t>11100011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→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11100011000</a:t>
            </a:r>
            <a:endParaRPr sz="1200">
              <a:latin typeface="Times New Roman"/>
              <a:cs typeface="Times New Roman"/>
            </a:endParaRPr>
          </a:p>
          <a:p>
            <a:pPr marL="12700" marR="3548379">
              <a:lnSpc>
                <a:spcPct val="187500"/>
              </a:lnSpc>
            </a:pPr>
            <a:r>
              <a:rPr sz="1200" dirty="0">
                <a:latin typeface="Times New Roman"/>
                <a:cs typeface="Times New Roman"/>
              </a:rPr>
              <a:t>Perform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modulo-</a:t>
            </a:r>
            <a:r>
              <a:rPr sz="1200" dirty="0">
                <a:latin typeface="Times New Roman"/>
                <a:cs typeface="Times New Roman"/>
              </a:rPr>
              <a:t>2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division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1001</a:t>
            </a:r>
            <a:r>
              <a:rPr sz="1200" spc="-10" dirty="0">
                <a:latin typeface="Times New Roman"/>
                <a:cs typeface="Times New Roman"/>
              </a:rPr>
              <a:t>. </a:t>
            </a:r>
            <a:r>
              <a:rPr sz="1200" b="1" dirty="0">
                <a:latin typeface="Times New Roman"/>
                <a:cs typeface="Times New Roman"/>
              </a:rPr>
              <a:t>CRC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Remainder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=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25" dirty="0">
                <a:latin typeface="Times New Roman"/>
                <a:cs typeface="Times New Roman"/>
              </a:rPr>
              <a:t>100</a:t>
            </a:r>
            <a:endParaRPr sz="1200">
              <a:latin typeface="Times New Roman"/>
              <a:cs typeface="Times New Roman"/>
            </a:endParaRPr>
          </a:p>
          <a:p>
            <a:pPr marL="12700" marR="3667760">
              <a:lnSpc>
                <a:spcPct val="187500"/>
              </a:lnSpc>
            </a:pPr>
            <a:r>
              <a:rPr sz="1200" dirty="0">
                <a:latin typeface="Times New Roman"/>
                <a:cs typeface="Times New Roman"/>
              </a:rPr>
              <a:t>Hence,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transmitted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message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is: </a:t>
            </a:r>
            <a:r>
              <a:rPr sz="1200" spc="-10" dirty="0">
                <a:latin typeface="Times New Roman"/>
                <a:cs typeface="Times New Roman"/>
              </a:rPr>
              <a:t>11100011100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1200" spc="-10" dirty="0">
                <a:latin typeface="Times New Roman"/>
                <a:cs typeface="Times New Roman"/>
              </a:rPr>
              <a:t>11100011100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200">
              <a:latin typeface="Times New Roman"/>
              <a:cs typeface="Times New Roman"/>
            </a:endParaRPr>
          </a:p>
          <a:p>
            <a:pPr marL="274320" indent="-261620">
              <a:lnSpc>
                <a:spcPct val="100000"/>
              </a:lnSpc>
              <a:spcBef>
                <a:spcPts val="5"/>
              </a:spcBef>
              <a:buAutoNum type="romanLcParenBoth" startAt="2"/>
              <a:tabLst>
                <a:tab pos="274320" algn="l"/>
              </a:tabLst>
            </a:pPr>
            <a:r>
              <a:rPr sz="1400" b="1" spc="-10" dirty="0">
                <a:latin typeface="Times New Roman"/>
                <a:cs typeface="Times New Roman"/>
              </a:rPr>
              <a:t>Error</a:t>
            </a:r>
            <a:r>
              <a:rPr sz="1400" b="1" spc="-55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Detection</a:t>
            </a: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475"/>
              </a:spcBef>
            </a:pPr>
            <a:r>
              <a:rPr sz="1200" dirty="0">
                <a:latin typeface="Times New Roman"/>
                <a:cs typeface="Times New Roman"/>
              </a:rPr>
              <a:t>If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leftmost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inverted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transmission: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60"/>
              </a:spcBef>
            </a:pPr>
            <a:r>
              <a:rPr sz="1200" b="1" spc="-10" dirty="0">
                <a:latin typeface="Times New Roman"/>
                <a:cs typeface="Times New Roman"/>
              </a:rPr>
              <a:t>Transmitted: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11100011100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1200" b="1" dirty="0">
                <a:latin typeface="Times New Roman"/>
                <a:cs typeface="Times New Roman"/>
              </a:rPr>
              <a:t>Received:</a:t>
            </a:r>
            <a:r>
              <a:rPr sz="1200" b="1" spc="-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01100011100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60"/>
              </a:spcBef>
            </a:pPr>
            <a:r>
              <a:rPr sz="1200" dirty="0">
                <a:latin typeface="Times New Roman"/>
                <a:cs typeface="Times New Roman"/>
              </a:rPr>
              <a:t>Dividing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message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1001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gives: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87094" y="849559"/>
            <a:ext cx="4785995" cy="18472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Remainder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=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25" dirty="0">
                <a:latin typeface="Times New Roman"/>
                <a:cs typeface="Times New Roman"/>
              </a:rPr>
              <a:t>001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60"/>
              </a:spcBef>
            </a:pPr>
            <a:r>
              <a:rPr sz="1200" dirty="0">
                <a:latin typeface="Times New Roman"/>
                <a:cs typeface="Times New Roman"/>
              </a:rPr>
              <a:t>Since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remainder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not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000</a:t>
            </a:r>
            <a:r>
              <a:rPr sz="1200" dirty="0">
                <a:latin typeface="Times New Roman"/>
                <a:cs typeface="Times New Roman"/>
              </a:rPr>
              <a:t>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error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occurred.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05"/>
              </a:spcBef>
            </a:pPr>
            <a:r>
              <a:rPr sz="1400" b="1" dirty="0">
                <a:latin typeface="Times New Roman"/>
                <a:cs typeface="Times New Roman"/>
              </a:rPr>
              <a:t>Final</a:t>
            </a:r>
            <a:r>
              <a:rPr sz="1400" b="1" spc="-85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Answer</a:t>
            </a:r>
            <a:endParaRPr sz="1400">
              <a:latin typeface="Times New Roman"/>
              <a:cs typeface="Times New Roman"/>
            </a:endParaRPr>
          </a:p>
          <a:p>
            <a:pPr marL="469900">
              <a:lnSpc>
                <a:spcPct val="100000"/>
              </a:lnSpc>
              <a:spcBef>
                <a:spcPts val="1475"/>
              </a:spcBef>
            </a:pPr>
            <a:r>
              <a:rPr sz="1200" b="1" dirty="0">
                <a:latin typeface="Times New Roman"/>
                <a:cs typeface="Times New Roman"/>
              </a:rPr>
              <a:t>CRC: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spc="-25" dirty="0">
                <a:latin typeface="Times New Roman"/>
                <a:cs typeface="Times New Roman"/>
              </a:rPr>
              <a:t>100</a:t>
            </a:r>
            <a:endParaRPr sz="1200">
              <a:latin typeface="Times New Roman"/>
              <a:cs typeface="Times New Roman"/>
            </a:endParaRPr>
          </a:p>
          <a:p>
            <a:pPr marL="469900" marR="1958339">
              <a:lnSpc>
                <a:spcPct val="104200"/>
              </a:lnSpc>
            </a:pPr>
            <a:r>
              <a:rPr sz="1200" b="1" spc="-10" dirty="0">
                <a:latin typeface="Times New Roman"/>
                <a:cs typeface="Times New Roman"/>
              </a:rPr>
              <a:t>Transmitted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message: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11100011100 </a:t>
            </a:r>
            <a:r>
              <a:rPr sz="1200" b="1" dirty="0">
                <a:latin typeface="Times New Roman"/>
                <a:cs typeface="Times New Roman"/>
              </a:rPr>
              <a:t>Received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remainder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after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error:</a:t>
            </a:r>
            <a:r>
              <a:rPr sz="1200" b="1" spc="-25" dirty="0">
                <a:latin typeface="Times New Roman"/>
                <a:cs typeface="Times New Roman"/>
              </a:rPr>
              <a:t> 001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ct val="100000"/>
              </a:lnSpc>
              <a:spcBef>
                <a:spcPts val="60"/>
              </a:spcBef>
            </a:pPr>
            <a:r>
              <a:rPr sz="1200" b="1" dirty="0">
                <a:latin typeface="Times New Roman"/>
                <a:cs typeface="Times New Roman"/>
              </a:rPr>
              <a:t>Conclusion: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Non-</a:t>
            </a:r>
            <a:r>
              <a:rPr sz="1200" dirty="0">
                <a:latin typeface="Times New Roman"/>
                <a:cs typeface="Times New Roman"/>
              </a:rPr>
              <a:t>zero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remainder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indicates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transmission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error.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3315027"/>
            <a:ext cx="5785485" cy="873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8910" marR="5080" indent="-156845" algn="just">
              <a:lnSpc>
                <a:spcPct val="1545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2.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a)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network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bandwidth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10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Mbps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pass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only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average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12,000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frames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per </a:t>
            </a:r>
            <a:r>
              <a:rPr sz="1200" dirty="0">
                <a:latin typeface="Times New Roman"/>
                <a:cs typeface="Times New Roman"/>
              </a:rPr>
              <a:t>minute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each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frame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carrying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average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10,000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bits.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What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throughput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this </a:t>
            </a:r>
            <a:r>
              <a:rPr sz="1200" spc="-10" dirty="0">
                <a:latin typeface="Times New Roman"/>
                <a:cs typeface="Times New Roman"/>
              </a:rPr>
              <a:t>network?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01700" y="4162566"/>
            <a:ext cx="5135880" cy="873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45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b)</a:t>
            </a:r>
            <a:r>
              <a:rPr sz="1200" spc="4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4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network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has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bandwidth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3000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Hz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(300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3300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Hz)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spc="-10" dirty="0">
                <a:latin typeface="Times New Roman"/>
                <a:cs typeface="Times New Roman"/>
              </a:rPr>
              <a:t>assigned communications.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signal-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to-</a:t>
            </a:r>
            <a:r>
              <a:rPr sz="1200" dirty="0">
                <a:latin typeface="Times New Roman"/>
                <a:cs typeface="Times New Roman"/>
              </a:rPr>
              <a:t>noise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ratio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3162.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channel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capacity </a:t>
            </a:r>
            <a:r>
              <a:rPr sz="1200" b="1" spc="-10" dirty="0">
                <a:latin typeface="Times New Roman"/>
                <a:cs typeface="Times New Roman"/>
              </a:rPr>
              <a:t>SOLUTION: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120484" y="4262199"/>
            <a:ext cx="5657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spc="-20" dirty="0">
                <a:latin typeface="Times New Roman"/>
                <a:cs typeface="Times New Roman"/>
              </a:rPr>
              <a:t>data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87094" y="5117428"/>
            <a:ext cx="30530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Times New Roman"/>
                <a:cs typeface="Times New Roman"/>
              </a:rPr>
              <a:t>(a)</a:t>
            </a:r>
            <a:r>
              <a:rPr sz="1800" b="1" spc="-6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Throughput</a:t>
            </a:r>
            <a:r>
              <a:rPr sz="1800" b="1" spc="-3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of</a:t>
            </a:r>
            <a:r>
              <a:rPr sz="1800" b="1" spc="-2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the</a:t>
            </a:r>
            <a:r>
              <a:rPr sz="1800" b="1" spc="-35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Network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87094" y="5580184"/>
            <a:ext cx="3185160" cy="3383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latin typeface="Times New Roman"/>
                <a:cs typeface="Times New Roman"/>
              </a:rPr>
              <a:t>Given: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42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Bandwidth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10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Mbps</a:t>
            </a:r>
            <a:endParaRPr sz="1200">
              <a:latin typeface="Times New Roman"/>
              <a:cs typeface="Times New Roman"/>
            </a:endParaRPr>
          </a:p>
          <a:p>
            <a:pPr marL="469900" marR="34925">
              <a:lnSpc>
                <a:spcPts val="1400"/>
              </a:lnSpc>
              <a:spcBef>
                <a:spcPts val="60"/>
              </a:spcBef>
            </a:pPr>
            <a:r>
              <a:rPr sz="1200" dirty="0">
                <a:latin typeface="Times New Roman"/>
                <a:cs typeface="Times New Roman"/>
              </a:rPr>
              <a:t>Frames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transmitted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12,000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frames/minute </a:t>
            </a:r>
            <a:r>
              <a:rPr sz="1200" dirty="0">
                <a:latin typeface="Times New Roman"/>
                <a:cs typeface="Times New Roman"/>
              </a:rPr>
              <a:t>Frame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size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10,000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bits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ts val="1360"/>
              </a:lnSpc>
            </a:pPr>
            <a:r>
              <a:rPr sz="1200" b="1" spc="-10" dirty="0">
                <a:latin typeface="Times New Roman"/>
                <a:cs typeface="Times New Roman"/>
              </a:rPr>
              <a:t>Formula: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Throughput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(Frames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×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Bits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frame)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/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Time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b="1" spc="-10" dirty="0">
                <a:latin typeface="Times New Roman"/>
                <a:cs typeface="Times New Roman"/>
              </a:rPr>
              <a:t>Calculation: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Throughput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(12,000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×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10,000)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/</a:t>
            </a:r>
            <a:r>
              <a:rPr sz="1200" spc="-25" dirty="0">
                <a:latin typeface="Times New Roman"/>
                <a:cs typeface="Times New Roman"/>
              </a:rPr>
              <a:t> 60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120,000,000 /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60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= 2,000,000 </a:t>
            </a:r>
            <a:r>
              <a:rPr sz="1200" spc="-25" dirty="0">
                <a:latin typeface="Times New Roman"/>
                <a:cs typeface="Times New Roman"/>
              </a:rPr>
              <a:t>bps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2 </a:t>
            </a:r>
            <a:r>
              <a:rPr sz="1200" b="1" spc="-20" dirty="0">
                <a:latin typeface="Times New Roman"/>
                <a:cs typeface="Times New Roman"/>
              </a:rPr>
              <a:t>Mbps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b="1" dirty="0">
                <a:latin typeface="Times New Roman"/>
                <a:cs typeface="Times New Roman"/>
              </a:rPr>
              <a:t>Answer: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throughput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network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2</a:t>
            </a:r>
            <a:r>
              <a:rPr sz="1200" b="1" spc="-20" dirty="0">
                <a:latin typeface="Times New Roman"/>
                <a:cs typeface="Times New Roman"/>
              </a:rPr>
              <a:t> Mbps</a:t>
            </a:r>
            <a:r>
              <a:rPr sz="1200" spc="-20" dirty="0">
                <a:latin typeface="Times New Roman"/>
                <a:cs typeface="Times New Roman"/>
              </a:rPr>
              <a:t>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87094" y="9282234"/>
            <a:ext cx="21215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Times New Roman"/>
                <a:cs typeface="Times New Roman"/>
              </a:rPr>
              <a:t>(b)</a:t>
            </a:r>
            <a:r>
              <a:rPr sz="1800" b="1" spc="-1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Channel</a:t>
            </a:r>
            <a:r>
              <a:rPr sz="1800" b="1" spc="-20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Capacity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87094" y="9744990"/>
            <a:ext cx="2660015" cy="716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latin typeface="Times New Roman"/>
                <a:cs typeface="Times New Roman"/>
              </a:rPr>
              <a:t>Given: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42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Bandwidth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(B)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3000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Hz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420"/>
              </a:lnSpc>
            </a:pPr>
            <a:r>
              <a:rPr sz="1200" spc="-10" dirty="0">
                <a:latin typeface="Times New Roman"/>
                <a:cs typeface="Times New Roman"/>
              </a:rPr>
              <a:t>Signal-to-</a:t>
            </a:r>
            <a:r>
              <a:rPr sz="1200" dirty="0">
                <a:latin typeface="Times New Roman"/>
                <a:cs typeface="Times New Roman"/>
              </a:rPr>
              <a:t>Noise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Ratio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(S/N)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3162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87094" y="838200"/>
            <a:ext cx="2740025" cy="25571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Formula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(Shannon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Capacity):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05"/>
              </a:spcBef>
            </a:pPr>
            <a:r>
              <a:rPr sz="1200" dirty="0">
                <a:latin typeface="Times New Roman"/>
                <a:cs typeface="Times New Roman"/>
              </a:rPr>
              <a:t>C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×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</a:t>
            </a:r>
            <a:r>
              <a:rPr sz="1200" dirty="0">
                <a:latin typeface="Trebuchet MS"/>
                <a:cs typeface="Trebuchet MS"/>
              </a:rPr>
              <a:t>₂</a:t>
            </a:r>
            <a:r>
              <a:rPr sz="1200" dirty="0">
                <a:latin typeface="Times New Roman"/>
                <a:cs typeface="Times New Roman"/>
              </a:rPr>
              <a:t>(1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+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S/N)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b="1" spc="-10" dirty="0">
                <a:latin typeface="Times New Roman"/>
                <a:cs typeface="Times New Roman"/>
              </a:rPr>
              <a:t>Calculation: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05"/>
              </a:spcBef>
            </a:pPr>
            <a:r>
              <a:rPr sz="1200" dirty="0">
                <a:latin typeface="Times New Roman"/>
                <a:cs typeface="Times New Roman"/>
              </a:rPr>
              <a:t>C = 3000 × </a:t>
            </a:r>
            <a:r>
              <a:rPr sz="1200" spc="-10" dirty="0">
                <a:latin typeface="Times New Roman"/>
                <a:cs typeface="Times New Roman"/>
              </a:rPr>
              <a:t>log</a:t>
            </a:r>
            <a:r>
              <a:rPr sz="1200" spc="-10" dirty="0">
                <a:latin typeface="Trebuchet MS"/>
                <a:cs typeface="Trebuchet MS"/>
              </a:rPr>
              <a:t>₂</a:t>
            </a:r>
            <a:r>
              <a:rPr sz="1200" spc="-10" dirty="0">
                <a:latin typeface="Times New Roman"/>
                <a:cs typeface="Times New Roman"/>
              </a:rPr>
              <a:t>(3163)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≈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3000 ×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11.63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≈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34,890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bps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≈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34.9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kbps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b="1" dirty="0">
                <a:latin typeface="Times New Roman"/>
                <a:cs typeface="Times New Roman"/>
              </a:rPr>
              <a:t>Answer: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channel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capacity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34.9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kbps</a:t>
            </a:r>
            <a:r>
              <a:rPr sz="1200" spc="-10" dirty="0">
                <a:latin typeface="Times New Roman"/>
                <a:cs typeface="Times New Roman"/>
              </a:rPr>
              <a:t>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3950168"/>
            <a:ext cx="5784850" cy="20040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9385" marR="5080" indent="-147320" algn="just">
              <a:lnSpc>
                <a:spcPct val="1545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3.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multispecialty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hospital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wireless</a:t>
            </a:r>
            <a:r>
              <a:rPr sz="1200" spc="-10" dirty="0">
                <a:latin typeface="Times New Roman"/>
                <a:cs typeface="Times New Roman"/>
              </a:rPr>
              <a:t> patient-</a:t>
            </a:r>
            <a:r>
              <a:rPr sz="1200" dirty="0">
                <a:latin typeface="Times New Roman"/>
                <a:cs typeface="Times New Roman"/>
              </a:rPr>
              <a:t>monitoring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devices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continuously</a:t>
            </a:r>
            <a:r>
              <a:rPr sz="1200" spc="-10" dirty="0">
                <a:latin typeface="Times New Roman"/>
                <a:cs typeface="Times New Roman"/>
              </a:rPr>
              <a:t> transmit </a:t>
            </a:r>
            <a:r>
              <a:rPr sz="1200" dirty="0">
                <a:latin typeface="Times New Roman"/>
                <a:cs typeface="Times New Roman"/>
              </a:rPr>
              <a:t>patients'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heart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blood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pressure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readings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central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monitoring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station.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Since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transmitted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wireless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channel,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electromagnetic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interference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occasionally </a:t>
            </a:r>
            <a:r>
              <a:rPr sz="1200" dirty="0">
                <a:latin typeface="Times New Roman"/>
                <a:cs typeface="Times New Roman"/>
              </a:rPr>
              <a:t>changes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one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bit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transmission.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doctors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accurate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patient </a:t>
            </a:r>
            <a:r>
              <a:rPr sz="1200" dirty="0">
                <a:latin typeface="Times New Roman"/>
                <a:cs typeface="Times New Roman"/>
              </a:rPr>
              <a:t>information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waiting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retransmission,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hospital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implements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Hamming </a:t>
            </a:r>
            <a:r>
              <a:rPr sz="1200" b="1" dirty="0">
                <a:latin typeface="Times New Roman"/>
                <a:cs typeface="Times New Roman"/>
              </a:rPr>
              <a:t>(12,8)</a:t>
            </a:r>
            <a:r>
              <a:rPr sz="1200" b="1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error-</a:t>
            </a:r>
            <a:r>
              <a:rPr sz="1200" dirty="0">
                <a:latin typeface="Times New Roman"/>
                <a:cs typeface="Times New Roman"/>
              </a:rPr>
              <a:t>correcting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code.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1200" b="1" spc="-10" dirty="0">
                <a:latin typeface="Times New Roman"/>
                <a:cs typeface="Times New Roman"/>
              </a:rPr>
              <a:t>SOLUTION: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87094" y="6035716"/>
            <a:ext cx="41408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Times New Roman"/>
                <a:cs typeface="Times New Roman"/>
              </a:rPr>
              <a:t>Hamming</a:t>
            </a:r>
            <a:r>
              <a:rPr sz="1800" b="1" spc="-3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(12,8)</a:t>
            </a:r>
            <a:r>
              <a:rPr sz="1800" b="1" spc="-3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Code</a:t>
            </a:r>
            <a:r>
              <a:rPr sz="1800" b="1" spc="-3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–</a:t>
            </a:r>
            <a:r>
              <a:rPr sz="1800" b="1" spc="-3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Hospital</a:t>
            </a:r>
            <a:r>
              <a:rPr sz="1800" b="1" spc="-35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Scenario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87094" y="6498473"/>
            <a:ext cx="5972810" cy="3865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420"/>
              </a:lnSpc>
              <a:spcBef>
                <a:spcPts val="100"/>
              </a:spcBef>
            </a:pPr>
            <a:r>
              <a:rPr sz="1200" b="1" spc="-10" dirty="0">
                <a:latin typeface="Times New Roman"/>
                <a:cs typeface="Times New Roman"/>
              </a:rPr>
              <a:t>Problem:</a:t>
            </a:r>
            <a:endParaRPr sz="1200">
              <a:latin typeface="Times New Roman"/>
              <a:cs typeface="Times New Roman"/>
            </a:endParaRPr>
          </a:p>
          <a:p>
            <a:pPr marL="12700" marR="74295">
              <a:lnSpc>
                <a:spcPts val="1400"/>
              </a:lnSpc>
              <a:spcBef>
                <a:spcPts val="60"/>
              </a:spcBef>
            </a:pP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multispecialty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hospital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wireless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patient-</a:t>
            </a:r>
            <a:r>
              <a:rPr sz="1200" dirty="0">
                <a:latin typeface="Times New Roman"/>
                <a:cs typeface="Times New Roman"/>
              </a:rPr>
              <a:t>monitoring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devices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continuously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patients' </a:t>
            </a:r>
            <a:r>
              <a:rPr sz="1200" dirty="0">
                <a:latin typeface="Times New Roman"/>
                <a:cs typeface="Times New Roman"/>
              </a:rPr>
              <a:t>heart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blood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pressure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readings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central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monitoring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station.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electromagnetic interference,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single-</a:t>
            </a:r>
            <a:r>
              <a:rPr sz="1200" b="1" dirty="0">
                <a:latin typeface="Times New Roman"/>
                <a:cs typeface="Times New Roman"/>
              </a:rPr>
              <a:t>bit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error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occur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transmission.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accurate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data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retransmission,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hospital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Hamming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(12,8)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25" dirty="0">
                <a:latin typeface="Times New Roman"/>
                <a:cs typeface="Times New Roman"/>
              </a:rPr>
              <a:t>error-</a:t>
            </a:r>
            <a:r>
              <a:rPr sz="1200" b="1" spc="-10" dirty="0">
                <a:latin typeface="Times New Roman"/>
                <a:cs typeface="Times New Roman"/>
              </a:rPr>
              <a:t>correcting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code</a:t>
            </a:r>
            <a:r>
              <a:rPr sz="1200" spc="-10" dirty="0">
                <a:latin typeface="Times New Roman"/>
                <a:cs typeface="Times New Roman"/>
              </a:rPr>
              <a:t>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20"/>
              </a:spcBef>
            </a:pPr>
            <a:r>
              <a:rPr sz="1200" b="1" spc="-10" dirty="0">
                <a:latin typeface="Times New Roman"/>
                <a:cs typeface="Times New Roman"/>
              </a:rPr>
              <a:t>Solution:</a:t>
            </a:r>
            <a:endParaRPr sz="1200">
              <a:latin typeface="Times New Roman"/>
              <a:cs typeface="Times New Roman"/>
            </a:endParaRPr>
          </a:p>
          <a:p>
            <a:pPr marL="469900" marR="5080">
              <a:lnSpc>
                <a:spcPts val="1400"/>
              </a:lnSpc>
              <a:spcBef>
                <a:spcPts val="124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Hamming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(12,8)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code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converts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every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8-</a:t>
            </a:r>
            <a:r>
              <a:rPr sz="1200" b="1" dirty="0">
                <a:latin typeface="Times New Roman"/>
                <a:cs typeface="Times New Roman"/>
              </a:rPr>
              <a:t>bit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data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12-</a:t>
            </a:r>
            <a:r>
              <a:rPr sz="1200" b="1" dirty="0">
                <a:latin typeface="Times New Roman"/>
                <a:cs typeface="Times New Roman"/>
              </a:rPr>
              <a:t>bit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codeword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spc="-50" dirty="0">
                <a:latin typeface="Times New Roman"/>
                <a:cs typeface="Times New Roman"/>
              </a:rPr>
              <a:t>4 </a:t>
            </a:r>
            <a:r>
              <a:rPr sz="1200" b="1" dirty="0">
                <a:latin typeface="Times New Roman"/>
                <a:cs typeface="Times New Roman"/>
              </a:rPr>
              <a:t>parity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bits</a:t>
            </a:r>
            <a:r>
              <a:rPr sz="1200" spc="-10" dirty="0">
                <a:latin typeface="Times New Roman"/>
                <a:cs typeface="Times New Roman"/>
              </a:rPr>
              <a:t>.</a:t>
            </a:r>
            <a:endParaRPr sz="1200">
              <a:latin typeface="Times New Roman"/>
              <a:cs typeface="Times New Roman"/>
            </a:endParaRPr>
          </a:p>
          <a:p>
            <a:pPr marL="469900" marR="38735">
              <a:lnSpc>
                <a:spcPts val="1400"/>
              </a:lnSpc>
            </a:pP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transmission,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single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bit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is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changed</a:t>
            </a:r>
            <a:r>
              <a:rPr sz="1200" dirty="0">
                <a:latin typeface="Times New Roman"/>
                <a:cs typeface="Times New Roman"/>
              </a:rPr>
              <a:t>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parity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bits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</a:t>
            </a:r>
            <a:r>
              <a:rPr sz="1200" spc="-25" dirty="0">
                <a:latin typeface="Times New Roman"/>
                <a:cs typeface="Times New Roman"/>
              </a:rPr>
              <a:t> the </a:t>
            </a:r>
            <a:r>
              <a:rPr sz="1200" dirty="0">
                <a:latin typeface="Times New Roman"/>
                <a:cs typeface="Times New Roman"/>
              </a:rPr>
              <a:t>exact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position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error.</a:t>
            </a:r>
            <a:endParaRPr sz="1200">
              <a:latin typeface="Times New Roman"/>
              <a:cs typeface="Times New Roman"/>
            </a:endParaRPr>
          </a:p>
          <a:p>
            <a:pPr marL="469900" marR="400050">
              <a:lnSpc>
                <a:spcPts val="14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automatically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corrects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the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erroneous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bit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asking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sender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 </a:t>
            </a:r>
            <a:r>
              <a:rPr sz="1200" dirty="0">
                <a:latin typeface="Times New Roman"/>
                <a:cs typeface="Times New Roman"/>
              </a:rPr>
              <a:t>retransmit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data.</a:t>
            </a:r>
            <a:endParaRPr sz="1200">
              <a:latin typeface="Times New Roman"/>
              <a:cs typeface="Times New Roman"/>
            </a:endParaRPr>
          </a:p>
          <a:p>
            <a:pPr marL="469900" marR="394335">
              <a:lnSpc>
                <a:spcPts val="1400"/>
              </a:lnSpc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continuous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reliable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monitoring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patients,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presence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wireless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interference.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ts val="1360"/>
              </a:lnSpc>
            </a:pPr>
            <a:r>
              <a:rPr sz="1200" b="1" spc="-10" dirty="0">
                <a:latin typeface="Times New Roman"/>
                <a:cs typeface="Times New Roman"/>
              </a:rPr>
              <a:t>Advantages:</a:t>
            </a:r>
            <a:endParaRPr sz="1200">
              <a:latin typeface="Times New Roman"/>
              <a:cs typeface="Times New Roman"/>
            </a:endParaRPr>
          </a:p>
          <a:p>
            <a:pPr marL="469900" marR="3111500" algn="just">
              <a:lnSpc>
                <a:spcPts val="1400"/>
              </a:lnSpc>
              <a:spcBef>
                <a:spcPts val="1240"/>
              </a:spcBef>
            </a:pPr>
            <a:r>
              <a:rPr sz="1200" dirty="0">
                <a:latin typeface="Times New Roman"/>
                <a:cs typeface="Times New Roman"/>
              </a:rPr>
              <a:t>Detects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corrects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single-</a:t>
            </a:r>
            <a:r>
              <a:rPr sz="1200" b="1" dirty="0">
                <a:latin typeface="Times New Roman"/>
                <a:cs typeface="Times New Roman"/>
              </a:rPr>
              <a:t>bit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errors</a:t>
            </a:r>
            <a:r>
              <a:rPr sz="1200" spc="-10" dirty="0">
                <a:latin typeface="Times New Roman"/>
                <a:cs typeface="Times New Roman"/>
              </a:rPr>
              <a:t>. </a:t>
            </a:r>
            <a:r>
              <a:rPr sz="1200" dirty="0">
                <a:latin typeface="Times New Roman"/>
                <a:cs typeface="Times New Roman"/>
              </a:rPr>
              <a:t>Eliminates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retransmission. </a:t>
            </a:r>
            <a:r>
              <a:rPr sz="1200" dirty="0">
                <a:latin typeface="Times New Roman"/>
                <a:cs typeface="Times New Roman"/>
              </a:rPr>
              <a:t>Reduces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communication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delay.</a:t>
            </a:r>
            <a:endParaRPr sz="1200">
              <a:latin typeface="Times New Roman"/>
              <a:cs typeface="Times New Roman"/>
            </a:endParaRPr>
          </a:p>
          <a:p>
            <a:pPr marL="469900" algn="just">
              <a:lnSpc>
                <a:spcPts val="1360"/>
              </a:lnSpc>
            </a:pPr>
            <a:r>
              <a:rPr sz="1200" dirty="0">
                <a:latin typeface="Times New Roman"/>
                <a:cs typeface="Times New Roman"/>
              </a:rPr>
              <a:t>Improves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reliability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accuracy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patient-</a:t>
            </a:r>
            <a:r>
              <a:rPr sz="1200" dirty="0">
                <a:latin typeface="Times New Roman"/>
                <a:cs typeface="Times New Roman"/>
              </a:rPr>
              <a:t>monitoring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data.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87094" y="838200"/>
            <a:ext cx="5749290" cy="1097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>
              <a:lnSpc>
                <a:spcPts val="142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doctors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correct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patient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information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timely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medical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decisions.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ts val="1400"/>
              </a:lnSpc>
            </a:pPr>
            <a:r>
              <a:rPr sz="1200" b="1" spc="-10" dirty="0">
                <a:latin typeface="Times New Roman"/>
                <a:cs typeface="Times New Roman"/>
              </a:rPr>
              <a:t>Conclusion:</a:t>
            </a:r>
            <a:endParaRPr sz="1200">
              <a:latin typeface="Times New Roman"/>
              <a:cs typeface="Times New Roman"/>
            </a:endParaRPr>
          </a:p>
          <a:p>
            <a:pPr marL="12700" marR="5080">
              <a:lnSpc>
                <a:spcPts val="1400"/>
              </a:lnSpc>
              <a:spcBef>
                <a:spcPts val="60"/>
              </a:spcBef>
            </a:pP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Hamming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(12,8)</a:t>
            </a:r>
            <a:r>
              <a:rPr sz="1200" b="1" spc="-25" dirty="0">
                <a:latin typeface="Times New Roman"/>
                <a:cs typeface="Times New Roman"/>
              </a:rPr>
              <a:t> error-</a:t>
            </a:r>
            <a:r>
              <a:rPr sz="1200" b="1" spc="-10" dirty="0">
                <a:latin typeface="Times New Roman"/>
                <a:cs typeface="Times New Roman"/>
              </a:rPr>
              <a:t>correcting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code</a:t>
            </a:r>
            <a:r>
              <a:rPr sz="1200" dirty="0">
                <a:latin typeface="Times New Roman"/>
                <a:cs typeface="Times New Roman"/>
              </a:rPr>
              <a:t>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hospital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patient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is </a:t>
            </a:r>
            <a:r>
              <a:rPr sz="1200" dirty="0">
                <a:latin typeface="Times New Roman"/>
                <a:cs typeface="Times New Roman"/>
              </a:rPr>
              <a:t>transmitted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accurately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efficiently.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if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single-</a:t>
            </a:r>
            <a:r>
              <a:rPr sz="1200" dirty="0">
                <a:latin typeface="Times New Roman"/>
                <a:cs typeface="Times New Roman"/>
              </a:rPr>
              <a:t>bit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error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occurs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electromagnetic interference,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correct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automatically,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reliable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spc="-20" dirty="0">
                <a:latin typeface="Times New Roman"/>
                <a:cs typeface="Times New Roman"/>
              </a:rPr>
              <a:t>time </a:t>
            </a:r>
            <a:r>
              <a:rPr sz="1200" spc="-10" dirty="0">
                <a:latin typeface="Times New Roman"/>
                <a:cs typeface="Times New Roman"/>
              </a:rPr>
              <a:t>healthcare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monitoring.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87094" y="2494845"/>
            <a:ext cx="5823585" cy="7802245"/>
          </a:xfrm>
          <a:prstGeom prst="rect">
            <a:avLst/>
          </a:prstGeom>
        </p:spPr>
        <p:txBody>
          <a:bodyPr vert="horz" wrap="square" lIns="0" tIns="107950" rIns="0" bIns="0" rtlCol="0">
            <a:spAutoFit/>
          </a:bodyPr>
          <a:lstStyle/>
          <a:p>
            <a:pPr marL="27305" algn="just">
              <a:lnSpc>
                <a:spcPct val="100000"/>
              </a:lnSpc>
              <a:spcBef>
                <a:spcPts val="850"/>
              </a:spcBef>
            </a:pPr>
            <a:r>
              <a:rPr sz="1200" dirty="0">
                <a:latin typeface="Times New Roman"/>
                <a:cs typeface="Times New Roman"/>
              </a:rPr>
              <a:t>4.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a)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company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IP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172.16.10.0/24</a:t>
            </a:r>
            <a:r>
              <a:rPr sz="1200" b="1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implemented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subnetting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50" dirty="0">
                <a:latin typeface="Times New Roman"/>
                <a:cs typeface="Times New Roman"/>
              </a:rPr>
              <a:t>a</a:t>
            </a:r>
            <a:endParaRPr sz="1200">
              <a:latin typeface="Times New Roman"/>
              <a:cs typeface="Times New Roman"/>
            </a:endParaRPr>
          </a:p>
          <a:p>
            <a:pPr marL="27305" marR="6350" algn="just">
              <a:lnSpc>
                <a:spcPts val="2220"/>
              </a:lnSpc>
              <a:spcBef>
                <a:spcPts val="170"/>
              </a:spcBef>
            </a:pPr>
            <a:r>
              <a:rPr sz="1200" b="1" dirty="0">
                <a:latin typeface="Times New Roman"/>
                <a:cs typeface="Times New Roman"/>
              </a:rPr>
              <a:t>/27</a:t>
            </a:r>
            <a:r>
              <a:rPr sz="1200" b="1" spc="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subnet</a:t>
            </a:r>
            <a:r>
              <a:rPr sz="1200" b="1" spc="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mask</a:t>
            </a:r>
            <a:r>
              <a:rPr sz="1200" b="1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internal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departments.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given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subnet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mask,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apply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subnetting </a:t>
            </a:r>
            <a:r>
              <a:rPr sz="1200" dirty="0">
                <a:latin typeface="Times New Roman"/>
                <a:cs typeface="Times New Roman"/>
              </a:rPr>
              <a:t>techniques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calculate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total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number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subnets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created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number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usable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hosts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per </a:t>
            </a:r>
            <a:r>
              <a:rPr sz="1200" dirty="0">
                <a:latin typeface="Times New Roman"/>
                <a:cs typeface="Times New Roman"/>
              </a:rPr>
              <a:t>subnet.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Determine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subnet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IP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172.16.10.78</a:t>
            </a:r>
            <a:r>
              <a:rPr sz="1200" b="1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belongs.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Identify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network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broadcast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subnet.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determine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whether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IP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address </a:t>
            </a:r>
            <a:r>
              <a:rPr sz="1200" b="1" dirty="0">
                <a:latin typeface="Times New Roman"/>
                <a:cs typeface="Times New Roman"/>
              </a:rPr>
              <a:t>172.16.10.95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falls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same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subnet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range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given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configuration.</a:t>
            </a:r>
            <a:endParaRPr sz="1200">
              <a:latin typeface="Times New Roman"/>
              <a:cs typeface="Times New Roman"/>
            </a:endParaRPr>
          </a:p>
          <a:p>
            <a:pPr marL="27305" marR="28575" algn="just">
              <a:lnSpc>
                <a:spcPts val="2220"/>
              </a:lnSpc>
              <a:spcBef>
                <a:spcPts val="30"/>
              </a:spcBef>
            </a:pPr>
            <a:r>
              <a:rPr sz="1200" dirty="0">
                <a:latin typeface="Times New Roman"/>
                <a:cs typeface="Times New Roman"/>
              </a:rPr>
              <a:t>b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)</a:t>
            </a:r>
            <a:r>
              <a:rPr sz="1200" spc="18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9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</a:t>
            </a:r>
            <a:r>
              <a:rPr sz="1200" spc="21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u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</a:t>
            </a:r>
            <a:r>
              <a:rPr sz="1200" spc="2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</a:t>
            </a:r>
            <a:r>
              <a:rPr sz="1200" spc="2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</a:t>
            </a:r>
            <a:r>
              <a:rPr sz="1200" spc="21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P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</a:t>
            </a:r>
            <a:r>
              <a:rPr sz="1200" spc="2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v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</a:t>
            </a:r>
            <a:r>
              <a:rPr sz="1200" spc="2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6</a:t>
            </a:r>
            <a:r>
              <a:rPr sz="1200" spc="2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spc="-50" dirty="0">
                <a:latin typeface="Times New Roman"/>
                <a:cs typeface="Times New Roman"/>
              </a:rPr>
              <a:t>s </a:t>
            </a:r>
            <a:r>
              <a:rPr sz="1200" b="1" dirty="0">
                <a:latin typeface="Times New Roman"/>
                <a:cs typeface="Times New Roman"/>
              </a:rPr>
              <a:t>2001:0db8:0000:0000:0000:ff00:0042:8329</a:t>
            </a:r>
            <a:r>
              <a:rPr sz="1200" dirty="0">
                <a:latin typeface="Times New Roman"/>
                <a:cs typeface="Times New Roman"/>
              </a:rPr>
              <a:t>.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Apply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IPv6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addressing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rules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compress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given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shortest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form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then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expand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compressed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back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full</a:t>
            </a:r>
            <a:endParaRPr sz="1200">
              <a:latin typeface="Times New Roman"/>
              <a:cs typeface="Times New Roman"/>
            </a:endParaRPr>
          </a:p>
          <a:p>
            <a:pPr marL="27305" marR="5080" algn="just">
              <a:lnSpc>
                <a:spcPct val="154500"/>
              </a:lnSpc>
              <a:spcBef>
                <a:spcPts val="105"/>
              </a:spcBef>
            </a:pPr>
            <a:r>
              <a:rPr sz="1200" dirty="0">
                <a:latin typeface="Times New Roman"/>
                <a:cs typeface="Times New Roman"/>
              </a:rPr>
              <a:t>notation.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prefix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length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/64</a:t>
            </a:r>
            <a:r>
              <a:rPr sz="1200" dirty="0">
                <a:latin typeface="Times New Roman"/>
                <a:cs typeface="Times New Roman"/>
              </a:rPr>
              <a:t>,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determine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network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prefix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given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address. </a:t>
            </a:r>
            <a:r>
              <a:rPr sz="1200" dirty="0">
                <a:latin typeface="Times New Roman"/>
                <a:cs typeface="Times New Roman"/>
              </a:rPr>
              <a:t>Also,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calculate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total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number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possible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host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addresses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available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network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based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given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prefix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length.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5"/>
              </a:spcBef>
            </a:pPr>
            <a:endParaRPr sz="1200">
              <a:latin typeface="Times New Roman"/>
              <a:cs typeface="Times New Roman"/>
            </a:endParaRPr>
          </a:p>
          <a:p>
            <a:pPr marL="27305">
              <a:lnSpc>
                <a:spcPct val="100000"/>
              </a:lnSpc>
            </a:pPr>
            <a:r>
              <a:rPr sz="1200" b="1" spc="-10" dirty="0">
                <a:latin typeface="Times New Roman"/>
                <a:cs typeface="Times New Roman"/>
              </a:rPr>
              <a:t>SOLUTION:</a:t>
            </a: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  <a:spcBef>
                <a:spcPts val="844"/>
              </a:spcBef>
            </a:pPr>
            <a:r>
              <a:rPr sz="1800" b="1" dirty="0">
                <a:latin typeface="Times New Roman"/>
                <a:cs typeface="Times New Roman"/>
              </a:rPr>
              <a:t>(a)</a:t>
            </a:r>
            <a:r>
              <a:rPr sz="1800" b="1" spc="-2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IPv4</a:t>
            </a:r>
            <a:r>
              <a:rPr sz="1800" b="1" spc="-20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Subnetting</a:t>
            </a:r>
            <a:endParaRPr sz="18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595"/>
              </a:spcBef>
            </a:pPr>
            <a:r>
              <a:rPr sz="1200" b="1" spc="-10" dirty="0">
                <a:latin typeface="Times New Roman"/>
                <a:cs typeface="Times New Roman"/>
              </a:rPr>
              <a:t>Given: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42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Network: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172.16.10.0/24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420"/>
              </a:lnSpc>
            </a:pPr>
            <a:r>
              <a:rPr sz="1200" dirty="0">
                <a:latin typeface="Times New Roman"/>
                <a:cs typeface="Times New Roman"/>
              </a:rPr>
              <a:t>Subnet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Mask: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b="1" spc="-25" dirty="0">
                <a:latin typeface="Times New Roman"/>
                <a:cs typeface="Times New Roman"/>
              </a:rPr>
              <a:t>/27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400" b="1" dirty="0">
                <a:latin typeface="Times New Roman"/>
                <a:cs typeface="Times New Roman"/>
              </a:rPr>
              <a:t>Step</a:t>
            </a:r>
            <a:r>
              <a:rPr sz="1400" b="1" spc="-1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1:</a:t>
            </a:r>
            <a:r>
              <a:rPr sz="1400" b="1" spc="-1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Number</a:t>
            </a:r>
            <a:r>
              <a:rPr sz="1400" b="1" spc="-3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of</a:t>
            </a:r>
            <a:r>
              <a:rPr sz="1400" b="1" spc="-10" dirty="0">
                <a:latin typeface="Times New Roman"/>
                <a:cs typeface="Times New Roman"/>
              </a:rPr>
              <a:t> Subnets</a:t>
            </a:r>
            <a:endParaRPr sz="1400">
              <a:latin typeface="Times New Roman"/>
              <a:cs typeface="Times New Roman"/>
            </a:endParaRPr>
          </a:p>
          <a:p>
            <a:pPr marL="12700" marR="3928745">
              <a:lnSpc>
                <a:spcPct val="184400"/>
              </a:lnSpc>
              <a:spcBef>
                <a:spcPts val="160"/>
              </a:spcBef>
            </a:pPr>
            <a:r>
              <a:rPr sz="1200" dirty="0">
                <a:latin typeface="Times New Roman"/>
                <a:cs typeface="Times New Roman"/>
              </a:rPr>
              <a:t>Borrowed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bits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27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−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24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spc="-50" dirty="0">
                <a:latin typeface="Times New Roman"/>
                <a:cs typeface="Times New Roman"/>
              </a:rPr>
              <a:t>3 </a:t>
            </a:r>
            <a:r>
              <a:rPr sz="1200" dirty="0">
                <a:latin typeface="Times New Roman"/>
                <a:cs typeface="Times New Roman"/>
              </a:rPr>
              <a:t>Number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subnets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2³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b="1" spc="-50" dirty="0">
                <a:latin typeface="Times New Roman"/>
                <a:cs typeface="Times New Roman"/>
              </a:rPr>
              <a:t>8 </a:t>
            </a:r>
            <a:r>
              <a:rPr sz="1400" b="1" dirty="0">
                <a:latin typeface="Times New Roman"/>
                <a:cs typeface="Times New Roman"/>
              </a:rPr>
              <a:t>Step</a:t>
            </a:r>
            <a:r>
              <a:rPr sz="1400" b="1" spc="-1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2:</a:t>
            </a:r>
            <a:r>
              <a:rPr sz="1400" b="1" spc="-1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Hosts</a:t>
            </a:r>
            <a:r>
              <a:rPr sz="1400" b="1" spc="-1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per</a:t>
            </a:r>
            <a:r>
              <a:rPr sz="1400" b="1" spc="-40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Subnet </a:t>
            </a:r>
            <a:r>
              <a:rPr sz="1200" dirty="0">
                <a:latin typeface="Times New Roman"/>
                <a:cs typeface="Times New Roman"/>
              </a:rPr>
              <a:t>Host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bits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32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− 27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50" dirty="0">
                <a:latin typeface="Times New Roman"/>
                <a:cs typeface="Times New Roman"/>
              </a:rPr>
              <a:t>5</a:t>
            </a:r>
            <a:endParaRPr sz="1200">
              <a:latin typeface="Times New Roman"/>
              <a:cs typeface="Times New Roman"/>
            </a:endParaRPr>
          </a:p>
          <a:p>
            <a:pPr marL="12700" marR="4160520">
              <a:lnSpc>
                <a:spcPct val="180600"/>
              </a:lnSpc>
              <a:spcBef>
                <a:spcPts val="145"/>
              </a:spcBef>
            </a:pPr>
            <a:r>
              <a:rPr sz="1200" spc="-20" dirty="0">
                <a:latin typeface="Times New Roman"/>
                <a:cs typeface="Times New Roman"/>
              </a:rPr>
              <a:t>Total</a:t>
            </a:r>
            <a:r>
              <a:rPr sz="1200" dirty="0">
                <a:latin typeface="Times New Roman"/>
                <a:cs typeface="Times New Roman"/>
              </a:rPr>
              <a:t> hosts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2</a:t>
            </a:r>
            <a:r>
              <a:rPr sz="1200" dirty="0">
                <a:latin typeface="Trebuchet MS"/>
                <a:cs typeface="Trebuchet MS"/>
              </a:rPr>
              <a:t>⁵</a:t>
            </a:r>
            <a:r>
              <a:rPr sz="1200" spc="-65" dirty="0">
                <a:latin typeface="Trebuchet MS"/>
                <a:cs typeface="Trebuchet MS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32 </a:t>
            </a:r>
            <a:r>
              <a:rPr sz="1200" dirty="0">
                <a:latin typeface="Times New Roman"/>
                <a:cs typeface="Times New Roman"/>
              </a:rPr>
              <a:t>Usable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hosts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32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−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2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b="1" spc="-25" dirty="0">
                <a:latin typeface="Times New Roman"/>
                <a:cs typeface="Times New Roman"/>
              </a:rPr>
              <a:t>30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400" b="1" dirty="0">
                <a:latin typeface="Times New Roman"/>
                <a:cs typeface="Times New Roman"/>
              </a:rPr>
              <a:t>Step</a:t>
            </a:r>
            <a:r>
              <a:rPr sz="1400" b="1" spc="-1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3:</a:t>
            </a:r>
            <a:r>
              <a:rPr sz="1400" b="1" spc="-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Find</a:t>
            </a:r>
            <a:r>
              <a:rPr sz="1400" b="1" spc="-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the</a:t>
            </a:r>
            <a:r>
              <a:rPr sz="1400" b="1" spc="-1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Subnet</a:t>
            </a:r>
            <a:r>
              <a:rPr sz="1400" b="1" spc="-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of</a:t>
            </a:r>
            <a:r>
              <a:rPr sz="1400" b="1" spc="-5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172.16.10.78</a:t>
            </a:r>
            <a:endParaRPr sz="1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87094" y="838200"/>
            <a:ext cx="4570730" cy="96716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Subnet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ranges: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42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172.16.10.0 – </a:t>
            </a:r>
            <a:r>
              <a:rPr sz="1200" spc="-25" dirty="0">
                <a:latin typeface="Times New Roman"/>
                <a:cs typeface="Times New Roman"/>
              </a:rPr>
              <a:t>31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400"/>
              </a:lnSpc>
            </a:pPr>
            <a:r>
              <a:rPr sz="1200" dirty="0">
                <a:latin typeface="Times New Roman"/>
                <a:cs typeface="Times New Roman"/>
              </a:rPr>
              <a:t>172.16.10.32 – </a:t>
            </a:r>
            <a:r>
              <a:rPr sz="1200" spc="-25" dirty="0">
                <a:latin typeface="Times New Roman"/>
                <a:cs typeface="Times New Roman"/>
              </a:rPr>
              <a:t>63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400"/>
              </a:lnSpc>
            </a:pPr>
            <a:r>
              <a:rPr sz="1200" b="1" dirty="0">
                <a:latin typeface="Times New Roman"/>
                <a:cs typeface="Times New Roman"/>
              </a:rPr>
              <a:t>172.16.10.64 – </a:t>
            </a:r>
            <a:r>
              <a:rPr sz="1200" b="1" spc="-25" dirty="0">
                <a:latin typeface="Times New Roman"/>
                <a:cs typeface="Times New Roman"/>
              </a:rPr>
              <a:t>95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400"/>
              </a:lnSpc>
            </a:pPr>
            <a:r>
              <a:rPr sz="1200" dirty="0">
                <a:latin typeface="Times New Roman"/>
                <a:cs typeface="Times New Roman"/>
              </a:rPr>
              <a:t>172.16.10.96 – </a:t>
            </a:r>
            <a:r>
              <a:rPr sz="1200" spc="-25" dirty="0">
                <a:latin typeface="Times New Roman"/>
                <a:cs typeface="Times New Roman"/>
              </a:rPr>
              <a:t>127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400"/>
              </a:lnSpc>
            </a:pPr>
            <a:r>
              <a:rPr sz="1200" dirty="0">
                <a:latin typeface="Times New Roman"/>
                <a:cs typeface="Times New Roman"/>
              </a:rPr>
              <a:t>172.16.10.128 – </a:t>
            </a:r>
            <a:r>
              <a:rPr sz="1200" spc="-25" dirty="0">
                <a:latin typeface="Times New Roman"/>
                <a:cs typeface="Times New Roman"/>
              </a:rPr>
              <a:t>159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400"/>
              </a:lnSpc>
            </a:pPr>
            <a:r>
              <a:rPr sz="1200" dirty="0">
                <a:latin typeface="Times New Roman"/>
                <a:cs typeface="Times New Roman"/>
              </a:rPr>
              <a:t>172.16.10.160 – </a:t>
            </a:r>
            <a:r>
              <a:rPr sz="1200" spc="-25" dirty="0">
                <a:latin typeface="Times New Roman"/>
                <a:cs typeface="Times New Roman"/>
              </a:rPr>
              <a:t>191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400"/>
              </a:lnSpc>
            </a:pPr>
            <a:r>
              <a:rPr sz="1200" dirty="0">
                <a:latin typeface="Times New Roman"/>
                <a:cs typeface="Times New Roman"/>
              </a:rPr>
              <a:t>172.16.10.192 – </a:t>
            </a:r>
            <a:r>
              <a:rPr sz="1200" spc="-25" dirty="0">
                <a:latin typeface="Times New Roman"/>
                <a:cs typeface="Times New Roman"/>
              </a:rPr>
              <a:t>223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400"/>
              </a:lnSpc>
            </a:pPr>
            <a:r>
              <a:rPr sz="1200" dirty="0">
                <a:latin typeface="Times New Roman"/>
                <a:cs typeface="Times New Roman"/>
              </a:rPr>
              <a:t>172.16.10.224 – </a:t>
            </a:r>
            <a:r>
              <a:rPr sz="1200" spc="-25" dirty="0">
                <a:latin typeface="Times New Roman"/>
                <a:cs typeface="Times New Roman"/>
              </a:rPr>
              <a:t>255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ts val="1420"/>
              </a:lnSpc>
            </a:pPr>
            <a:r>
              <a:rPr sz="1200" dirty="0">
                <a:latin typeface="Times New Roman"/>
                <a:cs typeface="Times New Roman"/>
              </a:rPr>
              <a:t>IP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172.16.10.78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belongs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subnet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172.16.10.64/27</a:t>
            </a:r>
            <a:r>
              <a:rPr sz="1200" spc="-10" dirty="0">
                <a:latin typeface="Times New Roman"/>
                <a:cs typeface="Times New Roman"/>
              </a:rPr>
              <a:t>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spc="-10" dirty="0">
                <a:latin typeface="Times New Roman"/>
                <a:cs typeface="Times New Roman"/>
              </a:rPr>
              <a:t>Network</a:t>
            </a:r>
            <a:r>
              <a:rPr sz="1200" spc="-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 </a:t>
            </a:r>
            <a:r>
              <a:rPr sz="1200" b="1" spc="-10" dirty="0">
                <a:latin typeface="Times New Roman"/>
                <a:cs typeface="Times New Roman"/>
              </a:rPr>
              <a:t>172.16.10.64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spc="-10" dirty="0">
                <a:latin typeface="Times New Roman"/>
                <a:cs typeface="Times New Roman"/>
              </a:rPr>
              <a:t>Broadcast</a:t>
            </a:r>
            <a:r>
              <a:rPr sz="1200" spc="-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 =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172.16.10.95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Usable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Host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Range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172.16.10.65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–</a:t>
            </a:r>
            <a:r>
              <a:rPr sz="1200" b="1" spc="-10" dirty="0">
                <a:latin typeface="Times New Roman"/>
                <a:cs typeface="Times New Roman"/>
              </a:rPr>
              <a:t> 172.16.10.94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400" b="1" dirty="0">
                <a:latin typeface="Times New Roman"/>
                <a:cs typeface="Times New Roman"/>
              </a:rPr>
              <a:t>Step</a:t>
            </a:r>
            <a:r>
              <a:rPr sz="1400" b="1" spc="-1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4:</a:t>
            </a:r>
            <a:r>
              <a:rPr sz="1400" b="1" spc="-1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Check</a:t>
            </a:r>
            <a:r>
              <a:rPr sz="1400" b="1" spc="-1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IP</a:t>
            </a:r>
            <a:r>
              <a:rPr sz="1400" b="1" spc="-85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172.16.10.95</a:t>
            </a:r>
            <a:endParaRPr sz="1400">
              <a:latin typeface="Times New Roman"/>
              <a:cs typeface="Times New Roman"/>
            </a:endParaRPr>
          </a:p>
          <a:p>
            <a:pPr marL="12700" marR="1308735">
              <a:lnSpc>
                <a:spcPct val="180600"/>
              </a:lnSpc>
              <a:spcBef>
                <a:spcPts val="210"/>
              </a:spcBef>
            </a:pPr>
            <a:r>
              <a:rPr sz="1200" dirty="0">
                <a:latin typeface="Times New Roman"/>
                <a:cs typeface="Times New Roman"/>
              </a:rPr>
              <a:t>172.16.10.95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broadcast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address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subnet. </a:t>
            </a:r>
            <a:r>
              <a:rPr sz="1200" dirty="0">
                <a:latin typeface="Times New Roman"/>
                <a:cs typeface="Times New Roman"/>
              </a:rPr>
              <a:t>Therefore,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does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not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represent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usable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host</a:t>
            </a:r>
            <a:r>
              <a:rPr sz="1200" spc="-20" dirty="0">
                <a:latin typeface="Times New Roman"/>
                <a:cs typeface="Times New Roman"/>
              </a:rPr>
              <a:t>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b="1" spc="-10" dirty="0">
                <a:latin typeface="Times New Roman"/>
                <a:cs typeface="Times New Roman"/>
              </a:rPr>
              <a:t>Answer: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420"/>
              </a:lnSpc>
              <a:spcBef>
                <a:spcPts val="1160"/>
              </a:spcBef>
            </a:pPr>
            <a:r>
              <a:rPr sz="1200" spc="-20" dirty="0">
                <a:latin typeface="Times New Roman"/>
                <a:cs typeface="Times New Roman"/>
              </a:rPr>
              <a:t>Total </a:t>
            </a:r>
            <a:r>
              <a:rPr sz="1200" dirty="0">
                <a:latin typeface="Times New Roman"/>
                <a:cs typeface="Times New Roman"/>
              </a:rPr>
              <a:t>Subnets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b="1" spc="-50" dirty="0">
                <a:latin typeface="Times New Roman"/>
                <a:cs typeface="Times New Roman"/>
              </a:rPr>
              <a:t>8</a:t>
            </a:r>
            <a:endParaRPr sz="1200">
              <a:latin typeface="Times New Roman"/>
              <a:cs typeface="Times New Roman"/>
            </a:endParaRPr>
          </a:p>
          <a:p>
            <a:pPr marL="469900" marR="2503805">
              <a:lnSpc>
                <a:spcPts val="1400"/>
              </a:lnSpc>
              <a:spcBef>
                <a:spcPts val="60"/>
              </a:spcBef>
            </a:pPr>
            <a:r>
              <a:rPr sz="1200" dirty="0">
                <a:latin typeface="Times New Roman"/>
                <a:cs typeface="Times New Roman"/>
              </a:rPr>
              <a:t>Usable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Hosts/Subnet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b="1" spc="-25" dirty="0">
                <a:latin typeface="Times New Roman"/>
                <a:cs typeface="Times New Roman"/>
              </a:rPr>
              <a:t>30 </a:t>
            </a:r>
            <a:r>
              <a:rPr sz="1200" dirty="0">
                <a:latin typeface="Times New Roman"/>
                <a:cs typeface="Times New Roman"/>
              </a:rPr>
              <a:t>Subnet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172.16.10.64/27</a:t>
            </a:r>
            <a:endParaRPr sz="1200">
              <a:latin typeface="Times New Roman"/>
              <a:cs typeface="Times New Roman"/>
            </a:endParaRPr>
          </a:p>
          <a:p>
            <a:pPr marL="469900" marR="1991995">
              <a:lnSpc>
                <a:spcPts val="1400"/>
              </a:lnSpc>
            </a:pPr>
            <a:r>
              <a:rPr sz="1200" spc="-10" dirty="0">
                <a:latin typeface="Times New Roman"/>
                <a:cs typeface="Times New Roman"/>
              </a:rPr>
              <a:t>Network</a:t>
            </a:r>
            <a:r>
              <a:rPr sz="1200" spc="-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 </a:t>
            </a:r>
            <a:r>
              <a:rPr sz="1200" b="1" spc="-10" dirty="0">
                <a:latin typeface="Times New Roman"/>
                <a:cs typeface="Times New Roman"/>
              </a:rPr>
              <a:t>172.16.10.64 </a:t>
            </a:r>
            <a:r>
              <a:rPr sz="1200" spc="-10" dirty="0">
                <a:latin typeface="Times New Roman"/>
                <a:cs typeface="Times New Roman"/>
              </a:rPr>
              <a:t>Broadcast</a:t>
            </a:r>
            <a:r>
              <a:rPr sz="1200" spc="-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 =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172.16.10.95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360"/>
              </a:lnSpc>
            </a:pPr>
            <a:r>
              <a:rPr sz="1200" dirty="0">
                <a:latin typeface="Times New Roman"/>
                <a:cs typeface="Times New Roman"/>
              </a:rPr>
              <a:t>IP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172.16.10.95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broadcast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not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usable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host</a:t>
            </a:r>
            <a:r>
              <a:rPr sz="1200" spc="-10" dirty="0">
                <a:latin typeface="Times New Roman"/>
                <a:cs typeface="Times New Roman"/>
              </a:rPr>
              <a:t>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3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800" b="1" dirty="0">
                <a:latin typeface="Times New Roman"/>
                <a:cs typeface="Times New Roman"/>
              </a:rPr>
              <a:t>(b)</a:t>
            </a:r>
            <a:r>
              <a:rPr sz="1800" b="1" spc="5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IPv6</a:t>
            </a:r>
            <a:r>
              <a:rPr sz="1800" b="1" spc="-95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Addressing</a:t>
            </a:r>
            <a:endParaRPr sz="18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600"/>
              </a:spcBef>
            </a:pPr>
            <a:r>
              <a:rPr sz="1200" b="1" spc="-10" dirty="0">
                <a:latin typeface="Times New Roman"/>
                <a:cs typeface="Times New Roman"/>
              </a:rPr>
              <a:t>Given</a:t>
            </a:r>
            <a:r>
              <a:rPr sz="1200" b="1" spc="-5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Address: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spc="-10" dirty="0">
                <a:latin typeface="Times New Roman"/>
                <a:cs typeface="Times New Roman"/>
              </a:rPr>
              <a:t>2001:0db8:0000:0000:0000:ff00:0042:8329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400" b="1" dirty="0">
                <a:latin typeface="Times New Roman"/>
                <a:cs typeface="Times New Roman"/>
              </a:rPr>
              <a:t>Compressed</a:t>
            </a:r>
            <a:r>
              <a:rPr sz="1400" b="1" spc="-85" dirty="0">
                <a:latin typeface="Times New Roman"/>
                <a:cs typeface="Times New Roman"/>
              </a:rPr>
              <a:t> </a:t>
            </a:r>
            <a:r>
              <a:rPr sz="1400" b="1" spc="-20" dirty="0">
                <a:latin typeface="Times New Roman"/>
                <a:cs typeface="Times New Roman"/>
              </a:rPr>
              <a:t>Form</a:t>
            </a: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70"/>
              </a:spcBef>
            </a:pPr>
            <a:r>
              <a:rPr sz="1200" spc="-10" dirty="0">
                <a:latin typeface="Times New Roman"/>
                <a:cs typeface="Times New Roman"/>
              </a:rPr>
              <a:t>2001:db8::ff00:42:8329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400" b="1" dirty="0">
                <a:latin typeface="Times New Roman"/>
                <a:cs typeface="Times New Roman"/>
              </a:rPr>
              <a:t>Expanded</a:t>
            </a:r>
            <a:r>
              <a:rPr sz="1400" b="1" spc="-55" dirty="0">
                <a:latin typeface="Times New Roman"/>
                <a:cs typeface="Times New Roman"/>
              </a:rPr>
              <a:t> </a:t>
            </a:r>
            <a:r>
              <a:rPr sz="1400" b="1" spc="-20" dirty="0">
                <a:latin typeface="Times New Roman"/>
                <a:cs typeface="Times New Roman"/>
              </a:rPr>
              <a:t>Form</a:t>
            </a: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75"/>
              </a:spcBef>
            </a:pPr>
            <a:r>
              <a:rPr sz="1200" spc="-10" dirty="0">
                <a:latin typeface="Times New Roman"/>
                <a:cs typeface="Times New Roman"/>
              </a:rPr>
              <a:t>2001:0db8:0000:0000:0000:ff00:0042:8329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400" b="1" dirty="0">
                <a:latin typeface="Times New Roman"/>
                <a:cs typeface="Times New Roman"/>
              </a:rPr>
              <a:t>Network</a:t>
            </a:r>
            <a:r>
              <a:rPr sz="1400" b="1" spc="-55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Prefix</a:t>
            </a:r>
            <a:r>
              <a:rPr sz="1400" b="1" spc="-50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(/64)</a:t>
            </a: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75"/>
              </a:spcBef>
            </a:pPr>
            <a:r>
              <a:rPr sz="1200" dirty="0">
                <a:latin typeface="Times New Roman"/>
                <a:cs typeface="Times New Roman"/>
              </a:rPr>
              <a:t>Network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Prefix: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b="1" spc="-10" dirty="0">
                <a:latin typeface="Times New Roman"/>
                <a:cs typeface="Times New Roman"/>
              </a:rPr>
              <a:t>2001:0db8:0000:0000::/64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400" b="1" dirty="0">
                <a:latin typeface="Times New Roman"/>
                <a:cs typeface="Times New Roman"/>
              </a:rPr>
              <a:t>Number</a:t>
            </a:r>
            <a:r>
              <a:rPr sz="1400" b="1" spc="-3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of</a:t>
            </a:r>
            <a:r>
              <a:rPr sz="1400" b="1" spc="-5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Host</a:t>
            </a:r>
            <a:r>
              <a:rPr sz="1400" b="1" spc="-80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Addresses</a:t>
            </a:r>
            <a:endParaRPr sz="1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87094" y="838200"/>
            <a:ext cx="5974715" cy="944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Host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bits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128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− 64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64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05"/>
              </a:spcBef>
            </a:pPr>
            <a:r>
              <a:rPr sz="1200" spc="-20" dirty="0">
                <a:latin typeface="Times New Roman"/>
                <a:cs typeface="Times New Roman"/>
              </a:rPr>
              <a:t>Total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Hosts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</a:t>
            </a:r>
            <a:r>
              <a:rPr sz="1200" spc="-25" dirty="0">
                <a:latin typeface="Trebuchet MS"/>
                <a:cs typeface="Trebuchet MS"/>
              </a:rPr>
              <a:t>⁶⁴</a:t>
            </a:r>
            <a:endParaRPr sz="12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= </a:t>
            </a:r>
            <a:r>
              <a:rPr sz="1200" b="1" spc="-10" dirty="0">
                <a:latin typeface="Times New Roman"/>
                <a:cs typeface="Times New Roman"/>
              </a:rPr>
              <a:t>18,446,744,073,709,551,616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1200" b="1" spc="-10" dirty="0">
                <a:latin typeface="Times New Roman"/>
                <a:cs typeface="Times New Roman"/>
              </a:rPr>
              <a:t>Answer: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ts val="1420"/>
              </a:lnSpc>
              <a:spcBef>
                <a:spcPts val="1160"/>
              </a:spcBef>
            </a:pPr>
            <a:r>
              <a:rPr sz="1200" spc="-10" dirty="0">
                <a:latin typeface="Times New Roman"/>
                <a:cs typeface="Times New Roman"/>
              </a:rPr>
              <a:t>Compressed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 </a:t>
            </a:r>
            <a:r>
              <a:rPr sz="1200" b="1" spc="-10" dirty="0">
                <a:latin typeface="Times New Roman"/>
                <a:cs typeface="Times New Roman"/>
              </a:rPr>
              <a:t>2001:db8::ff00:42:8329</a:t>
            </a:r>
            <a:endParaRPr sz="1200">
              <a:latin typeface="Times New Roman"/>
              <a:cs typeface="Times New Roman"/>
            </a:endParaRPr>
          </a:p>
          <a:p>
            <a:pPr marL="469900" marR="1436370">
              <a:lnSpc>
                <a:spcPts val="1400"/>
              </a:lnSpc>
              <a:spcBef>
                <a:spcPts val="60"/>
              </a:spcBef>
            </a:pPr>
            <a:r>
              <a:rPr sz="1200" spc="-10" dirty="0">
                <a:latin typeface="Times New Roman"/>
                <a:cs typeface="Times New Roman"/>
              </a:rPr>
              <a:t>Expanded</a:t>
            </a:r>
            <a:r>
              <a:rPr sz="1200" spc="-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 =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2001:0db8:0000:0000:0000:ff00:0042:8329 </a:t>
            </a:r>
            <a:r>
              <a:rPr sz="1200" dirty="0">
                <a:latin typeface="Times New Roman"/>
                <a:cs typeface="Times New Roman"/>
              </a:rPr>
              <a:t>Network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Prefix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2001:db8:0:0::/64</a:t>
            </a:r>
            <a:endParaRPr sz="1200">
              <a:latin typeface="Times New Roman"/>
              <a:cs typeface="Times New Roman"/>
            </a:endParaRPr>
          </a:p>
          <a:p>
            <a:pPr marL="469900">
              <a:lnSpc>
                <a:spcPct val="100000"/>
              </a:lnSpc>
              <a:spcBef>
                <a:spcPts val="65"/>
              </a:spcBef>
            </a:pPr>
            <a:r>
              <a:rPr sz="1200" spc="-20" dirty="0">
                <a:latin typeface="Times New Roman"/>
                <a:cs typeface="Times New Roman"/>
              </a:rPr>
              <a:t>Total</a:t>
            </a:r>
            <a:r>
              <a:rPr sz="1200" spc="-10" dirty="0">
                <a:latin typeface="Times New Roman"/>
                <a:cs typeface="Times New Roman"/>
              </a:rPr>
              <a:t> Host</a:t>
            </a:r>
            <a:r>
              <a:rPr sz="1200" spc="-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Addresses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=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b="1" spc="65" dirty="0">
                <a:latin typeface="Times New Roman"/>
                <a:cs typeface="Times New Roman"/>
              </a:rPr>
              <a:t>2</a:t>
            </a:r>
            <a:r>
              <a:rPr sz="1200" b="1" spc="65" dirty="0">
                <a:latin typeface="Trebuchet MS"/>
                <a:cs typeface="Trebuchet MS"/>
              </a:rPr>
              <a:t>⁶⁴</a:t>
            </a:r>
            <a:r>
              <a:rPr sz="1200" b="1" spc="-70" dirty="0">
                <a:latin typeface="Trebuchet MS"/>
                <a:cs typeface="Trebuchet MS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(18,446,744,073,709,551,616)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5"/>
              </a:spcBef>
            </a:pPr>
            <a:endParaRPr sz="1200">
              <a:latin typeface="Times New Roman"/>
              <a:cs typeface="Times New Roman"/>
            </a:endParaRPr>
          </a:p>
          <a:p>
            <a:pPr marL="250825" marR="155575" indent="-223520" algn="just">
              <a:lnSpc>
                <a:spcPct val="154500"/>
              </a:lnSpc>
            </a:pPr>
            <a:r>
              <a:rPr sz="1200" b="1" dirty="0">
                <a:latin typeface="Times New Roman"/>
                <a:cs typeface="Times New Roman"/>
              </a:rPr>
              <a:t>5.</a:t>
            </a:r>
            <a:r>
              <a:rPr sz="1200" b="1" spc="17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university</a:t>
            </a:r>
            <a:r>
              <a:rPr sz="1200" spc="14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14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conducting</a:t>
            </a:r>
            <a:r>
              <a:rPr sz="1200" spc="14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14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online</a:t>
            </a:r>
            <a:r>
              <a:rPr sz="1200" spc="14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semester</a:t>
            </a:r>
            <a:r>
              <a:rPr sz="1200" spc="14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examination</a:t>
            </a:r>
            <a:r>
              <a:rPr sz="1200" spc="14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40" dirty="0">
                <a:latin typeface="Times New Roman"/>
                <a:cs typeface="Times New Roman"/>
              </a:rPr>
              <a:t>  </a:t>
            </a:r>
            <a:r>
              <a:rPr sz="1200" b="1" dirty="0">
                <a:latin typeface="Times New Roman"/>
                <a:cs typeface="Times New Roman"/>
              </a:rPr>
              <a:t>8,000</a:t>
            </a:r>
            <a:r>
              <a:rPr sz="1200" b="1" spc="145" dirty="0">
                <a:latin typeface="Times New Roman"/>
                <a:cs typeface="Times New Roman"/>
              </a:rPr>
              <a:t>  </a:t>
            </a:r>
            <a:r>
              <a:rPr sz="1200" b="1" spc="-10" dirty="0">
                <a:latin typeface="Times New Roman"/>
                <a:cs typeface="Times New Roman"/>
              </a:rPr>
              <a:t>students </a:t>
            </a:r>
            <a:r>
              <a:rPr sz="1200" dirty="0">
                <a:latin typeface="Times New Roman"/>
                <a:cs typeface="Times New Roman"/>
              </a:rPr>
              <a:t>simultaneously.</a:t>
            </a:r>
            <a:r>
              <a:rPr sz="1200" spc="3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exactly</a:t>
            </a:r>
            <a:r>
              <a:rPr sz="1200" spc="45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10:00</a:t>
            </a:r>
            <a:r>
              <a:rPr sz="1200" b="1" spc="39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AM</a:t>
            </a:r>
            <a:r>
              <a:rPr sz="1200" dirty="0">
                <a:latin typeface="Times New Roman"/>
                <a:cs typeface="Times New Roman"/>
              </a:rPr>
              <a:t>,</a:t>
            </a:r>
            <a:r>
              <a:rPr sz="1200" spc="4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examination</a:t>
            </a:r>
            <a:r>
              <a:rPr sz="1200" spc="4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server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begins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transmitting </a:t>
            </a:r>
            <a:r>
              <a:rPr sz="1200" dirty="0">
                <a:latin typeface="Times New Roman"/>
                <a:cs typeface="Times New Roman"/>
              </a:rPr>
              <a:t>encrypted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question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papers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students.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university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server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connected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spc="-50" dirty="0">
                <a:latin typeface="Times New Roman"/>
                <a:cs typeface="Times New Roman"/>
              </a:rPr>
              <a:t>a</a:t>
            </a:r>
            <a:endParaRPr sz="1200">
              <a:latin typeface="Times New Roman"/>
              <a:cs typeface="Times New Roman"/>
            </a:endParaRPr>
          </a:p>
          <a:p>
            <a:pPr marL="250825" marR="154940" algn="just">
              <a:lnSpc>
                <a:spcPct val="154500"/>
              </a:lnSpc>
            </a:pPr>
            <a:r>
              <a:rPr sz="1200" b="1" dirty="0">
                <a:latin typeface="Times New Roman"/>
                <a:cs typeface="Times New Roman"/>
              </a:rPr>
              <a:t>10</a:t>
            </a:r>
            <a:r>
              <a:rPr sz="1200" b="1" spc="135" dirty="0">
                <a:latin typeface="Times New Roman"/>
                <a:cs typeface="Times New Roman"/>
              </a:rPr>
              <a:t>  </a:t>
            </a:r>
            <a:r>
              <a:rPr sz="1200" b="1" dirty="0">
                <a:latin typeface="Times New Roman"/>
                <a:cs typeface="Times New Roman"/>
              </a:rPr>
              <a:t>Gbps</a:t>
            </a:r>
            <a:r>
              <a:rPr sz="1200" b="1" spc="38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high-</a:t>
            </a:r>
            <a:r>
              <a:rPr sz="1200" b="1" dirty="0">
                <a:latin typeface="Times New Roman"/>
                <a:cs typeface="Times New Roman"/>
              </a:rPr>
              <a:t>speed</a:t>
            </a:r>
            <a:r>
              <a:rPr sz="1200" b="1" spc="38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network</a:t>
            </a:r>
            <a:r>
              <a:rPr sz="1200" dirty="0">
                <a:latin typeface="Times New Roman"/>
                <a:cs typeface="Times New Roman"/>
              </a:rPr>
              <a:t>,</a:t>
            </a:r>
            <a:r>
              <a:rPr sz="1200" spc="3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while</a:t>
            </a:r>
            <a:r>
              <a:rPr sz="1200" spc="3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students</a:t>
            </a:r>
            <a:r>
              <a:rPr sz="1200" spc="3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3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examination</a:t>
            </a:r>
            <a:r>
              <a:rPr sz="1200" spc="3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portal</a:t>
            </a:r>
            <a:r>
              <a:rPr sz="1200" spc="3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using </a:t>
            </a:r>
            <a:r>
              <a:rPr sz="1200" dirty="0">
                <a:latin typeface="Times New Roman"/>
                <a:cs typeface="Times New Roman"/>
              </a:rPr>
              <a:t>different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internet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connections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fiber</a:t>
            </a:r>
            <a:r>
              <a:rPr sz="1200" b="1" spc="17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broadband</a:t>
            </a:r>
            <a:r>
              <a:rPr sz="1200" b="1" spc="19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(100</a:t>
            </a:r>
            <a:r>
              <a:rPr sz="1200" b="1" spc="19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Mbps),</a:t>
            </a:r>
            <a:r>
              <a:rPr sz="1200" b="1" spc="19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home</a:t>
            </a:r>
            <a:r>
              <a:rPr sz="1200" b="1" spc="17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Wi-</a:t>
            </a:r>
            <a:r>
              <a:rPr sz="1200" b="1" dirty="0">
                <a:latin typeface="Times New Roman"/>
                <a:cs typeface="Times New Roman"/>
              </a:rPr>
              <a:t>Fi</a:t>
            </a:r>
            <a:r>
              <a:rPr sz="1200" b="1" spc="195" dirty="0">
                <a:latin typeface="Times New Roman"/>
                <a:cs typeface="Times New Roman"/>
              </a:rPr>
              <a:t> </a:t>
            </a:r>
            <a:r>
              <a:rPr sz="1200" b="1" spc="-25" dirty="0">
                <a:latin typeface="Times New Roman"/>
                <a:cs typeface="Times New Roman"/>
              </a:rPr>
              <a:t>(20 </a:t>
            </a:r>
            <a:r>
              <a:rPr sz="1200" b="1" dirty="0">
                <a:latin typeface="Times New Roman"/>
                <a:cs typeface="Times New Roman"/>
              </a:rPr>
              <a:t>Mbps),</a:t>
            </a:r>
            <a:r>
              <a:rPr sz="1200" b="1" spc="39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39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mobile</a:t>
            </a:r>
            <a:r>
              <a:rPr sz="1200" b="1" spc="39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networks</a:t>
            </a:r>
            <a:r>
              <a:rPr sz="1200" b="1" spc="39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(5–</a:t>
            </a:r>
            <a:r>
              <a:rPr sz="1200" b="1" dirty="0">
                <a:latin typeface="Times New Roman"/>
                <a:cs typeface="Times New Roman"/>
              </a:rPr>
              <a:t>10</a:t>
            </a:r>
            <a:r>
              <a:rPr sz="1200" b="1" spc="39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Mbps)</a:t>
            </a:r>
            <a:r>
              <a:rPr sz="1200" dirty="0">
                <a:latin typeface="Times New Roman"/>
                <a:cs typeface="Times New Roman"/>
              </a:rPr>
              <a:t>.</a:t>
            </a:r>
            <a:r>
              <a:rPr sz="1200" spc="3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3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first</a:t>
            </a:r>
            <a:r>
              <a:rPr sz="1200" spc="3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few</a:t>
            </a:r>
            <a:r>
              <a:rPr sz="1200" spc="3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minutes</a:t>
            </a:r>
            <a:r>
              <a:rPr sz="1200" spc="3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38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examination,</a:t>
            </a:r>
            <a:r>
              <a:rPr sz="1200" spc="16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many</a:t>
            </a:r>
            <a:r>
              <a:rPr sz="1200" spc="16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students</a:t>
            </a:r>
            <a:r>
              <a:rPr sz="1200" spc="16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17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slower</a:t>
            </a:r>
            <a:r>
              <a:rPr sz="1200" spc="17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internet</a:t>
            </a:r>
            <a:r>
              <a:rPr sz="1200" spc="16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connections</a:t>
            </a:r>
            <a:r>
              <a:rPr sz="1200" spc="17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report</a:t>
            </a:r>
            <a:r>
              <a:rPr sz="1200" spc="170" dirty="0">
                <a:latin typeface="Times New Roman"/>
                <a:cs typeface="Times New Roman"/>
              </a:rPr>
              <a:t>  </a:t>
            </a:r>
            <a:r>
              <a:rPr sz="1200" spc="-10" dirty="0">
                <a:latin typeface="Times New Roman"/>
                <a:cs typeface="Times New Roman"/>
              </a:rPr>
              <a:t>incomplete </a:t>
            </a:r>
            <a:r>
              <a:rPr sz="1200" dirty="0">
                <a:latin typeface="Times New Roman"/>
                <a:cs typeface="Times New Roman"/>
              </a:rPr>
              <a:t>downloads,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repeated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retransmissions,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delayed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acknowledgments,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temporary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freezing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examination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portal.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Network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administrators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observe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server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continues </a:t>
            </a:r>
            <a:r>
              <a:rPr sz="1200" dirty="0">
                <a:latin typeface="Times New Roman"/>
                <a:cs typeface="Times New Roman"/>
              </a:rPr>
              <a:t>transmitting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even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though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several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student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devices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unable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receive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packets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same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speed.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results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receiver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buffer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overflow, </a:t>
            </a:r>
            <a:r>
              <a:rPr sz="1200" dirty="0">
                <a:latin typeface="Times New Roman"/>
                <a:cs typeface="Times New Roman"/>
              </a:rPr>
              <a:t>unnecessary</a:t>
            </a:r>
            <a:r>
              <a:rPr sz="1200" spc="3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retransmissions,</a:t>
            </a:r>
            <a:r>
              <a:rPr sz="1200" spc="3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increased</a:t>
            </a:r>
            <a:r>
              <a:rPr sz="1200" spc="3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network</a:t>
            </a:r>
            <a:r>
              <a:rPr sz="1200" spc="3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traffic,</a:t>
            </a:r>
            <a:r>
              <a:rPr sz="1200" spc="3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delays</a:t>
            </a:r>
            <a:r>
              <a:rPr sz="1200" spc="3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3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delivering</a:t>
            </a:r>
            <a:r>
              <a:rPr sz="1200" spc="34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question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papers.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Analyze</a:t>
            </a:r>
            <a:r>
              <a:rPr sz="1200" b="1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above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scenario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identify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primary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networking </a:t>
            </a:r>
            <a:r>
              <a:rPr sz="1200" dirty="0">
                <a:latin typeface="Times New Roman"/>
                <a:cs typeface="Times New Roman"/>
              </a:rPr>
              <a:t>problem.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Explain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mismatch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sender's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transmission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speed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receiver's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capability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affects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communication.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60"/>
              </a:spcBef>
            </a:pPr>
            <a:endParaRPr sz="1200">
              <a:latin typeface="Times New Roman"/>
              <a:cs typeface="Times New Roman"/>
            </a:endParaRPr>
          </a:p>
          <a:p>
            <a:pPr marL="27305">
              <a:lnSpc>
                <a:spcPct val="100000"/>
              </a:lnSpc>
            </a:pPr>
            <a:r>
              <a:rPr sz="1200" b="1" spc="-10" dirty="0">
                <a:latin typeface="Times New Roman"/>
                <a:cs typeface="Times New Roman"/>
              </a:rPr>
              <a:t>SOLUTION: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ts val="1420"/>
              </a:lnSpc>
              <a:spcBef>
                <a:spcPts val="695"/>
              </a:spcBef>
            </a:pPr>
            <a:r>
              <a:rPr sz="1200" b="1" dirty="0">
                <a:latin typeface="Times New Roman"/>
                <a:cs typeface="Times New Roman"/>
              </a:rPr>
              <a:t>Primary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Networking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Problem:</a:t>
            </a:r>
            <a:endParaRPr sz="1200">
              <a:latin typeface="Times New Roman"/>
              <a:cs typeface="Times New Roman"/>
            </a:endParaRPr>
          </a:p>
          <a:p>
            <a:pPr marL="12700" marR="185420">
              <a:lnSpc>
                <a:spcPts val="1400"/>
              </a:lnSpc>
              <a:spcBef>
                <a:spcPts val="6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primary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networking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problem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Flow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Control</a:t>
            </a:r>
            <a:r>
              <a:rPr sz="1200" dirty="0">
                <a:latin typeface="Times New Roman"/>
                <a:cs typeface="Times New Roman"/>
              </a:rPr>
              <a:t>.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Flow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control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regulate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at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sender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overwhelmed.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20"/>
              </a:spcBef>
            </a:pPr>
            <a:r>
              <a:rPr sz="1200" b="1" spc="-10" dirty="0">
                <a:latin typeface="Times New Roman"/>
                <a:cs typeface="Times New Roman"/>
              </a:rPr>
              <a:t>Explanation:</a:t>
            </a:r>
            <a:endParaRPr sz="1200">
              <a:latin typeface="Times New Roman"/>
              <a:cs typeface="Times New Roman"/>
            </a:endParaRPr>
          </a:p>
          <a:p>
            <a:pPr marL="132715" marR="183515" indent="-120650">
              <a:lnSpc>
                <a:spcPts val="1400"/>
              </a:lnSpc>
              <a:spcBef>
                <a:spcPts val="1240"/>
              </a:spcBef>
              <a:buChar char="•"/>
              <a:tabLst>
                <a:tab pos="13271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university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connected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10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Gbps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network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sends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encrypted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question </a:t>
            </a:r>
            <a:r>
              <a:rPr sz="1200" dirty="0">
                <a:latin typeface="Times New Roman"/>
                <a:cs typeface="Times New Roman"/>
              </a:rPr>
              <a:t>papers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8,000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students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simultaneously.</a:t>
            </a:r>
            <a:endParaRPr sz="1200">
              <a:latin typeface="Times New Roman"/>
              <a:cs typeface="Times New Roman"/>
            </a:endParaRPr>
          </a:p>
          <a:p>
            <a:pPr marL="132715" marR="5080" indent="-120650">
              <a:lnSpc>
                <a:spcPts val="1400"/>
              </a:lnSpc>
              <a:buChar char="•"/>
              <a:tabLst>
                <a:tab pos="132715" algn="l"/>
              </a:tabLst>
            </a:pPr>
            <a:r>
              <a:rPr sz="1200" dirty="0">
                <a:latin typeface="Times New Roman"/>
                <a:cs typeface="Times New Roman"/>
              </a:rPr>
              <a:t>Students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different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internet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connections,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100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Mbps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fiber</a:t>
            </a:r>
            <a:r>
              <a:rPr sz="1200" spc="-10" dirty="0">
                <a:latin typeface="Times New Roman"/>
                <a:cs typeface="Times New Roman"/>
              </a:rPr>
              <a:t>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20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Mbps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Wi-</a:t>
            </a:r>
            <a:r>
              <a:rPr sz="1200" b="1" dirty="0">
                <a:latin typeface="Times New Roman"/>
                <a:cs typeface="Times New Roman"/>
              </a:rPr>
              <a:t>Fi</a:t>
            </a:r>
            <a:r>
              <a:rPr sz="1200" dirty="0">
                <a:latin typeface="Times New Roman"/>
                <a:cs typeface="Times New Roman"/>
              </a:rPr>
              <a:t>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5–</a:t>
            </a:r>
            <a:r>
              <a:rPr sz="1200" b="1" spc="-25" dirty="0">
                <a:latin typeface="Times New Roman"/>
                <a:cs typeface="Times New Roman"/>
              </a:rPr>
              <a:t>10 </a:t>
            </a:r>
            <a:r>
              <a:rPr sz="1200" b="1" dirty="0">
                <a:latin typeface="Times New Roman"/>
                <a:cs typeface="Times New Roman"/>
              </a:rPr>
              <a:t>Mbps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mobile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networks</a:t>
            </a:r>
            <a:r>
              <a:rPr sz="1200" spc="-10" dirty="0">
                <a:latin typeface="Times New Roman"/>
                <a:cs typeface="Times New Roman"/>
              </a:rPr>
              <a:t>.</a:t>
            </a:r>
            <a:endParaRPr sz="1200">
              <a:latin typeface="Times New Roman"/>
              <a:cs typeface="Times New Roman"/>
            </a:endParaRPr>
          </a:p>
          <a:p>
            <a:pPr marL="132715" marR="78105" indent="-120650">
              <a:lnSpc>
                <a:spcPts val="1400"/>
              </a:lnSpc>
              <a:buChar char="•"/>
              <a:tabLst>
                <a:tab pos="132715" algn="l"/>
              </a:tabLst>
            </a:pPr>
            <a:r>
              <a:rPr sz="1200" dirty="0">
                <a:latin typeface="Times New Roman"/>
                <a:cs typeface="Times New Roman"/>
              </a:rPr>
              <a:t>Since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students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slower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connections,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cannot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quickly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it.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87094" y="838200"/>
            <a:ext cx="6009640" cy="3383279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32715" marR="53340" indent="-120650">
              <a:lnSpc>
                <a:spcPts val="1400"/>
              </a:lnSpc>
              <a:spcBef>
                <a:spcPts val="180"/>
              </a:spcBef>
              <a:buChar char="•"/>
              <a:tabLst>
                <a:tab pos="132715" algn="l"/>
              </a:tabLst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mismatch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sender's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transmission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receiver's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capability </a:t>
            </a:r>
            <a:r>
              <a:rPr sz="1200" dirty="0">
                <a:latin typeface="Times New Roman"/>
                <a:cs typeface="Times New Roman"/>
              </a:rPr>
              <a:t>causes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receiver's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buffer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to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overflow</a:t>
            </a:r>
            <a:r>
              <a:rPr sz="1200" spc="-10" dirty="0">
                <a:latin typeface="Times New Roman"/>
                <a:cs typeface="Times New Roman"/>
              </a:rPr>
              <a:t>.</a:t>
            </a:r>
            <a:endParaRPr sz="1200">
              <a:latin typeface="Times New Roman"/>
              <a:cs typeface="Times New Roman"/>
            </a:endParaRPr>
          </a:p>
          <a:p>
            <a:pPr marL="132715" marR="133985" indent="-120650">
              <a:lnSpc>
                <a:spcPts val="1400"/>
              </a:lnSpc>
              <a:buChar char="•"/>
              <a:tabLst>
                <a:tab pos="132715" algn="l"/>
              </a:tabLst>
            </a:pP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result,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packets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lost,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acknowledgments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delayed,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sender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retransmits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lost </a:t>
            </a:r>
            <a:r>
              <a:rPr sz="1200" spc="-10" dirty="0">
                <a:latin typeface="Times New Roman"/>
                <a:cs typeface="Times New Roman"/>
              </a:rPr>
              <a:t>packets.</a:t>
            </a:r>
            <a:endParaRPr sz="1200">
              <a:latin typeface="Times New Roman"/>
              <a:cs typeface="Times New Roman"/>
            </a:endParaRPr>
          </a:p>
          <a:p>
            <a:pPr marL="132715" marR="78740" indent="-120650">
              <a:lnSpc>
                <a:spcPts val="1400"/>
              </a:lnSpc>
              <a:buChar char="•"/>
              <a:tabLst>
                <a:tab pos="132715" algn="l"/>
              </a:tabLst>
            </a:pP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unnecessary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retransmissions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increase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network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traffic,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leading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congestion,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incomplete </a:t>
            </a:r>
            <a:r>
              <a:rPr sz="1200" dirty="0">
                <a:latin typeface="Times New Roman"/>
                <a:cs typeface="Times New Roman"/>
              </a:rPr>
              <a:t>downloads,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temporary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freezing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examination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portal,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delays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question papers.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ts val="1360"/>
              </a:lnSpc>
            </a:pPr>
            <a:r>
              <a:rPr sz="1200" b="1" spc="-10" dirty="0">
                <a:latin typeface="Times New Roman"/>
                <a:cs typeface="Times New Roman"/>
              </a:rPr>
              <a:t>Solution:</a:t>
            </a:r>
            <a:endParaRPr sz="1200">
              <a:latin typeface="Times New Roman"/>
              <a:cs typeface="Times New Roman"/>
            </a:endParaRPr>
          </a:p>
          <a:p>
            <a:pPr marL="132715" marR="107314" indent="-120650">
              <a:lnSpc>
                <a:spcPts val="1400"/>
              </a:lnSpc>
              <a:spcBef>
                <a:spcPts val="1240"/>
              </a:spcBef>
              <a:buChar char="•"/>
              <a:tabLst>
                <a:tab pos="132715" algn="l"/>
              </a:tabLst>
            </a:pPr>
            <a:r>
              <a:rPr sz="1200" dirty="0">
                <a:latin typeface="Times New Roman"/>
                <a:cs typeface="Times New Roman"/>
              </a:rPr>
              <a:t>Flow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control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Sliding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Window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Protocol</a:t>
            </a:r>
            <a:r>
              <a:rPr sz="1200" spc="-10" dirty="0">
                <a:latin typeface="Times New Roman"/>
                <a:cs typeface="Times New Roman"/>
              </a:rPr>
              <a:t>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inform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sender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about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amount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accept.</a:t>
            </a:r>
            <a:endParaRPr sz="1200">
              <a:latin typeface="Times New Roman"/>
              <a:cs typeface="Times New Roman"/>
            </a:endParaRPr>
          </a:p>
          <a:p>
            <a:pPr marL="132715" indent="-120014">
              <a:lnSpc>
                <a:spcPts val="1340"/>
              </a:lnSpc>
              <a:buChar char="•"/>
              <a:tabLst>
                <a:tab pos="13271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sender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adjusts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transmission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receiver's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available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buffer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space.</a:t>
            </a:r>
            <a:endParaRPr sz="1200">
              <a:latin typeface="Times New Roman"/>
              <a:cs typeface="Times New Roman"/>
            </a:endParaRPr>
          </a:p>
          <a:p>
            <a:pPr marL="132715" marR="262255" indent="-120650">
              <a:lnSpc>
                <a:spcPts val="1400"/>
              </a:lnSpc>
              <a:spcBef>
                <a:spcPts val="60"/>
              </a:spcBef>
              <a:buChar char="•"/>
              <a:tabLst>
                <a:tab pos="132715" algn="l"/>
              </a:tabLst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buffer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overflow,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reduces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packet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loss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retransmissions,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improves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network </a:t>
            </a:r>
            <a:r>
              <a:rPr sz="1200" spc="-20" dirty="0">
                <a:latin typeface="Times New Roman"/>
                <a:cs typeface="Times New Roman"/>
              </a:rPr>
              <a:t>efficiency,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students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examination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papers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reliably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time.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ts val="1340"/>
              </a:lnSpc>
            </a:pPr>
            <a:r>
              <a:rPr sz="1200" b="1" spc="-10" dirty="0">
                <a:latin typeface="Times New Roman"/>
                <a:cs typeface="Times New Roman"/>
              </a:rPr>
              <a:t>Conclusion:</a:t>
            </a:r>
            <a:endParaRPr sz="1200">
              <a:latin typeface="Times New Roman"/>
              <a:cs typeface="Times New Roman"/>
            </a:endParaRPr>
          </a:p>
          <a:p>
            <a:pPr marL="12700" marR="5080">
              <a:lnSpc>
                <a:spcPts val="1400"/>
              </a:lnSpc>
              <a:spcBef>
                <a:spcPts val="6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issue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arises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because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sender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much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faster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some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handle.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By </a:t>
            </a:r>
            <a:r>
              <a:rPr sz="1200" dirty="0">
                <a:latin typeface="Times New Roman"/>
                <a:cs typeface="Times New Roman"/>
              </a:rPr>
              <a:t>implementing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effective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flow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control</a:t>
            </a:r>
            <a:r>
              <a:rPr sz="1200" dirty="0">
                <a:latin typeface="Times New Roman"/>
                <a:cs typeface="Times New Roman"/>
              </a:rPr>
              <a:t>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network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balance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transmission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receiver's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speed,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smooth,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reliable,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communication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25" dirty="0">
                <a:latin typeface="Times New Roman"/>
                <a:cs typeface="Times New Roman"/>
              </a:rPr>
              <a:t> the </a:t>
            </a:r>
            <a:r>
              <a:rPr sz="1200" dirty="0">
                <a:latin typeface="Times New Roman"/>
                <a:cs typeface="Times New Roman"/>
              </a:rPr>
              <a:t>online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examination.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1700" y="839019"/>
            <a:ext cx="22015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Arial"/>
                <a:cs typeface="Arial"/>
              </a:rPr>
              <a:t>RUBRICS</a:t>
            </a:r>
            <a:r>
              <a:rPr sz="1200" b="1" spc="-15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FOR</a:t>
            </a:r>
            <a:r>
              <a:rPr sz="1200" b="1" spc="-10" dirty="0">
                <a:latin typeface="Arial"/>
                <a:cs typeface="Arial"/>
              </a:rPr>
              <a:t> </a:t>
            </a:r>
            <a:r>
              <a:rPr sz="1200" b="1" spc="-20" dirty="0">
                <a:latin typeface="Arial"/>
                <a:cs typeface="Arial"/>
              </a:rPr>
              <a:t>CALCULATION</a:t>
            </a:r>
            <a:endParaRPr sz="1200">
              <a:latin typeface="Arial"/>
              <a:cs typeface="Arial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926464" y="1236980"/>
          <a:ext cx="5956300" cy="597280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207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5"/>
                        </a:spcBef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26364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Criteria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7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5"/>
                        </a:spcBef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R="28575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Weightage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7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9539" marR="211454">
                        <a:lnSpc>
                          <a:spcPct val="104200"/>
                        </a:lnSpc>
                        <a:spcBef>
                          <a:spcPts val="37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Level</a:t>
                      </a:r>
                      <a:r>
                        <a:rPr sz="12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4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(Exemplary)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762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8905" marR="127635">
                        <a:lnSpc>
                          <a:spcPct val="104200"/>
                        </a:lnSpc>
                        <a:spcBef>
                          <a:spcPts val="37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Level</a:t>
                      </a:r>
                      <a:r>
                        <a:rPr sz="12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3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(Proficient)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762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8905" marR="119380">
                        <a:lnSpc>
                          <a:spcPct val="104200"/>
                        </a:lnSpc>
                        <a:spcBef>
                          <a:spcPts val="37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Level</a:t>
                      </a:r>
                      <a:r>
                        <a:rPr sz="12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2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(Developing)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762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2080" marR="89535">
                        <a:lnSpc>
                          <a:spcPct val="104200"/>
                        </a:lnSpc>
                        <a:spcBef>
                          <a:spcPts val="37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Level</a:t>
                      </a:r>
                      <a:r>
                        <a:rPr sz="12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1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(Beginning)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762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287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955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153670" marR="139700" indent="-635" algn="ctr">
                        <a:lnSpc>
                          <a:spcPts val="1200"/>
                        </a:lnSpc>
                      </a:pPr>
                      <a:r>
                        <a:rPr sz="1100" spc="-10" dirty="0">
                          <a:latin typeface="Arial MT"/>
                          <a:cs typeface="Arial MT"/>
                        </a:rPr>
                        <a:t>Problem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Understandi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n</a:t>
                      </a:r>
                      <a:r>
                        <a:rPr sz="1100" spc="-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50" dirty="0">
                          <a:latin typeface="Arial MT"/>
                          <a:cs typeface="Arial MT"/>
                        </a:rPr>
                        <a:t>g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750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5715" algn="ctr">
                        <a:lnSpc>
                          <a:spcPct val="100000"/>
                        </a:lnSpc>
                      </a:pPr>
                      <a:r>
                        <a:rPr sz="1100" spc="-25" dirty="0">
                          <a:latin typeface="Arial MT"/>
                          <a:cs typeface="Arial MT"/>
                        </a:rPr>
                        <a:t>20%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9865" marR="175260" indent="-635" algn="ctr">
                        <a:lnSpc>
                          <a:spcPts val="1250"/>
                        </a:lnSpc>
                        <a:spcBef>
                          <a:spcPts val="380"/>
                        </a:spcBef>
                      </a:pPr>
                      <a:r>
                        <a:rPr sz="1100" spc="-10" dirty="0">
                          <a:latin typeface="Arial MT"/>
                          <a:cs typeface="Arial MT"/>
                        </a:rPr>
                        <a:t>Clearly interprets problem,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identifies</a:t>
                      </a:r>
                      <a:r>
                        <a:rPr sz="110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25" dirty="0">
                          <a:latin typeface="Arial MT"/>
                          <a:cs typeface="Arial MT"/>
                        </a:rPr>
                        <a:t>all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parameters </a:t>
                      </a:r>
                      <a:r>
                        <a:rPr sz="1100" spc="-25" dirty="0">
                          <a:latin typeface="Arial MT"/>
                          <a:cs typeface="Arial MT"/>
                        </a:rPr>
                        <a:t>and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requirement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s</a:t>
                      </a:r>
                      <a:r>
                        <a:rPr sz="1100" spc="-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accurately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4826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955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133985" marR="112395" indent="-635" algn="just">
                        <a:lnSpc>
                          <a:spcPts val="1200"/>
                        </a:lnSpc>
                        <a:tabLst>
                          <a:tab pos="746760" algn="l"/>
                        </a:tabLst>
                      </a:pPr>
                      <a:r>
                        <a:rPr sz="1100" spc="-10" dirty="0">
                          <a:latin typeface="Arial MT"/>
                          <a:cs typeface="Arial MT"/>
                        </a:rPr>
                        <a:t>Understan </a:t>
                      </a:r>
                      <a:r>
                        <a:rPr sz="1100" spc="-50" dirty="0">
                          <a:latin typeface="Arial MT"/>
                          <a:cs typeface="Arial MT"/>
                        </a:rPr>
                        <a:t>d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1100" spc="-50" dirty="0">
                          <a:latin typeface="Arial MT"/>
                          <a:cs typeface="Arial MT"/>
                        </a:rPr>
                        <a:t>s</a:t>
                      </a:r>
                      <a:endParaRPr sz="1100">
                        <a:latin typeface="Arial MT"/>
                        <a:cs typeface="Arial MT"/>
                      </a:endParaRPr>
                    </a:p>
                    <a:p>
                      <a:pPr marL="133985" marR="99060" algn="just">
                        <a:lnSpc>
                          <a:spcPts val="1200"/>
                        </a:lnSpc>
                      </a:pPr>
                      <a:r>
                        <a:rPr sz="1100" spc="180" dirty="0">
                          <a:latin typeface="Arial MT"/>
                          <a:cs typeface="Arial MT"/>
                        </a:rPr>
                        <a:t>problem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with</a:t>
                      </a:r>
                      <a:r>
                        <a:rPr sz="1100" spc="3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minor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gaps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173355" marR="156210" indent="-1270" algn="ctr">
                        <a:lnSpc>
                          <a:spcPts val="1200"/>
                        </a:lnSpc>
                      </a:pPr>
                      <a:r>
                        <a:rPr sz="1100" spc="-10" dirty="0">
                          <a:latin typeface="Arial MT"/>
                          <a:cs typeface="Arial MT"/>
                        </a:rPr>
                        <a:t>Partial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understandi </a:t>
                      </a:r>
                      <a:r>
                        <a:rPr sz="1100" spc="-25" dirty="0">
                          <a:latin typeface="Arial MT"/>
                          <a:cs typeface="Arial MT"/>
                        </a:rPr>
                        <a:t>ng</a:t>
                      </a:r>
                      <a:endParaRPr sz="1100">
                        <a:latin typeface="Arial MT"/>
                        <a:cs typeface="Arial MT"/>
                      </a:endParaRPr>
                    </a:p>
                    <a:p>
                      <a:pPr marL="157480" marR="139065" algn="ctr">
                        <a:lnSpc>
                          <a:spcPts val="1200"/>
                        </a:lnSpc>
                      </a:pPr>
                      <a:r>
                        <a:rPr sz="1100" dirty="0">
                          <a:latin typeface="Arial MT"/>
                          <a:cs typeface="Arial MT"/>
                        </a:rPr>
                        <a:t>;</a:t>
                      </a:r>
                      <a:r>
                        <a:rPr sz="1100" spc="-7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misses</a:t>
                      </a:r>
                      <a:r>
                        <a:rPr sz="1100" spc="-6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25" dirty="0">
                          <a:latin typeface="Arial MT"/>
                          <a:cs typeface="Arial MT"/>
                        </a:rPr>
                        <a:t>key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elements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139065" marR="118745" indent="-635" algn="ctr">
                        <a:lnSpc>
                          <a:spcPts val="1200"/>
                        </a:lnSpc>
                      </a:pPr>
                      <a:r>
                        <a:rPr sz="1100" spc="-10" dirty="0">
                          <a:latin typeface="Arial MT"/>
                          <a:cs typeface="Arial MT"/>
                        </a:rPr>
                        <a:t>Misinterpre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ts</a:t>
                      </a:r>
                      <a:r>
                        <a:rPr sz="110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35" dirty="0">
                          <a:latin typeface="Arial MT"/>
                          <a:cs typeface="Arial MT"/>
                        </a:rPr>
                        <a:t>or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 unable</a:t>
                      </a:r>
                      <a:r>
                        <a:rPr sz="1100" spc="-3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25" dirty="0">
                          <a:latin typeface="Arial MT"/>
                          <a:cs typeface="Arial MT"/>
                        </a:rPr>
                        <a:t>to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understand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problem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537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5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286385" marR="183515" indent="53975">
                        <a:lnSpc>
                          <a:spcPts val="1200"/>
                        </a:lnSpc>
                      </a:pPr>
                      <a:r>
                        <a:rPr sz="1100" spc="-10" dirty="0">
                          <a:latin typeface="Arial MT"/>
                          <a:cs typeface="Arial MT"/>
                        </a:rPr>
                        <a:t>Method </a:t>
                      </a:r>
                      <a:r>
                        <a:rPr sz="1100" spc="-25" dirty="0">
                          <a:latin typeface="Arial MT"/>
                          <a:cs typeface="Arial MT"/>
                        </a:rPr>
                        <a:t>Selection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450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5715" algn="ctr">
                        <a:lnSpc>
                          <a:spcPct val="100000"/>
                        </a:lnSpc>
                      </a:pPr>
                      <a:r>
                        <a:rPr sz="1100" spc="-25" dirty="0">
                          <a:latin typeface="Arial MT"/>
                          <a:cs typeface="Arial MT"/>
                        </a:rPr>
                        <a:t>20%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6210" marR="140970" algn="ctr">
                        <a:lnSpc>
                          <a:spcPts val="1250"/>
                        </a:lnSpc>
                        <a:spcBef>
                          <a:spcPts val="380"/>
                        </a:spcBef>
                      </a:pPr>
                      <a:r>
                        <a:rPr sz="1100" dirty="0">
                          <a:latin typeface="Arial MT"/>
                          <a:cs typeface="Arial MT"/>
                        </a:rPr>
                        <a:t>Selects</a:t>
                      </a:r>
                      <a:r>
                        <a:rPr sz="1100" spc="-3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most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appropriate method/ formul</a:t>
                      </a:r>
                      <a:r>
                        <a:rPr sz="1100" spc="-3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a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with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strong justification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4826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9385" marR="148590" indent="2540" algn="ctr">
                        <a:lnSpc>
                          <a:spcPts val="1200"/>
                        </a:lnSpc>
                        <a:spcBef>
                          <a:spcPts val="420"/>
                        </a:spcBef>
                      </a:pPr>
                      <a:r>
                        <a:rPr sz="1100" spc="-10" dirty="0">
                          <a:latin typeface="Arial MT"/>
                          <a:cs typeface="Arial MT"/>
                        </a:rPr>
                        <a:t>Selects correct method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with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minor errors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533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6370" marR="149225" algn="ctr">
                        <a:lnSpc>
                          <a:spcPts val="1200"/>
                        </a:lnSpc>
                        <a:spcBef>
                          <a:spcPts val="420"/>
                        </a:spcBef>
                      </a:pPr>
                      <a:r>
                        <a:rPr sz="1100" spc="-20" dirty="0">
                          <a:latin typeface="Arial MT"/>
                          <a:cs typeface="Arial MT"/>
                        </a:rPr>
                        <a:t>Inappropriat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e</a:t>
                      </a:r>
                      <a:r>
                        <a:rPr sz="1100" spc="-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25" dirty="0">
                          <a:latin typeface="Arial MT"/>
                          <a:cs typeface="Arial MT"/>
                        </a:rPr>
                        <a:t>or</a:t>
                      </a:r>
                      <a:r>
                        <a:rPr sz="1100" spc="50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partially correct method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533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5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189230" marR="167640" algn="ctr">
                        <a:lnSpc>
                          <a:spcPts val="1200"/>
                        </a:lnSpc>
                      </a:pPr>
                      <a:r>
                        <a:rPr sz="1100" spc="-10" dirty="0">
                          <a:latin typeface="Arial MT"/>
                          <a:cs typeface="Arial MT"/>
                        </a:rPr>
                        <a:t>Unable</a:t>
                      </a:r>
                      <a:r>
                        <a:rPr sz="1100" spc="-6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25" dirty="0">
                          <a:latin typeface="Arial MT"/>
                          <a:cs typeface="Arial MT"/>
                        </a:rPr>
                        <a:t>to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select method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450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537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321310" marR="353060" indent="-635">
                        <a:lnSpc>
                          <a:spcPts val="1200"/>
                        </a:lnSpc>
                      </a:pPr>
                      <a:r>
                        <a:rPr sz="1100" spc="-10" dirty="0">
                          <a:latin typeface="Arial MT"/>
                          <a:cs typeface="Arial MT"/>
                        </a:rPr>
                        <a:t>Soluti </a:t>
                      </a:r>
                      <a:r>
                        <a:rPr sz="1100" spc="-25" dirty="0">
                          <a:latin typeface="Arial MT"/>
                          <a:cs typeface="Arial MT"/>
                        </a:rPr>
                        <a:t>on Proce ss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835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5715" algn="ctr">
                        <a:lnSpc>
                          <a:spcPct val="100000"/>
                        </a:lnSpc>
                      </a:pPr>
                      <a:r>
                        <a:rPr sz="1100" spc="-25" dirty="0">
                          <a:latin typeface="Arial MT"/>
                          <a:cs typeface="Arial MT"/>
                        </a:rPr>
                        <a:t>25%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27965" marR="213995" algn="ctr">
                        <a:lnSpc>
                          <a:spcPts val="1250"/>
                        </a:lnSpc>
                        <a:spcBef>
                          <a:spcPts val="380"/>
                        </a:spcBef>
                      </a:pPr>
                      <a:r>
                        <a:rPr sz="1100" spc="-10" dirty="0">
                          <a:latin typeface="Arial MT"/>
                          <a:cs typeface="Arial MT"/>
                        </a:rPr>
                        <a:t>Logical, systematic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steps</a:t>
                      </a:r>
                      <a:r>
                        <a:rPr sz="110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with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correct approach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throughout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4826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5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163830" marR="158750" indent="8255" algn="ctr">
                        <a:lnSpc>
                          <a:spcPts val="1200"/>
                        </a:lnSpc>
                      </a:pPr>
                      <a:r>
                        <a:rPr sz="1100" spc="-10" dirty="0">
                          <a:latin typeface="Arial MT"/>
                          <a:cs typeface="Arial MT"/>
                        </a:rPr>
                        <a:t>Mostly correct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steps</a:t>
                      </a:r>
                      <a:r>
                        <a:rPr sz="110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with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minor mistakes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450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5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90170" marR="73025" algn="ctr">
                        <a:lnSpc>
                          <a:spcPts val="1200"/>
                        </a:lnSpc>
                      </a:pPr>
                      <a:r>
                        <a:rPr sz="1100" spc="-10" dirty="0">
                          <a:latin typeface="Arial MT"/>
                          <a:cs typeface="Arial MT"/>
                        </a:rPr>
                        <a:t>Disorganized steps;</a:t>
                      </a:r>
                      <a:r>
                        <a:rPr sz="1100" spc="-4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multiple errors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450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288925" marR="312420" indent="-15875">
                        <a:lnSpc>
                          <a:spcPts val="1200"/>
                        </a:lnSpc>
                      </a:pPr>
                      <a:r>
                        <a:rPr sz="1100" spc="-25" dirty="0">
                          <a:latin typeface="Arial MT"/>
                          <a:cs typeface="Arial MT"/>
                        </a:rPr>
                        <a:t>No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clear </a:t>
                      </a:r>
                      <a:r>
                        <a:rPr sz="1100" spc="-25" dirty="0">
                          <a:latin typeface="Arial MT"/>
                          <a:cs typeface="Arial MT"/>
                        </a:rPr>
                        <a:t>proce ss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9661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5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228600" marR="203200" indent="-19685">
                        <a:lnSpc>
                          <a:spcPts val="1200"/>
                        </a:lnSpc>
                      </a:pPr>
                      <a:r>
                        <a:rPr sz="1100" spc="-10" dirty="0">
                          <a:latin typeface="Arial MT"/>
                          <a:cs typeface="Arial MT"/>
                        </a:rPr>
                        <a:t>Accuracy </a:t>
                      </a:r>
                      <a:r>
                        <a:rPr sz="1100" spc="-25" dirty="0">
                          <a:latin typeface="Arial MT"/>
                          <a:cs typeface="Arial MT"/>
                        </a:rPr>
                        <a:t>of Calculatio </a:t>
                      </a:r>
                      <a:r>
                        <a:rPr sz="1100" spc="-50" dirty="0">
                          <a:latin typeface="Arial MT"/>
                          <a:cs typeface="Arial MT"/>
                        </a:rPr>
                        <a:t>n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450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5715" algn="ctr">
                        <a:lnSpc>
                          <a:spcPct val="100000"/>
                        </a:lnSpc>
                      </a:pPr>
                      <a:r>
                        <a:rPr sz="1100" spc="-25" dirty="0">
                          <a:latin typeface="Arial MT"/>
                          <a:cs typeface="Arial MT"/>
                        </a:rPr>
                        <a:t>20%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273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6055" marR="180340" indent="-635" algn="ctr">
                        <a:lnSpc>
                          <a:spcPts val="1250"/>
                        </a:lnSpc>
                        <a:spcBef>
                          <a:spcPts val="380"/>
                        </a:spcBef>
                      </a:pPr>
                      <a:r>
                        <a:rPr sz="1100" spc="-25" dirty="0">
                          <a:latin typeface="Arial MT"/>
                          <a:cs typeface="Arial MT"/>
                        </a:rPr>
                        <a:t>All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calculations accurate;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correct</a:t>
                      </a:r>
                      <a:r>
                        <a:rPr sz="1100" spc="-3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final answer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4826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5104" marR="191135" indent="-1270" algn="ctr">
                        <a:lnSpc>
                          <a:spcPts val="1200"/>
                        </a:lnSpc>
                        <a:spcBef>
                          <a:spcPts val="420"/>
                        </a:spcBef>
                      </a:pPr>
                      <a:r>
                        <a:rPr sz="1100" spc="-10" dirty="0">
                          <a:latin typeface="Arial MT"/>
                          <a:cs typeface="Arial MT"/>
                        </a:rPr>
                        <a:t>Minor calculati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on</a:t>
                      </a:r>
                      <a:r>
                        <a:rPr sz="110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errors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533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2560" marR="145415" indent="-635" algn="ctr">
                        <a:lnSpc>
                          <a:spcPts val="1250"/>
                        </a:lnSpc>
                        <a:spcBef>
                          <a:spcPts val="380"/>
                        </a:spcBef>
                      </a:pPr>
                      <a:r>
                        <a:rPr sz="1100" spc="-10" dirty="0">
                          <a:latin typeface="Arial MT"/>
                          <a:cs typeface="Arial MT"/>
                        </a:rPr>
                        <a:t>Frequent errors; incorrect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final</a:t>
                      </a:r>
                      <a:r>
                        <a:rPr sz="110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answer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4826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5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168275" marR="61594" indent="112395">
                        <a:lnSpc>
                          <a:spcPts val="1200"/>
                        </a:lnSpc>
                      </a:pPr>
                      <a:r>
                        <a:rPr sz="1100" dirty="0">
                          <a:latin typeface="Arial MT"/>
                          <a:cs typeface="Arial MT"/>
                        </a:rPr>
                        <a:t>No</a:t>
                      </a:r>
                      <a:r>
                        <a:rPr sz="110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valid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calculations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450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718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5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263525" marR="65405" indent="-100965">
                        <a:lnSpc>
                          <a:spcPts val="1200"/>
                        </a:lnSpc>
                      </a:pPr>
                      <a:r>
                        <a:rPr sz="1100" spc="-20" dirty="0">
                          <a:latin typeface="Arial MT"/>
                          <a:cs typeface="Arial MT"/>
                        </a:rPr>
                        <a:t>Interpretation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of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 Results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450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5715" algn="ctr">
                        <a:lnSpc>
                          <a:spcPct val="100000"/>
                        </a:lnSpc>
                      </a:pPr>
                      <a:r>
                        <a:rPr sz="1100" spc="-25" dirty="0">
                          <a:latin typeface="Arial MT"/>
                          <a:cs typeface="Arial MT"/>
                        </a:rPr>
                        <a:t>15%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7485" marR="182880" algn="ctr">
                        <a:lnSpc>
                          <a:spcPts val="1260"/>
                        </a:lnSpc>
                        <a:spcBef>
                          <a:spcPts val="450"/>
                        </a:spcBef>
                      </a:pPr>
                      <a:r>
                        <a:rPr sz="1100" spc="-10" dirty="0">
                          <a:latin typeface="Arial MT"/>
                          <a:cs typeface="Arial MT"/>
                        </a:rPr>
                        <a:t>Clearly interprets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results</a:t>
                      </a:r>
                      <a:r>
                        <a:rPr sz="1100" spc="-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with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units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25" dirty="0">
                          <a:latin typeface="Arial MT"/>
                          <a:cs typeface="Arial MT"/>
                        </a:rPr>
                        <a:t>and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engineering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relevance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5715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6845" marR="142875" indent="-635" algn="ctr">
                        <a:lnSpc>
                          <a:spcPts val="1200"/>
                        </a:lnSpc>
                        <a:spcBef>
                          <a:spcPts val="420"/>
                        </a:spcBef>
                      </a:pPr>
                      <a:r>
                        <a:rPr sz="1100" spc="-10" dirty="0">
                          <a:latin typeface="Arial MT"/>
                          <a:cs typeface="Arial MT"/>
                        </a:rPr>
                        <a:t>Basic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interpretati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o</a:t>
                      </a:r>
                      <a:r>
                        <a:rPr sz="1100" spc="-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n</a:t>
                      </a:r>
                      <a:r>
                        <a:rPr sz="1100" spc="-8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with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minor omissions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533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5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208915" marR="191770" algn="ctr">
                        <a:lnSpc>
                          <a:spcPts val="1200"/>
                        </a:lnSpc>
                      </a:pPr>
                      <a:r>
                        <a:rPr sz="1100" dirty="0">
                          <a:latin typeface="Arial MT"/>
                          <a:cs typeface="Arial MT"/>
                        </a:rPr>
                        <a:t>Limited</a:t>
                      </a:r>
                      <a:r>
                        <a:rPr sz="1100" spc="-4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25" dirty="0">
                          <a:latin typeface="Arial MT"/>
                          <a:cs typeface="Arial MT"/>
                        </a:rPr>
                        <a:t>or </a:t>
                      </a:r>
                      <a:r>
                        <a:rPr sz="1100" spc="-10" dirty="0">
                          <a:latin typeface="Arial MT"/>
                          <a:cs typeface="Arial MT"/>
                        </a:rPr>
                        <a:t>unclear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interpretati </a:t>
                      </a:r>
                      <a:r>
                        <a:rPr sz="1100" spc="-25" dirty="0">
                          <a:latin typeface="Arial MT"/>
                          <a:cs typeface="Arial MT"/>
                        </a:rPr>
                        <a:t>on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450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5"/>
                        </a:spcBef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  <a:p>
                      <a:pPr marL="160020" marR="139700" indent="-3175" algn="ctr">
                        <a:lnSpc>
                          <a:spcPts val="1200"/>
                        </a:lnSpc>
                      </a:pPr>
                      <a:r>
                        <a:rPr sz="1100" spc="-25" dirty="0">
                          <a:latin typeface="Arial MT"/>
                          <a:cs typeface="Arial MT"/>
                        </a:rPr>
                        <a:t>No </a:t>
                      </a:r>
                      <a:r>
                        <a:rPr sz="1100" spc="-20" dirty="0">
                          <a:latin typeface="Arial MT"/>
                          <a:cs typeface="Arial MT"/>
                        </a:rPr>
                        <a:t>interpretati </a:t>
                      </a:r>
                      <a:r>
                        <a:rPr sz="1100" dirty="0">
                          <a:latin typeface="Arial MT"/>
                          <a:cs typeface="Arial MT"/>
                        </a:rPr>
                        <a:t>o</a:t>
                      </a:r>
                      <a:r>
                        <a:rPr sz="1100" spc="-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100" spc="-50" dirty="0">
                          <a:latin typeface="Arial MT"/>
                          <a:cs typeface="Arial MT"/>
                        </a:rPr>
                        <a:t>n</a:t>
                      </a:r>
                      <a:endParaRPr sz="1100">
                        <a:latin typeface="Arial MT"/>
                        <a:cs typeface="Arial MT"/>
                      </a:endParaRPr>
                    </a:p>
                  </a:txBody>
                  <a:tcPr marL="0" marR="0" marT="450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1982</Words>
  <Application>Microsoft Office PowerPoint</Application>
  <PresentationFormat>Custom</PresentationFormat>
  <Paragraphs>241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Arial MT</vt:lpstr>
      <vt:lpstr>Calibri</vt:lpstr>
      <vt:lpstr>Times New Roman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CSA0706_CO2_AT1_ANALYTICAL PROBLEM.docx</dc:title>
  <cp:lastModifiedBy>harshit pasupuleti</cp:lastModifiedBy>
  <cp:revision>1</cp:revision>
  <dcterms:created xsi:type="dcterms:W3CDTF">2026-07-25T03:57:32Z</dcterms:created>
  <dcterms:modified xsi:type="dcterms:W3CDTF">2026-07-25T04:28:51Z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2026-07-25T00:00:00Z</vt:filetime>
  </property>
  <property fmtid="{D5CDD505-2E9C-101B-9397-08002B2CF9AE}" pid="4" name="Creator">
    <vt:lpwstr>Pages</vt:lpwstr>
  </property>
  <property fmtid="{D5CDD505-2E9C-101B-9397-08002B2CF9AE}" pid="5" name="LastSaved">
    <vt:filetime>2026-07-25T00:00:00Z</vt:filetime>
  </property>
  <property fmtid="{D5CDD505-2E9C-101B-9397-08002B2CF9AE}" pid="6" name="Producer">
    <vt:lpwstr>macOS Version 26.4.1 (Build 25E253) Quartz PDFContext</vt:lpwstr>
  </property>
</Properties>
</file>