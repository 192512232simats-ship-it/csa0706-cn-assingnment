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69200" cy="10693400"/>
  <p:notesSz cx="75692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2859" y="845827"/>
            <a:ext cx="2418080" cy="49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10"/>
              </a:lnSpc>
              <a:spcBef>
                <a:spcPts val="100"/>
              </a:spcBef>
            </a:pPr>
            <a:r>
              <a:rPr sz="1700" b="1" spc="-45" dirty="0">
                <a:latin typeface="Times New Roman"/>
                <a:cs typeface="Times New Roman"/>
              </a:rPr>
              <a:t>SIMATS</a:t>
            </a:r>
            <a:r>
              <a:rPr sz="1700" b="1" spc="-7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ENGINEERING</a:t>
            </a:r>
            <a:endParaRPr sz="1700">
              <a:latin typeface="Times New Roman"/>
              <a:cs typeface="Times New Roman"/>
            </a:endParaRPr>
          </a:p>
          <a:p>
            <a:pPr marR="40640" algn="ctr">
              <a:lnSpc>
                <a:spcPts val="1650"/>
              </a:lnSpc>
            </a:pPr>
            <a:r>
              <a:rPr sz="1400" b="1" spc="-10" dirty="0">
                <a:latin typeface="Times New Roman"/>
                <a:cs typeface="Times New Roman"/>
              </a:rPr>
              <a:t>ASSESSMENT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TOOL</a:t>
            </a:r>
            <a:r>
              <a:rPr sz="1400" b="1" spc="-10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802948"/>
            <a:ext cx="1761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CODE:</a:t>
            </a:r>
            <a:r>
              <a:rPr sz="1200" b="1" spc="190" dirty="0">
                <a:latin typeface="Arial"/>
                <a:cs typeface="Arial"/>
              </a:rPr>
              <a:t> </a:t>
            </a:r>
            <a:r>
              <a:rPr sz="1200" spc="-10" dirty="0">
                <a:latin typeface="Arial MT"/>
                <a:cs typeface="Arial MT"/>
              </a:rPr>
              <a:t>CSA07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2854" y="1802948"/>
            <a:ext cx="2141855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4290" algn="r">
              <a:lnSpc>
                <a:spcPts val="142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COURSE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NAME: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COMPUTER</a:t>
            </a:r>
            <a:endParaRPr sz="1200">
              <a:latin typeface="Arial"/>
              <a:cs typeface="Arial"/>
            </a:endParaRPr>
          </a:p>
          <a:p>
            <a:pPr marR="5080" algn="r">
              <a:lnSpc>
                <a:spcPts val="1420"/>
              </a:lnSpc>
            </a:pPr>
            <a:r>
              <a:rPr sz="1200" b="1" spc="-10" dirty="0">
                <a:latin typeface="Arial"/>
                <a:cs typeface="Arial"/>
              </a:rPr>
              <a:t>NETWORKS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014529"/>
            <a:ext cx="5729605" cy="114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OUTCOME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COVERED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600"/>
              </a:lnSpc>
            </a:pPr>
            <a:r>
              <a:rPr sz="1200" b="1" i="1" dirty="0">
                <a:latin typeface="Arial"/>
                <a:cs typeface="Arial"/>
              </a:rPr>
              <a:t>CO2:</a:t>
            </a:r>
            <a:r>
              <a:rPr sz="1200" b="1" i="1" spc="-30" dirty="0">
                <a:latin typeface="Arial"/>
                <a:cs typeface="Arial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Configure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schemes,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subnetting,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basic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techniques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simulation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tool,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efficient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design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topology</a:t>
            </a:r>
            <a:r>
              <a:rPr sz="1200" i="1" dirty="0">
                <a:latin typeface="Arial"/>
                <a:cs typeface="Arial"/>
              </a:rPr>
              <a:t>.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(BL3)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200" i="1" spc="-10" dirty="0">
                <a:latin typeface="Arial"/>
                <a:cs typeface="Arial"/>
              </a:rPr>
              <a:t>Assessment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spc="-30" dirty="0">
                <a:latin typeface="Arial"/>
                <a:cs typeface="Arial"/>
              </a:rPr>
              <a:t>Tool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Weightage: </a:t>
            </a:r>
            <a:r>
              <a:rPr sz="1200" i="1" spc="-25" dirty="0">
                <a:latin typeface="Arial"/>
                <a:cs typeface="Arial"/>
              </a:rPr>
              <a:t>40%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9129" y="4615364"/>
            <a:ext cx="2952115" cy="58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3444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Annexure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400" b="1" spc="-40" dirty="0">
                <a:latin typeface="Times New Roman"/>
                <a:cs typeface="Times New Roman"/>
              </a:rPr>
              <a:t>ANALYTICAL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PROBLEM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SOLVING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5701595"/>
            <a:ext cx="5601335" cy="156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Times New Roman"/>
                <a:cs typeface="Times New Roman"/>
              </a:rPr>
              <a:t>Code</a:t>
            </a:r>
            <a:r>
              <a:rPr sz="1200" b="1" i="1" spc="-2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25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Conduct: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132715">
              <a:lnSpc>
                <a:spcPct val="104200"/>
              </a:lnSpc>
              <a:spcBef>
                <a:spcPts val="5"/>
              </a:spcBef>
            </a:pPr>
            <a:r>
              <a:rPr sz="1200" i="1">
                <a:latin typeface="Times New Roman"/>
                <a:cs typeface="Times New Roman"/>
              </a:rPr>
              <a:t>I</a:t>
            </a:r>
            <a:r>
              <a:rPr sz="1200" i="1" spc="-15">
                <a:latin typeface="Times New Roman"/>
                <a:cs typeface="Times New Roman"/>
              </a:rPr>
              <a:t> </a:t>
            </a:r>
            <a:r>
              <a:rPr sz="1200" i="1" spc="-10">
                <a:latin typeface="Times New Roman"/>
                <a:cs typeface="Times New Roman"/>
              </a:rPr>
              <a:t> </a:t>
            </a:r>
            <a:r>
              <a:rPr lang="en-IN" sz="1200" i="1" spc="-10" dirty="0">
                <a:latin typeface="Times New Roman"/>
                <a:cs typeface="Times New Roman"/>
              </a:rPr>
              <a:t>GODDAVULA NITISH KANTH </a:t>
            </a:r>
            <a:r>
              <a:rPr sz="1200" i="1" spc="-10" dirty="0">
                <a:latin typeface="Times New Roman"/>
                <a:cs typeface="Times New Roman"/>
              </a:rPr>
              <a:t>(192</a:t>
            </a:r>
            <a:r>
              <a:rPr lang="en-IN" sz="1200" i="1" spc="-10" dirty="0">
                <a:latin typeface="Times New Roman"/>
                <a:cs typeface="Times New Roman"/>
              </a:rPr>
              <a:t>512232</a:t>
            </a:r>
            <a:r>
              <a:rPr sz="1200" i="1" spc="-10" dirty="0">
                <a:latin typeface="Times New Roman"/>
                <a:cs typeface="Times New Roman"/>
              </a:rPr>
              <a:t>)</a:t>
            </a:r>
            <a:r>
              <a:rPr sz="1200" i="1" spc="-1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(Name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/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Reg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No)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certify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submission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is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my</a:t>
            </a:r>
            <a:r>
              <a:rPr sz="1200" i="1" spc="-10" dirty="0">
                <a:latin typeface="Times New Roman"/>
                <a:cs typeface="Times New Roman"/>
              </a:rPr>
              <a:t> original </a:t>
            </a:r>
            <a:r>
              <a:rPr sz="1200" i="1" dirty="0">
                <a:latin typeface="Times New Roman"/>
                <a:cs typeface="Times New Roman"/>
              </a:rPr>
              <a:t>work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have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adhered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guidelines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specified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assessment.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understand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violation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academic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integrity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rules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will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result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disciplinary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i="1" dirty="0">
                <a:latin typeface="Times New Roman"/>
                <a:cs typeface="Times New Roman"/>
              </a:rPr>
              <a:t>Signature</a:t>
            </a:r>
            <a:r>
              <a:rPr sz="1200" b="1" i="1" spc="-1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1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the</a:t>
            </a:r>
            <a:r>
              <a:rPr sz="1200" b="1" i="1" spc="-15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student:</a:t>
            </a:r>
            <a:r>
              <a:rPr sz="1200" b="1" i="1" spc="-30" dirty="0">
                <a:latin typeface="Times New Roman"/>
                <a:cs typeface="Times New Roman"/>
              </a:rPr>
              <a:t> </a:t>
            </a:r>
            <a:r>
              <a:rPr lang="en-IN" sz="1200" b="1" i="1" spc="-10" dirty="0">
                <a:latin typeface="Times New Roman"/>
                <a:cs typeface="Times New Roman"/>
              </a:rPr>
              <a:t>G.NITISH KANTH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33450" y="2831039"/>
            <a:ext cx="5762625" cy="0"/>
          </a:xfrm>
          <a:custGeom>
            <a:avLst/>
            <a:gdLst/>
            <a:ahLst/>
            <a:cxnLst/>
            <a:rect l="l" t="t" r="r" b="b"/>
            <a:pathLst>
              <a:path w="5762625">
                <a:moveTo>
                  <a:pt x="0" y="0"/>
                </a:moveTo>
                <a:lnTo>
                  <a:pt x="57626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3450" y="4441167"/>
            <a:ext cx="5762625" cy="0"/>
          </a:xfrm>
          <a:custGeom>
            <a:avLst/>
            <a:gdLst/>
            <a:ahLst/>
            <a:cxnLst/>
            <a:rect l="l" t="t" r="r" b="b"/>
            <a:pathLst>
              <a:path w="5762625">
                <a:moveTo>
                  <a:pt x="0" y="0"/>
                </a:moveTo>
                <a:lnTo>
                  <a:pt x="57626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3450" y="5485735"/>
            <a:ext cx="5762625" cy="0"/>
          </a:xfrm>
          <a:custGeom>
            <a:avLst/>
            <a:gdLst/>
            <a:ahLst/>
            <a:cxnLst/>
            <a:rect l="l" t="t" r="r" b="b"/>
            <a:pathLst>
              <a:path w="5762625">
                <a:moveTo>
                  <a:pt x="0" y="0"/>
                </a:moveTo>
                <a:lnTo>
                  <a:pt x="57626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094" y="1194619"/>
            <a:ext cx="5800090" cy="915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52425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Annexure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 marR="22225" algn="ctr">
              <a:lnSpc>
                <a:spcPct val="100000"/>
              </a:lnSpc>
              <a:spcBef>
                <a:spcPts val="1270"/>
              </a:spcBef>
            </a:pPr>
            <a:r>
              <a:rPr sz="1400" b="1" spc="-40" dirty="0">
                <a:latin typeface="Times New Roman"/>
                <a:cs typeface="Times New Roman"/>
              </a:rPr>
              <a:t>ANALYTICAL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PROBLEM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SOLVING</a:t>
            </a:r>
            <a:endParaRPr sz="1400">
              <a:latin typeface="Times New Roman"/>
              <a:cs typeface="Times New Roman"/>
            </a:endParaRPr>
          </a:p>
          <a:p>
            <a:pPr marL="240665" marR="5080" indent="-213995" algn="just">
              <a:lnSpc>
                <a:spcPct val="144300"/>
              </a:lnSpc>
              <a:spcBef>
                <a:spcPts val="505"/>
              </a:spcBef>
            </a:pPr>
            <a:r>
              <a:rPr sz="1400" dirty="0">
                <a:latin typeface="Times New Roman"/>
                <a:cs typeface="Times New Roman"/>
              </a:rPr>
              <a:t>1.</a:t>
            </a:r>
            <a:r>
              <a:rPr sz="14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Suppose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want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11100011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protect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CRC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polynomial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X3+1.</a:t>
            </a:r>
            <a:endParaRPr sz="1200">
              <a:latin typeface="Times New Roman"/>
              <a:cs typeface="Times New Roman"/>
            </a:endParaRPr>
          </a:p>
          <a:p>
            <a:pPr marL="208279" algn="just">
              <a:lnSpc>
                <a:spcPct val="100000"/>
              </a:lnSpc>
              <a:spcBef>
                <a:spcPts val="785"/>
              </a:spcBef>
            </a:pPr>
            <a:r>
              <a:rPr sz="1200" dirty="0">
                <a:latin typeface="Times New Roman"/>
                <a:cs typeface="Times New Roman"/>
              </a:rPr>
              <a:t>i.)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polynomial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transmitted.</a:t>
            </a:r>
            <a:endParaRPr sz="1200">
              <a:latin typeface="Times New Roman"/>
              <a:cs typeface="Times New Roman"/>
            </a:endParaRPr>
          </a:p>
          <a:p>
            <a:pPr marL="208279" marR="7620" algn="just">
              <a:lnSpc>
                <a:spcPts val="2220"/>
              </a:lnSpc>
              <a:spcBef>
                <a:spcPts val="175"/>
              </a:spcBef>
            </a:pPr>
            <a:r>
              <a:rPr sz="1200" dirty="0">
                <a:latin typeface="Times New Roman"/>
                <a:cs typeface="Times New Roman"/>
              </a:rPr>
              <a:t>ii)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Suppose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leftmost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inverted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noise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transmission </a:t>
            </a:r>
            <a:r>
              <a:rPr sz="1200" dirty="0">
                <a:latin typeface="Times New Roman"/>
                <a:cs typeface="Times New Roman"/>
              </a:rPr>
              <a:t>link.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receiver's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calculation?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occurred?</a:t>
            </a:r>
            <a:endParaRPr sz="1200">
              <a:latin typeface="Times New Roman"/>
              <a:cs typeface="Times New Roman"/>
            </a:endParaRPr>
          </a:p>
          <a:p>
            <a:pPr marL="208279">
              <a:lnSpc>
                <a:spcPct val="100000"/>
              </a:lnSpc>
              <a:spcBef>
                <a:spcPts val="1280"/>
              </a:spcBef>
            </a:pPr>
            <a:r>
              <a:rPr sz="1200" b="1" spc="-10" dirty="0"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spcBef>
                <a:spcPts val="635"/>
              </a:spcBef>
            </a:pPr>
            <a:r>
              <a:rPr sz="1400" b="1" spc="-10" dirty="0">
                <a:latin typeface="Times New Roman"/>
                <a:cs typeface="Times New Roman"/>
              </a:rPr>
              <a:t>Given: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75"/>
              </a:spcBef>
            </a:pPr>
            <a:r>
              <a:rPr sz="1200" b="1" dirty="0">
                <a:latin typeface="Times New Roman"/>
                <a:cs typeface="Times New Roman"/>
              </a:rPr>
              <a:t>Message: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11100011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10"/>
              </a:lnSpc>
              <a:spcBef>
                <a:spcPts val="60"/>
              </a:spcBef>
            </a:pPr>
            <a:r>
              <a:rPr sz="1200" b="1" spc="-10" dirty="0">
                <a:latin typeface="Times New Roman"/>
                <a:cs typeface="Times New Roman"/>
              </a:rPr>
              <a:t>Generator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Polynomial: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050"/>
              </a:lnSpc>
            </a:pPr>
            <a:r>
              <a:rPr sz="900" spc="-50" dirty="0"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900">
              <a:latin typeface="Times New Roman"/>
              <a:cs typeface="Times New Roman"/>
            </a:endParaRPr>
          </a:p>
          <a:p>
            <a:pPr marL="469900" marR="5236210">
              <a:lnSpc>
                <a:spcPct val="104200"/>
              </a:lnSpc>
            </a:pPr>
            <a:r>
              <a:rPr sz="1200" spc="-50" dirty="0">
                <a:latin typeface="Times New Roman"/>
                <a:cs typeface="Times New Roman"/>
              </a:rPr>
              <a:t>+ 1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200" spc="-20" dirty="0">
                <a:latin typeface="Times New Roman"/>
                <a:cs typeface="Times New Roman"/>
              </a:rPr>
              <a:t>x3+1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95"/>
              </a:lnSpc>
              <a:spcBef>
                <a:spcPts val="60"/>
              </a:spcBef>
            </a:pPr>
            <a:r>
              <a:rPr sz="1200" b="1" dirty="0">
                <a:latin typeface="Times New Roman"/>
                <a:cs typeface="Times New Roman"/>
              </a:rPr>
              <a:t>Binary </a:t>
            </a:r>
            <a:r>
              <a:rPr sz="1200" b="1" spc="-10" dirty="0">
                <a:latin typeface="Times New Roman"/>
                <a:cs typeface="Times New Roman"/>
              </a:rPr>
              <a:t>Generator: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1001</a:t>
            </a:r>
            <a:endParaRPr sz="1200">
              <a:latin typeface="Times New Roman"/>
              <a:cs typeface="Times New Roman"/>
            </a:endParaRPr>
          </a:p>
          <a:p>
            <a:pPr marL="224790" indent="-212090">
              <a:lnSpc>
                <a:spcPts val="1635"/>
              </a:lnSpc>
              <a:buAutoNum type="romanLcParenBoth"/>
              <a:tabLst>
                <a:tab pos="224790" algn="l"/>
              </a:tabLst>
            </a:pPr>
            <a:r>
              <a:rPr sz="1400" b="1" dirty="0">
                <a:latin typeface="Times New Roman"/>
                <a:cs typeface="Times New Roman"/>
              </a:rPr>
              <a:t>CRC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Calculation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200" dirty="0">
                <a:latin typeface="Times New Roman"/>
                <a:cs typeface="Times New Roman"/>
              </a:rPr>
              <a:t>Append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zeros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(degree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polynomial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3):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b="1" spc="-25" dirty="0">
                <a:latin typeface="Times New Roman"/>
                <a:cs typeface="Times New Roman"/>
              </a:rPr>
              <a:t>11100011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→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11100011000</a:t>
            </a:r>
            <a:endParaRPr sz="1200">
              <a:latin typeface="Times New Roman"/>
              <a:cs typeface="Times New Roman"/>
            </a:endParaRPr>
          </a:p>
          <a:p>
            <a:pPr marL="12700" marR="3548379">
              <a:lnSpc>
                <a:spcPct val="187500"/>
              </a:lnSpc>
            </a:pP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modulo-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division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1001</a:t>
            </a:r>
            <a:r>
              <a:rPr sz="1200" spc="-10" dirty="0">
                <a:latin typeface="Times New Roman"/>
                <a:cs typeface="Times New Roman"/>
              </a:rPr>
              <a:t>. </a:t>
            </a:r>
            <a:r>
              <a:rPr sz="1200" b="1" dirty="0">
                <a:latin typeface="Times New Roman"/>
                <a:cs typeface="Times New Roman"/>
              </a:rPr>
              <a:t>CRC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Remainder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  <a:p>
            <a:pPr marL="12700" marR="3667760">
              <a:lnSpc>
                <a:spcPct val="187500"/>
              </a:lnSpc>
            </a:pPr>
            <a:r>
              <a:rPr sz="1200" dirty="0">
                <a:latin typeface="Times New Roman"/>
                <a:cs typeface="Times New Roman"/>
              </a:rPr>
              <a:t>Hence,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transmitted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is: </a:t>
            </a:r>
            <a:r>
              <a:rPr sz="1200" spc="-10" dirty="0">
                <a:latin typeface="Times New Roman"/>
                <a:cs typeface="Times New Roman"/>
              </a:rPr>
              <a:t>11100011100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11100011100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274320" indent="-261620">
              <a:lnSpc>
                <a:spcPct val="100000"/>
              </a:lnSpc>
              <a:spcBef>
                <a:spcPts val="5"/>
              </a:spcBef>
              <a:buAutoNum type="romanLcParenBoth" startAt="2"/>
              <a:tabLst>
                <a:tab pos="27432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Error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Detection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leftmost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inverted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transmission: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b="1" spc="-10" dirty="0">
                <a:latin typeface="Times New Roman"/>
                <a:cs typeface="Times New Roman"/>
              </a:rPr>
              <a:t>Transmitted: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11100011100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b="1" dirty="0">
                <a:latin typeface="Times New Roman"/>
                <a:cs typeface="Times New Roman"/>
              </a:rPr>
              <a:t>Received: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01100011100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dirty="0">
                <a:latin typeface="Times New Roman"/>
                <a:cs typeface="Times New Roman"/>
              </a:rPr>
              <a:t>Dividing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1001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gives: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094" y="849559"/>
            <a:ext cx="4785995" cy="1847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Remainder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001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dirty="0">
                <a:latin typeface="Times New Roman"/>
                <a:cs typeface="Times New Roman"/>
              </a:rPr>
              <a:t>Since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remainder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000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occurred.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400" b="1" dirty="0">
                <a:latin typeface="Times New Roman"/>
                <a:cs typeface="Times New Roman"/>
              </a:rPr>
              <a:t>Final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Answer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75"/>
              </a:spcBef>
            </a:pPr>
            <a:r>
              <a:rPr sz="1200" b="1" dirty="0">
                <a:latin typeface="Times New Roman"/>
                <a:cs typeface="Times New Roman"/>
              </a:rPr>
              <a:t>CRC: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  <a:p>
            <a:pPr marL="469900" marR="1958339">
              <a:lnSpc>
                <a:spcPct val="104200"/>
              </a:lnSpc>
            </a:pPr>
            <a:r>
              <a:rPr sz="1200" b="1" spc="-10" dirty="0">
                <a:latin typeface="Times New Roman"/>
                <a:cs typeface="Times New Roman"/>
              </a:rPr>
              <a:t>Transmitted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message: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11100011100 </a:t>
            </a:r>
            <a:r>
              <a:rPr sz="1200" b="1" dirty="0">
                <a:latin typeface="Times New Roman"/>
                <a:cs typeface="Times New Roman"/>
              </a:rPr>
              <a:t>Received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remainder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after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error:</a:t>
            </a:r>
            <a:r>
              <a:rPr sz="1200" b="1" spc="-25" dirty="0">
                <a:latin typeface="Times New Roman"/>
                <a:cs typeface="Times New Roman"/>
              </a:rPr>
              <a:t> 001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1200" b="1" dirty="0">
                <a:latin typeface="Times New Roman"/>
                <a:cs typeface="Times New Roman"/>
              </a:rPr>
              <a:t>Conclusion: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zero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remainder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transmission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error.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315027"/>
            <a:ext cx="5785485" cy="87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marR="5080" indent="-156845" algn="just">
              <a:lnSpc>
                <a:spcPct val="1545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2.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a)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bandwidth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Mbps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average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12,000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per </a:t>
            </a:r>
            <a:r>
              <a:rPr sz="1200" dirty="0">
                <a:latin typeface="Times New Roman"/>
                <a:cs typeface="Times New Roman"/>
              </a:rPr>
              <a:t>minute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carrying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average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10,000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throughput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spc="-10" dirty="0">
                <a:latin typeface="Times New Roman"/>
                <a:cs typeface="Times New Roman"/>
              </a:rPr>
              <a:t>network?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162566"/>
            <a:ext cx="5135880" cy="87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45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b)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bandwidth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3000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Hz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(300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3300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Hz)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assigned communications.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to-</a:t>
            </a:r>
            <a:r>
              <a:rPr sz="1200" dirty="0">
                <a:latin typeface="Times New Roman"/>
                <a:cs typeface="Times New Roman"/>
              </a:rPr>
              <a:t>noise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ratio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3162.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channel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capacity </a:t>
            </a:r>
            <a:r>
              <a:rPr sz="1200" b="1" spc="-10" dirty="0"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0484" y="4262199"/>
            <a:ext cx="565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7094" y="5117428"/>
            <a:ext cx="3053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(a)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Throughput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Network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7094" y="5580184"/>
            <a:ext cx="3185160" cy="3383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Given: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2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Bandwidth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Mbps</a:t>
            </a:r>
            <a:endParaRPr sz="1200">
              <a:latin typeface="Times New Roman"/>
              <a:cs typeface="Times New Roman"/>
            </a:endParaRPr>
          </a:p>
          <a:p>
            <a:pPr marL="469900" marR="34925">
              <a:lnSpc>
                <a:spcPts val="14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Frames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transmitted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12,000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frames/minute </a:t>
            </a:r>
            <a:r>
              <a:rPr sz="1200" dirty="0">
                <a:latin typeface="Times New Roman"/>
                <a:cs typeface="Times New Roman"/>
              </a:rPr>
              <a:t>Frame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10,000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bits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</a:pPr>
            <a:r>
              <a:rPr sz="1200" b="1" spc="-10" dirty="0">
                <a:latin typeface="Times New Roman"/>
                <a:cs typeface="Times New Roman"/>
              </a:rPr>
              <a:t>Formula: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Throughput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(Frames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Time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b="1" spc="-10" dirty="0">
                <a:latin typeface="Times New Roman"/>
                <a:cs typeface="Times New Roman"/>
              </a:rPr>
              <a:t>Calculation: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Throughput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(12,000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10,000)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25" dirty="0">
                <a:latin typeface="Times New Roman"/>
                <a:cs typeface="Times New Roman"/>
              </a:rPr>
              <a:t> 60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120,000,000 /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60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= 2,000,000 </a:t>
            </a:r>
            <a:r>
              <a:rPr sz="1200" spc="-25" dirty="0">
                <a:latin typeface="Times New Roman"/>
                <a:cs typeface="Times New Roman"/>
              </a:rPr>
              <a:t>bps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 </a:t>
            </a:r>
            <a:r>
              <a:rPr sz="1200" b="1" spc="-20" dirty="0">
                <a:latin typeface="Times New Roman"/>
                <a:cs typeface="Times New Roman"/>
              </a:rPr>
              <a:t>Mbps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b="1" dirty="0">
                <a:latin typeface="Times New Roman"/>
                <a:cs typeface="Times New Roman"/>
              </a:rPr>
              <a:t>Answer: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throughput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</a:t>
            </a:r>
            <a:r>
              <a:rPr sz="1200" b="1" spc="-20" dirty="0">
                <a:latin typeface="Times New Roman"/>
                <a:cs typeface="Times New Roman"/>
              </a:rPr>
              <a:t> Mbps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7094" y="9282234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(b)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Channel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Capacity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7094" y="9744990"/>
            <a:ext cx="2660015" cy="716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Given: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2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Bandwidth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(B)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3000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Hz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20"/>
              </a:lnSpc>
            </a:pPr>
            <a:r>
              <a:rPr sz="1200" spc="-10" dirty="0">
                <a:latin typeface="Times New Roman"/>
                <a:cs typeface="Times New Roman"/>
              </a:rPr>
              <a:t>Signal-to-</a:t>
            </a:r>
            <a:r>
              <a:rPr sz="1200" dirty="0">
                <a:latin typeface="Times New Roman"/>
                <a:cs typeface="Times New Roman"/>
              </a:rPr>
              <a:t>Noise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Ratio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(S/N)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3162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094" y="838200"/>
            <a:ext cx="2740025" cy="2557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Formula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(Shannon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Capacity):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</a:t>
            </a:r>
            <a:r>
              <a:rPr sz="1200" dirty="0">
                <a:latin typeface="Trebuchet MS"/>
                <a:cs typeface="Trebuchet MS"/>
              </a:rPr>
              <a:t>₂</a:t>
            </a:r>
            <a:r>
              <a:rPr sz="1200" dirty="0">
                <a:latin typeface="Times New Roman"/>
                <a:cs typeface="Times New Roman"/>
              </a:rPr>
              <a:t>(1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S/N)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b="1" spc="-10" dirty="0">
                <a:latin typeface="Times New Roman"/>
                <a:cs typeface="Times New Roman"/>
              </a:rPr>
              <a:t>Calculation: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200" dirty="0">
                <a:latin typeface="Times New Roman"/>
                <a:cs typeface="Times New Roman"/>
              </a:rPr>
              <a:t>C = 3000 × </a:t>
            </a:r>
            <a:r>
              <a:rPr sz="1200" spc="-10" dirty="0">
                <a:latin typeface="Times New Roman"/>
                <a:cs typeface="Times New Roman"/>
              </a:rPr>
              <a:t>log</a:t>
            </a:r>
            <a:r>
              <a:rPr sz="1200" spc="-10" dirty="0">
                <a:latin typeface="Trebuchet MS"/>
                <a:cs typeface="Trebuchet MS"/>
              </a:rPr>
              <a:t>₂</a:t>
            </a:r>
            <a:r>
              <a:rPr sz="1200" spc="-10" dirty="0">
                <a:latin typeface="Times New Roman"/>
                <a:cs typeface="Times New Roman"/>
              </a:rPr>
              <a:t>(3163)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≈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3000 ×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11.63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≈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34,890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bps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≈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34.9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kbps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b="1" dirty="0">
                <a:latin typeface="Times New Roman"/>
                <a:cs typeface="Times New Roman"/>
              </a:rPr>
              <a:t>Answer: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channel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capacity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34.9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kbps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950168"/>
            <a:ext cx="5784850" cy="200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 marR="5080" indent="-147320" algn="just">
              <a:lnSpc>
                <a:spcPct val="1545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3.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multispecialty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hospital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-10" dirty="0">
                <a:latin typeface="Times New Roman"/>
                <a:cs typeface="Times New Roman"/>
              </a:rPr>
              <a:t> patient-</a:t>
            </a:r>
            <a:r>
              <a:rPr sz="1200" dirty="0">
                <a:latin typeface="Times New Roman"/>
                <a:cs typeface="Times New Roman"/>
              </a:rPr>
              <a:t>monitoring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continuously</a:t>
            </a:r>
            <a:r>
              <a:rPr sz="1200" spc="-10" dirty="0">
                <a:latin typeface="Times New Roman"/>
                <a:cs typeface="Times New Roman"/>
              </a:rPr>
              <a:t> transmit </a:t>
            </a:r>
            <a:r>
              <a:rPr sz="1200" dirty="0">
                <a:latin typeface="Times New Roman"/>
                <a:cs typeface="Times New Roman"/>
              </a:rPr>
              <a:t>patients'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heart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blood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pressure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readings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central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monitoring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station.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Since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transmitted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channel,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electromagnetic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interference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occasionally </a:t>
            </a:r>
            <a:r>
              <a:rPr sz="1200" dirty="0">
                <a:latin typeface="Times New Roman"/>
                <a:cs typeface="Times New Roman"/>
              </a:rPr>
              <a:t>changes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transmission.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doctors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patient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waiting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retransmission,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hospital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Hamming </a:t>
            </a:r>
            <a:r>
              <a:rPr sz="1200" b="1" dirty="0">
                <a:latin typeface="Times New Roman"/>
                <a:cs typeface="Times New Roman"/>
              </a:rPr>
              <a:t>(12,8)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error-</a:t>
            </a:r>
            <a:r>
              <a:rPr sz="1200" dirty="0">
                <a:latin typeface="Times New Roman"/>
                <a:cs typeface="Times New Roman"/>
              </a:rPr>
              <a:t>correcting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code.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200" b="1" spc="-10" dirty="0"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094" y="6035716"/>
            <a:ext cx="414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Hamming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(12,8)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Code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Hospital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Scenario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094" y="6498473"/>
            <a:ext cx="5972810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2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Problem:</a:t>
            </a:r>
            <a:endParaRPr sz="1200">
              <a:latin typeface="Times New Roman"/>
              <a:cs typeface="Times New Roman"/>
            </a:endParaRPr>
          </a:p>
          <a:p>
            <a:pPr marL="12700" marR="74295">
              <a:lnSpc>
                <a:spcPts val="14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multispecialty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hospital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patient-</a:t>
            </a:r>
            <a:r>
              <a:rPr sz="1200" dirty="0">
                <a:latin typeface="Times New Roman"/>
                <a:cs typeface="Times New Roman"/>
              </a:rPr>
              <a:t>monitoring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continuously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patients' </a:t>
            </a:r>
            <a:r>
              <a:rPr sz="1200" dirty="0">
                <a:latin typeface="Times New Roman"/>
                <a:cs typeface="Times New Roman"/>
              </a:rPr>
              <a:t>heart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blood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pressure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readings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central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monitoring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station.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electromagnetic interference,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single-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error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transmission.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retransmission,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hospital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Hamming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(12,8)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error-</a:t>
            </a:r>
            <a:r>
              <a:rPr sz="1200" b="1" spc="-10" dirty="0">
                <a:latin typeface="Times New Roman"/>
                <a:cs typeface="Times New Roman"/>
              </a:rPr>
              <a:t>correcting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code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00" b="1" spc="-10" dirty="0"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  <a:p>
            <a:pPr marL="469900" marR="5080">
              <a:lnSpc>
                <a:spcPts val="1400"/>
              </a:lnSpc>
              <a:spcBef>
                <a:spcPts val="12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Hamming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(12,8)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8-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12-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codeword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4 </a:t>
            </a:r>
            <a:r>
              <a:rPr sz="1200" b="1" dirty="0">
                <a:latin typeface="Times New Roman"/>
                <a:cs typeface="Times New Roman"/>
              </a:rPr>
              <a:t>parity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bits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marR="38735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transmission,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single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changed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dirty="0">
                <a:latin typeface="Times New Roman"/>
                <a:cs typeface="Times New Roman"/>
              </a:rPr>
              <a:t>exact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error.</a:t>
            </a:r>
            <a:endParaRPr sz="1200">
              <a:latin typeface="Times New Roman"/>
              <a:cs typeface="Times New Roman"/>
            </a:endParaRPr>
          </a:p>
          <a:p>
            <a:pPr marL="469900" marR="40005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automatically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corrects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erroneous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asking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retransmit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marL="469900" marR="394335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continuous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monitoring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patients,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interference.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</a:pPr>
            <a:r>
              <a:rPr sz="1200" b="1" spc="-10" dirty="0">
                <a:latin typeface="Times New Roman"/>
                <a:cs typeface="Times New Roman"/>
              </a:rPr>
              <a:t>Advantages:</a:t>
            </a:r>
            <a:endParaRPr sz="1200">
              <a:latin typeface="Times New Roman"/>
              <a:cs typeface="Times New Roman"/>
            </a:endParaRPr>
          </a:p>
          <a:p>
            <a:pPr marL="469900" marR="3111500" algn="just">
              <a:lnSpc>
                <a:spcPts val="1400"/>
              </a:lnSpc>
              <a:spcBef>
                <a:spcPts val="1240"/>
              </a:spcBef>
            </a:pPr>
            <a:r>
              <a:rPr sz="1200" dirty="0">
                <a:latin typeface="Times New Roman"/>
                <a:cs typeface="Times New Roman"/>
              </a:rPr>
              <a:t>Detects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single-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errors</a:t>
            </a:r>
            <a:r>
              <a:rPr sz="1200" spc="-10" dirty="0">
                <a:latin typeface="Times New Roman"/>
                <a:cs typeface="Times New Roman"/>
              </a:rPr>
              <a:t>. </a:t>
            </a:r>
            <a:r>
              <a:rPr sz="1200" dirty="0">
                <a:latin typeface="Times New Roman"/>
                <a:cs typeface="Times New Roman"/>
              </a:rPr>
              <a:t>Eliminates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retransmission. </a:t>
            </a:r>
            <a:r>
              <a:rPr sz="1200" dirty="0">
                <a:latin typeface="Times New Roman"/>
                <a:cs typeface="Times New Roman"/>
              </a:rPr>
              <a:t>Reduces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delay.</a:t>
            </a:r>
            <a:endParaRPr sz="1200">
              <a:latin typeface="Times New Roman"/>
              <a:cs typeface="Times New Roman"/>
            </a:endParaRPr>
          </a:p>
          <a:p>
            <a:pPr marL="469900" algn="just">
              <a:lnSpc>
                <a:spcPts val="1360"/>
              </a:lnSpc>
            </a:pPr>
            <a:r>
              <a:rPr sz="1200" dirty="0">
                <a:latin typeface="Times New Roman"/>
                <a:cs typeface="Times New Roman"/>
              </a:rPr>
              <a:t>Improves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patient-</a:t>
            </a:r>
            <a:r>
              <a:rPr sz="1200" dirty="0">
                <a:latin typeface="Times New Roman"/>
                <a:cs typeface="Times New Roman"/>
              </a:rPr>
              <a:t>monitoring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094" y="838200"/>
            <a:ext cx="5749290" cy="109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ts val="142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doctors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patient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00"/>
              </a:lnSpc>
            </a:pPr>
            <a:r>
              <a:rPr sz="1200" b="1" spc="-10" dirty="0">
                <a:latin typeface="Times New Roman"/>
                <a:cs typeface="Times New Roman"/>
              </a:rPr>
              <a:t>Conclusion: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4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Hamming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(12,8)</a:t>
            </a:r>
            <a:r>
              <a:rPr sz="1200" b="1" spc="-25" dirty="0">
                <a:latin typeface="Times New Roman"/>
                <a:cs typeface="Times New Roman"/>
              </a:rPr>
              <a:t> error-</a:t>
            </a:r>
            <a:r>
              <a:rPr sz="1200" b="1" spc="-10" dirty="0">
                <a:latin typeface="Times New Roman"/>
                <a:cs typeface="Times New Roman"/>
              </a:rPr>
              <a:t>correcting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code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hospital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patient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transmitted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accurately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efficiently.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single-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electromagnetic interference,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automatically,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spc="-20" dirty="0">
                <a:latin typeface="Times New Roman"/>
                <a:cs typeface="Times New Roman"/>
              </a:rPr>
              <a:t>time </a:t>
            </a:r>
            <a:r>
              <a:rPr sz="1200" spc="-10" dirty="0">
                <a:latin typeface="Times New Roman"/>
                <a:cs typeface="Times New Roman"/>
              </a:rPr>
              <a:t>healthcare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monitoring.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7094" y="2494845"/>
            <a:ext cx="5823585" cy="78022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7305" algn="just">
              <a:lnSpc>
                <a:spcPct val="100000"/>
              </a:lnSpc>
              <a:spcBef>
                <a:spcPts val="850"/>
              </a:spcBef>
            </a:pPr>
            <a:r>
              <a:rPr sz="1200" dirty="0">
                <a:latin typeface="Times New Roman"/>
                <a:cs typeface="Times New Roman"/>
              </a:rPr>
              <a:t>4.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172.16.10.0/24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subnetting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27305" marR="6350" algn="just">
              <a:lnSpc>
                <a:spcPts val="2220"/>
              </a:lnSpc>
              <a:spcBef>
                <a:spcPts val="170"/>
              </a:spcBef>
            </a:pPr>
            <a:r>
              <a:rPr sz="1200" b="1" dirty="0">
                <a:latin typeface="Times New Roman"/>
                <a:cs typeface="Times New Roman"/>
              </a:rPr>
              <a:t>/27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subnet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mask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subnet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mask,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subnetting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subnets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per </a:t>
            </a:r>
            <a:r>
              <a:rPr sz="1200" dirty="0">
                <a:latin typeface="Times New Roman"/>
                <a:cs typeface="Times New Roman"/>
              </a:rPr>
              <a:t>subnet.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subnet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172.16.10.78</a:t>
            </a:r>
            <a:r>
              <a:rPr sz="1200" b="1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belongs.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broadcast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subnet.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 </a:t>
            </a:r>
            <a:r>
              <a:rPr sz="1200" b="1" dirty="0">
                <a:latin typeface="Times New Roman"/>
                <a:cs typeface="Times New Roman"/>
              </a:rPr>
              <a:t>172.16.10.95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falls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subnet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configuration.</a:t>
            </a:r>
            <a:endParaRPr sz="1200">
              <a:latin typeface="Times New Roman"/>
              <a:cs typeface="Times New Roman"/>
            </a:endParaRPr>
          </a:p>
          <a:p>
            <a:pPr marL="27305" marR="28575" algn="just">
              <a:lnSpc>
                <a:spcPts val="222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2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2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2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2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2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s </a:t>
            </a:r>
            <a:r>
              <a:rPr sz="1200" b="1" dirty="0">
                <a:latin typeface="Times New Roman"/>
                <a:cs typeface="Times New Roman"/>
              </a:rPr>
              <a:t>2001:0db8:0000:0000:0000:ff00:0042:8329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IPv6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rules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compress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shortest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compressed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back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full</a:t>
            </a:r>
            <a:endParaRPr sz="1200">
              <a:latin typeface="Times New Roman"/>
              <a:cs typeface="Times New Roman"/>
            </a:endParaRPr>
          </a:p>
          <a:p>
            <a:pPr marL="27305" marR="5080" algn="just">
              <a:lnSpc>
                <a:spcPct val="154500"/>
              </a:lnSpc>
              <a:spcBef>
                <a:spcPts val="105"/>
              </a:spcBef>
            </a:pPr>
            <a:r>
              <a:rPr sz="1200" dirty="0">
                <a:latin typeface="Times New Roman"/>
                <a:cs typeface="Times New Roman"/>
              </a:rPr>
              <a:t>notation.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prefix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length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/64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prefix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address. </a:t>
            </a:r>
            <a:r>
              <a:rPr sz="1200" dirty="0">
                <a:latin typeface="Times New Roman"/>
                <a:cs typeface="Times New Roman"/>
              </a:rPr>
              <a:t>Also,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based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prefix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length.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844"/>
              </a:spcBef>
            </a:pPr>
            <a:r>
              <a:rPr sz="1800" b="1" dirty="0">
                <a:latin typeface="Times New Roman"/>
                <a:cs typeface="Times New Roman"/>
              </a:rPr>
              <a:t>(a)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IPv4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Subnetting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200" b="1" spc="-10" dirty="0">
                <a:latin typeface="Times New Roman"/>
                <a:cs typeface="Times New Roman"/>
              </a:rPr>
              <a:t>Given: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2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Network: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172.16.10.0/24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20"/>
              </a:lnSpc>
            </a:pPr>
            <a:r>
              <a:rPr sz="1200" dirty="0">
                <a:latin typeface="Times New Roman"/>
                <a:cs typeface="Times New Roman"/>
              </a:rPr>
              <a:t>Subnet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Mask: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/27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dirty="0">
                <a:latin typeface="Times New Roman"/>
                <a:cs typeface="Times New Roman"/>
              </a:rPr>
              <a:t>Step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1: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0" dirty="0">
                <a:latin typeface="Times New Roman"/>
                <a:cs typeface="Times New Roman"/>
              </a:rPr>
              <a:t> Subnets</a:t>
            </a:r>
            <a:endParaRPr sz="1400">
              <a:latin typeface="Times New Roman"/>
              <a:cs typeface="Times New Roman"/>
            </a:endParaRPr>
          </a:p>
          <a:p>
            <a:pPr marL="12700" marR="3928745">
              <a:lnSpc>
                <a:spcPct val="18440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Borrowed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27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24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3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subnets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2³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8 </a:t>
            </a:r>
            <a:r>
              <a:rPr sz="1400" b="1" dirty="0">
                <a:latin typeface="Times New Roman"/>
                <a:cs typeface="Times New Roman"/>
              </a:rPr>
              <a:t>Step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2: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Hosts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per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Subnet </a:t>
            </a:r>
            <a:r>
              <a:rPr sz="1200" dirty="0">
                <a:latin typeface="Times New Roman"/>
                <a:cs typeface="Times New Roman"/>
              </a:rPr>
              <a:t>Host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32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− 27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12700" marR="4160520">
              <a:lnSpc>
                <a:spcPct val="180600"/>
              </a:lnSpc>
              <a:spcBef>
                <a:spcPts val="145"/>
              </a:spcBef>
            </a:pPr>
            <a:r>
              <a:rPr sz="1200" spc="-20" dirty="0">
                <a:latin typeface="Times New Roman"/>
                <a:cs typeface="Times New Roman"/>
              </a:rPr>
              <a:t>Total</a:t>
            </a:r>
            <a:r>
              <a:rPr sz="1200" dirty="0">
                <a:latin typeface="Times New Roman"/>
                <a:cs typeface="Times New Roman"/>
              </a:rPr>
              <a:t> hosts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rebuchet MS"/>
                <a:cs typeface="Trebuchet MS"/>
              </a:rPr>
              <a:t>⁵</a:t>
            </a:r>
            <a:r>
              <a:rPr sz="1200" spc="-65" dirty="0">
                <a:latin typeface="Trebuchet MS"/>
                <a:cs typeface="Trebuchet MS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32 </a:t>
            </a:r>
            <a:r>
              <a:rPr sz="1200" dirty="0">
                <a:latin typeface="Times New Roman"/>
                <a:cs typeface="Times New Roman"/>
              </a:rPr>
              <a:t>Usable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32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30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400" b="1" dirty="0">
                <a:latin typeface="Times New Roman"/>
                <a:cs typeface="Times New Roman"/>
              </a:rPr>
              <a:t>Step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3: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Find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Subnet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172.16.10.78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094" y="838200"/>
            <a:ext cx="4570730" cy="967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Subnet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ranges: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2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172.16.10.0 – </a:t>
            </a:r>
            <a:r>
              <a:rPr sz="1200" spc="-25" dirty="0">
                <a:latin typeface="Times New Roman"/>
                <a:cs typeface="Times New Roman"/>
              </a:rPr>
              <a:t>31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172.16.10.32 – </a:t>
            </a:r>
            <a:r>
              <a:rPr sz="1200" spc="-25" dirty="0">
                <a:latin typeface="Times New Roman"/>
                <a:cs typeface="Times New Roman"/>
              </a:rPr>
              <a:t>63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172.16.10.64 – </a:t>
            </a:r>
            <a:r>
              <a:rPr sz="1200" b="1" spc="-25" dirty="0">
                <a:latin typeface="Times New Roman"/>
                <a:cs typeface="Times New Roman"/>
              </a:rPr>
              <a:t>95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172.16.10.96 – </a:t>
            </a:r>
            <a:r>
              <a:rPr sz="1200" spc="-25" dirty="0">
                <a:latin typeface="Times New Roman"/>
                <a:cs typeface="Times New Roman"/>
              </a:rPr>
              <a:t>127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172.16.10.128 – </a:t>
            </a:r>
            <a:r>
              <a:rPr sz="1200" spc="-25" dirty="0">
                <a:latin typeface="Times New Roman"/>
                <a:cs typeface="Times New Roman"/>
              </a:rPr>
              <a:t>159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172.16.10.160 – </a:t>
            </a:r>
            <a:r>
              <a:rPr sz="1200" spc="-25" dirty="0">
                <a:latin typeface="Times New Roman"/>
                <a:cs typeface="Times New Roman"/>
              </a:rPr>
              <a:t>191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172.16.10.192 – </a:t>
            </a:r>
            <a:r>
              <a:rPr sz="1200" spc="-25" dirty="0">
                <a:latin typeface="Times New Roman"/>
                <a:cs typeface="Times New Roman"/>
              </a:rPr>
              <a:t>223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172.16.10.224 – </a:t>
            </a:r>
            <a:r>
              <a:rPr sz="1200" spc="-25" dirty="0">
                <a:latin typeface="Times New Roman"/>
                <a:cs typeface="Times New Roman"/>
              </a:rPr>
              <a:t>255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20"/>
              </a:lnSpc>
            </a:pP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172.16.10.78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belongs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subnet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172.16.10.64/27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spc="-10" dirty="0">
                <a:latin typeface="Times New Roman"/>
                <a:cs typeface="Times New Roman"/>
              </a:rPr>
              <a:t>Network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b="1" spc="-10" dirty="0">
                <a:latin typeface="Times New Roman"/>
                <a:cs typeface="Times New Roman"/>
              </a:rPr>
              <a:t>172.16.10.64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spc="-10" dirty="0">
                <a:latin typeface="Times New Roman"/>
                <a:cs typeface="Times New Roman"/>
              </a:rPr>
              <a:t>Broadcast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 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172.16.10.95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Usable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172.16.10.65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10" dirty="0">
                <a:latin typeface="Times New Roman"/>
                <a:cs typeface="Times New Roman"/>
              </a:rPr>
              <a:t> 172.16.10.94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400" b="1" dirty="0">
                <a:latin typeface="Times New Roman"/>
                <a:cs typeface="Times New Roman"/>
              </a:rPr>
              <a:t>Step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4: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Check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IP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172.16.10.95</a:t>
            </a:r>
            <a:endParaRPr sz="1400">
              <a:latin typeface="Times New Roman"/>
              <a:cs typeface="Times New Roman"/>
            </a:endParaRPr>
          </a:p>
          <a:p>
            <a:pPr marL="12700" marR="1308735">
              <a:lnSpc>
                <a:spcPct val="180600"/>
              </a:lnSpc>
              <a:spcBef>
                <a:spcPts val="210"/>
              </a:spcBef>
            </a:pPr>
            <a:r>
              <a:rPr sz="1200" dirty="0">
                <a:latin typeface="Times New Roman"/>
                <a:cs typeface="Times New Roman"/>
              </a:rPr>
              <a:t>172.16.10.95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broadcast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subnet. </a:t>
            </a:r>
            <a:r>
              <a:rPr sz="1200" dirty="0">
                <a:latin typeface="Times New Roman"/>
                <a:cs typeface="Times New Roman"/>
              </a:rPr>
              <a:t>Therefore,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represent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usable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host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b="1" spc="-10" dirty="0">
                <a:latin typeface="Times New Roman"/>
                <a:cs typeface="Times New Roman"/>
              </a:rPr>
              <a:t>Answer: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20"/>
              </a:lnSpc>
              <a:spcBef>
                <a:spcPts val="1160"/>
              </a:spcBef>
            </a:pPr>
            <a:r>
              <a:rPr sz="1200" spc="-20" dirty="0">
                <a:latin typeface="Times New Roman"/>
                <a:cs typeface="Times New Roman"/>
              </a:rPr>
              <a:t>Total </a:t>
            </a:r>
            <a:r>
              <a:rPr sz="1200" dirty="0">
                <a:latin typeface="Times New Roman"/>
                <a:cs typeface="Times New Roman"/>
              </a:rPr>
              <a:t>Subnets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 marL="469900" marR="2503805">
              <a:lnSpc>
                <a:spcPts val="14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Usable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Hosts/Subnet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30 </a:t>
            </a:r>
            <a:r>
              <a:rPr sz="1200" dirty="0">
                <a:latin typeface="Times New Roman"/>
                <a:cs typeface="Times New Roman"/>
              </a:rPr>
              <a:t>Subnet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172.16.10.64/27</a:t>
            </a:r>
            <a:endParaRPr sz="1200">
              <a:latin typeface="Times New Roman"/>
              <a:cs typeface="Times New Roman"/>
            </a:endParaRPr>
          </a:p>
          <a:p>
            <a:pPr marL="469900" marR="1991995">
              <a:lnSpc>
                <a:spcPts val="1400"/>
              </a:lnSpc>
            </a:pPr>
            <a:r>
              <a:rPr sz="1200" spc="-10" dirty="0">
                <a:latin typeface="Times New Roman"/>
                <a:cs typeface="Times New Roman"/>
              </a:rPr>
              <a:t>Network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b="1" spc="-10" dirty="0">
                <a:latin typeface="Times New Roman"/>
                <a:cs typeface="Times New Roman"/>
              </a:rPr>
              <a:t>172.16.10.64 </a:t>
            </a:r>
            <a:r>
              <a:rPr sz="1200" spc="-10" dirty="0">
                <a:latin typeface="Times New Roman"/>
                <a:cs typeface="Times New Roman"/>
              </a:rPr>
              <a:t>Broadcast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 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172.16.10.95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60"/>
              </a:lnSpc>
            </a:pP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172.16.10.95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broadcast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usable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host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(b)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IPv6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200" b="1" spc="-10" dirty="0">
                <a:latin typeface="Times New Roman"/>
                <a:cs typeface="Times New Roman"/>
              </a:rPr>
              <a:t>Given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Address: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spc="-10" dirty="0">
                <a:latin typeface="Times New Roman"/>
                <a:cs typeface="Times New Roman"/>
              </a:rPr>
              <a:t>2001:0db8:0000:0000:0000:ff00:0042:8329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400" b="1" dirty="0">
                <a:latin typeface="Times New Roman"/>
                <a:cs typeface="Times New Roman"/>
              </a:rPr>
              <a:t>Compressed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Form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200" spc="-10" dirty="0">
                <a:latin typeface="Times New Roman"/>
                <a:cs typeface="Times New Roman"/>
              </a:rPr>
              <a:t>2001:db8::ff00:42:8329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400" b="1" dirty="0">
                <a:latin typeface="Times New Roman"/>
                <a:cs typeface="Times New Roman"/>
              </a:rPr>
              <a:t>Expanded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Form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200" spc="-10" dirty="0">
                <a:latin typeface="Times New Roman"/>
                <a:cs typeface="Times New Roman"/>
              </a:rPr>
              <a:t>2001:0db8:0000:0000:0000:ff00:0042:8329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400" b="1" dirty="0">
                <a:latin typeface="Times New Roman"/>
                <a:cs typeface="Times New Roman"/>
              </a:rPr>
              <a:t>Network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Prefix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(/64)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Prefix: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b="1" spc="-10" dirty="0">
                <a:latin typeface="Times New Roman"/>
                <a:cs typeface="Times New Roman"/>
              </a:rPr>
              <a:t>2001:0db8:0000:0000::/64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400" b="1" dirty="0">
                <a:latin typeface="Times New Roman"/>
                <a:cs typeface="Times New Roman"/>
              </a:rPr>
              <a:t>Number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Host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Addresses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094" y="838200"/>
            <a:ext cx="5974715" cy="944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Host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128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− 64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64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200" spc="-20" dirty="0">
                <a:latin typeface="Times New Roman"/>
                <a:cs typeface="Times New Roman"/>
              </a:rPr>
              <a:t>Total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</a:t>
            </a:r>
            <a:r>
              <a:rPr sz="1200" spc="-25" dirty="0">
                <a:latin typeface="Trebuchet MS"/>
                <a:cs typeface="Trebuchet MS"/>
              </a:rPr>
              <a:t>⁶⁴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b="1" spc="-10" dirty="0">
                <a:latin typeface="Times New Roman"/>
                <a:cs typeface="Times New Roman"/>
              </a:rPr>
              <a:t>18,446,744,073,709,551,616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b="1" spc="-10" dirty="0">
                <a:latin typeface="Times New Roman"/>
                <a:cs typeface="Times New Roman"/>
              </a:rPr>
              <a:t>Answer: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20"/>
              </a:lnSpc>
              <a:spcBef>
                <a:spcPts val="1160"/>
              </a:spcBef>
            </a:pPr>
            <a:r>
              <a:rPr sz="1200" spc="-10" dirty="0">
                <a:latin typeface="Times New Roman"/>
                <a:cs typeface="Times New Roman"/>
              </a:rPr>
              <a:t>Compressed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b="1" spc="-10" dirty="0">
                <a:latin typeface="Times New Roman"/>
                <a:cs typeface="Times New Roman"/>
              </a:rPr>
              <a:t>2001:db8::ff00:42:8329</a:t>
            </a:r>
            <a:endParaRPr sz="1200">
              <a:latin typeface="Times New Roman"/>
              <a:cs typeface="Times New Roman"/>
            </a:endParaRPr>
          </a:p>
          <a:p>
            <a:pPr marL="469900" marR="1436370">
              <a:lnSpc>
                <a:spcPts val="140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Expanded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 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2001:0db8:0000:0000:0000:ff00:0042:8329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Prefix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2001:db8:0:0::/64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5"/>
              </a:spcBef>
            </a:pPr>
            <a:r>
              <a:rPr sz="1200" spc="-20" dirty="0">
                <a:latin typeface="Times New Roman"/>
                <a:cs typeface="Times New Roman"/>
              </a:rPr>
              <a:t>Total</a:t>
            </a:r>
            <a:r>
              <a:rPr sz="1200" spc="-10" dirty="0">
                <a:latin typeface="Times New Roman"/>
                <a:cs typeface="Times New Roman"/>
              </a:rPr>
              <a:t> Host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65" dirty="0">
                <a:latin typeface="Times New Roman"/>
                <a:cs typeface="Times New Roman"/>
              </a:rPr>
              <a:t>2</a:t>
            </a:r>
            <a:r>
              <a:rPr sz="1200" b="1" spc="65" dirty="0">
                <a:latin typeface="Trebuchet MS"/>
                <a:cs typeface="Trebuchet MS"/>
              </a:rPr>
              <a:t>⁶⁴</a:t>
            </a:r>
            <a:r>
              <a:rPr sz="1200" b="1" spc="-7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(18,446,744,073,709,551,616)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Times New Roman"/>
              <a:cs typeface="Times New Roman"/>
            </a:endParaRPr>
          </a:p>
          <a:p>
            <a:pPr marL="250825" marR="155575" indent="-223520" algn="just">
              <a:lnSpc>
                <a:spcPct val="154500"/>
              </a:lnSpc>
            </a:pPr>
            <a:r>
              <a:rPr sz="1200" b="1" dirty="0">
                <a:latin typeface="Times New Roman"/>
                <a:cs typeface="Times New Roman"/>
              </a:rPr>
              <a:t>5.</a:t>
            </a:r>
            <a:r>
              <a:rPr sz="1200" b="1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university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conducting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semester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8,000</a:t>
            </a:r>
            <a:r>
              <a:rPr sz="1200" b="1" spc="145" dirty="0">
                <a:latin typeface="Times New Roman"/>
                <a:cs typeface="Times New Roman"/>
              </a:rPr>
              <a:t>  </a:t>
            </a:r>
            <a:r>
              <a:rPr sz="1200" b="1" spc="-10" dirty="0">
                <a:latin typeface="Times New Roman"/>
                <a:cs typeface="Times New Roman"/>
              </a:rPr>
              <a:t>students </a:t>
            </a:r>
            <a:r>
              <a:rPr sz="1200" dirty="0">
                <a:latin typeface="Times New Roman"/>
                <a:cs typeface="Times New Roman"/>
              </a:rPr>
              <a:t>simultaneously.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exactly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10:00</a:t>
            </a:r>
            <a:r>
              <a:rPr sz="1200" b="1" spc="3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AM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begins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transmitting </a:t>
            </a:r>
            <a:r>
              <a:rPr sz="1200" dirty="0">
                <a:latin typeface="Times New Roman"/>
                <a:cs typeface="Times New Roman"/>
              </a:rPr>
              <a:t>encrypted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question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students.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250825" marR="154940" algn="just">
              <a:lnSpc>
                <a:spcPct val="154500"/>
              </a:lnSpc>
            </a:pPr>
            <a:r>
              <a:rPr sz="1200" b="1" dirty="0">
                <a:latin typeface="Times New Roman"/>
                <a:cs typeface="Times New Roman"/>
              </a:rPr>
              <a:t>10</a:t>
            </a:r>
            <a:r>
              <a:rPr sz="1200" b="1" spc="135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Gbps</a:t>
            </a:r>
            <a:r>
              <a:rPr sz="1200" b="1" spc="38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high-</a:t>
            </a:r>
            <a:r>
              <a:rPr sz="1200" b="1" dirty="0">
                <a:latin typeface="Times New Roman"/>
                <a:cs typeface="Times New Roman"/>
              </a:rPr>
              <a:t>speed</a:t>
            </a:r>
            <a:r>
              <a:rPr sz="1200" b="1" spc="3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network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portal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connections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fiber</a:t>
            </a:r>
            <a:r>
              <a:rPr sz="1200" b="1" spc="1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broadband</a:t>
            </a:r>
            <a:r>
              <a:rPr sz="1200" b="1" spc="1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(100</a:t>
            </a:r>
            <a:r>
              <a:rPr sz="1200" b="1" spc="1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Mbps),</a:t>
            </a:r>
            <a:r>
              <a:rPr sz="1200" b="1" spc="1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home</a:t>
            </a:r>
            <a:r>
              <a:rPr sz="1200" b="1" spc="17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Wi-</a:t>
            </a:r>
            <a:r>
              <a:rPr sz="1200" b="1" dirty="0">
                <a:latin typeface="Times New Roman"/>
                <a:cs typeface="Times New Roman"/>
              </a:rPr>
              <a:t>Fi</a:t>
            </a:r>
            <a:r>
              <a:rPr sz="1200" b="1" spc="19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(20 </a:t>
            </a:r>
            <a:r>
              <a:rPr sz="1200" b="1" dirty="0">
                <a:latin typeface="Times New Roman"/>
                <a:cs typeface="Times New Roman"/>
              </a:rPr>
              <a:t>Mbps),</a:t>
            </a:r>
            <a:r>
              <a:rPr sz="1200" b="1" spc="3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3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mobile</a:t>
            </a:r>
            <a:r>
              <a:rPr sz="1200" b="1" spc="3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networks</a:t>
            </a:r>
            <a:r>
              <a:rPr sz="1200" b="1" spc="39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(5–</a:t>
            </a:r>
            <a:r>
              <a:rPr sz="1200" b="1" dirty="0">
                <a:latin typeface="Times New Roman"/>
                <a:cs typeface="Times New Roman"/>
              </a:rPr>
              <a:t>10</a:t>
            </a:r>
            <a:r>
              <a:rPr sz="1200" b="1" spc="3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Mbps)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minutes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examination,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slower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connections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incomplete </a:t>
            </a:r>
            <a:r>
              <a:rPr sz="1200" dirty="0">
                <a:latin typeface="Times New Roman"/>
                <a:cs typeface="Times New Roman"/>
              </a:rPr>
              <a:t>downloads,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repeated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retransmissions,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acknowledgments,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temporary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freezing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portal.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administrators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observe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continues </a:t>
            </a:r>
            <a:r>
              <a:rPr sz="1200" dirty="0">
                <a:latin typeface="Times New Roman"/>
                <a:cs typeface="Times New Roman"/>
              </a:rPr>
              <a:t>transmitting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though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unable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receive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packets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speed.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buffer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overflow, </a:t>
            </a:r>
            <a:r>
              <a:rPr sz="1200" dirty="0">
                <a:latin typeface="Times New Roman"/>
                <a:cs typeface="Times New Roman"/>
              </a:rPr>
              <a:t>unnecessary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retransmissions,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increased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traffic,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delivering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question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papers.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Analyze</a:t>
            </a:r>
            <a:r>
              <a:rPr sz="1200" b="1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above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scenario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networking </a:t>
            </a:r>
            <a:r>
              <a:rPr sz="1200" dirty="0">
                <a:latin typeface="Times New Roman"/>
                <a:cs typeface="Times New Roman"/>
              </a:rPr>
              <a:t>problem.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Explain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mismatch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sender's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transmission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receiver's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capability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20"/>
              </a:lnSpc>
              <a:spcBef>
                <a:spcPts val="695"/>
              </a:spcBef>
            </a:pPr>
            <a:r>
              <a:rPr sz="1200" b="1" dirty="0">
                <a:latin typeface="Times New Roman"/>
                <a:cs typeface="Times New Roman"/>
              </a:rPr>
              <a:t>Primary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Networking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Problem:</a:t>
            </a:r>
            <a:endParaRPr sz="1200">
              <a:latin typeface="Times New Roman"/>
              <a:cs typeface="Times New Roman"/>
            </a:endParaRPr>
          </a:p>
          <a:p>
            <a:pPr marL="12700" marR="185420">
              <a:lnSpc>
                <a:spcPts val="14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Flow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Control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regulate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at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overwhelmed.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00" b="1" spc="-10" dirty="0">
                <a:latin typeface="Times New Roman"/>
                <a:cs typeface="Times New Roman"/>
              </a:rPr>
              <a:t>Explanation:</a:t>
            </a:r>
            <a:endParaRPr sz="1200">
              <a:latin typeface="Times New Roman"/>
              <a:cs typeface="Times New Roman"/>
            </a:endParaRPr>
          </a:p>
          <a:p>
            <a:pPr marL="132715" marR="183515" indent="-120650">
              <a:lnSpc>
                <a:spcPts val="1400"/>
              </a:lnSpc>
              <a:spcBef>
                <a:spcPts val="1240"/>
              </a:spcBef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10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Gbps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encrypted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question </a:t>
            </a:r>
            <a:r>
              <a:rPr sz="1200" dirty="0">
                <a:latin typeface="Times New Roman"/>
                <a:cs typeface="Times New Roman"/>
              </a:rPr>
              <a:t>papers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8,000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students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simultaneously.</a:t>
            </a:r>
            <a:endParaRPr sz="1200">
              <a:latin typeface="Times New Roman"/>
              <a:cs typeface="Times New Roman"/>
            </a:endParaRPr>
          </a:p>
          <a:p>
            <a:pPr marL="132715" marR="5080" indent="-120650">
              <a:lnSpc>
                <a:spcPts val="1400"/>
              </a:lnSpc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connections,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100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Mbps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fiber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20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Mbps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Wi-</a:t>
            </a:r>
            <a:r>
              <a:rPr sz="1200" b="1" dirty="0">
                <a:latin typeface="Times New Roman"/>
                <a:cs typeface="Times New Roman"/>
              </a:rPr>
              <a:t>Fi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5–</a:t>
            </a:r>
            <a:r>
              <a:rPr sz="1200" b="1" spc="-25" dirty="0">
                <a:latin typeface="Times New Roman"/>
                <a:cs typeface="Times New Roman"/>
              </a:rPr>
              <a:t>10 </a:t>
            </a:r>
            <a:r>
              <a:rPr sz="1200" b="1" dirty="0">
                <a:latin typeface="Times New Roman"/>
                <a:cs typeface="Times New Roman"/>
              </a:rPr>
              <a:t>Mbps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mobile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networks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32715" marR="78105" indent="-120650">
              <a:lnSpc>
                <a:spcPts val="1400"/>
              </a:lnSpc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Since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slower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connections,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cannot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quickly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094" y="838200"/>
            <a:ext cx="6009640" cy="338327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32715" marR="53340" indent="-120650">
              <a:lnSpc>
                <a:spcPts val="1400"/>
              </a:lnSpc>
              <a:spcBef>
                <a:spcPts val="180"/>
              </a:spcBef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mismatch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sender's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transmission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receiver's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capability </a:t>
            </a:r>
            <a:r>
              <a:rPr sz="1200" dirty="0">
                <a:latin typeface="Times New Roman"/>
                <a:cs typeface="Times New Roman"/>
              </a:rPr>
              <a:t>causes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receiver's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buffer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overflow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32715" marR="133985" indent="-120650">
              <a:lnSpc>
                <a:spcPts val="1400"/>
              </a:lnSpc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packets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lost,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acknowledgments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delayed,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retransmits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lost </a:t>
            </a:r>
            <a:r>
              <a:rPr sz="1200" spc="-10" dirty="0">
                <a:latin typeface="Times New Roman"/>
                <a:cs typeface="Times New Roman"/>
              </a:rPr>
              <a:t>packets.</a:t>
            </a:r>
            <a:endParaRPr sz="1200">
              <a:latin typeface="Times New Roman"/>
              <a:cs typeface="Times New Roman"/>
            </a:endParaRPr>
          </a:p>
          <a:p>
            <a:pPr marL="132715" marR="78740" indent="-120650">
              <a:lnSpc>
                <a:spcPts val="1400"/>
              </a:lnSpc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unnecessary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retransmissions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traffic,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congestion,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incomplete </a:t>
            </a:r>
            <a:r>
              <a:rPr sz="1200" dirty="0">
                <a:latin typeface="Times New Roman"/>
                <a:cs typeface="Times New Roman"/>
              </a:rPr>
              <a:t>downloads,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temporary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freezing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portal,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delivering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question papers.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</a:pPr>
            <a:r>
              <a:rPr sz="1200" b="1" spc="-10" dirty="0"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  <a:p>
            <a:pPr marL="132715" marR="107314" indent="-120650">
              <a:lnSpc>
                <a:spcPts val="1400"/>
              </a:lnSpc>
              <a:spcBef>
                <a:spcPts val="1240"/>
              </a:spcBef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mechanisms,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Sliding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Window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Protocol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amount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accept.</a:t>
            </a:r>
            <a:endParaRPr sz="1200">
              <a:latin typeface="Times New Roman"/>
              <a:cs typeface="Times New Roman"/>
            </a:endParaRPr>
          </a:p>
          <a:p>
            <a:pPr marL="132715" indent="-120014">
              <a:lnSpc>
                <a:spcPts val="1340"/>
              </a:lnSpc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adjusts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transmission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receiver's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buffer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space.</a:t>
            </a:r>
            <a:endParaRPr sz="1200">
              <a:latin typeface="Times New Roman"/>
              <a:cs typeface="Times New Roman"/>
            </a:endParaRPr>
          </a:p>
          <a:p>
            <a:pPr marL="132715" marR="262255" indent="-120650">
              <a:lnSpc>
                <a:spcPts val="1400"/>
              </a:lnSpc>
              <a:spcBef>
                <a:spcPts val="60"/>
              </a:spcBef>
              <a:buChar char="•"/>
              <a:tabLst>
                <a:tab pos="132715" algn="l"/>
              </a:tabLst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buffer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overflow,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retransmissions,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network </a:t>
            </a:r>
            <a:r>
              <a:rPr sz="1200" spc="-20" dirty="0">
                <a:latin typeface="Times New Roman"/>
                <a:cs typeface="Times New Roman"/>
              </a:rPr>
              <a:t>efficiency,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0"/>
              </a:lnSpc>
            </a:pPr>
            <a:r>
              <a:rPr sz="1200" b="1" spc="-10" dirty="0">
                <a:latin typeface="Times New Roman"/>
                <a:cs typeface="Times New Roman"/>
              </a:rPr>
              <a:t>Conclusion: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4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arises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implementing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flow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control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balance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transmission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receiver's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smooth,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examination.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39019"/>
            <a:ext cx="2201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RUBRICS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CALCULATION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6464" y="1236980"/>
          <a:ext cx="5956300" cy="59728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85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Weightage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 marR="211454">
                        <a:lnSpc>
                          <a:spcPct val="104200"/>
                        </a:lnSpc>
                        <a:spcBef>
                          <a:spcPts val="3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(Exemplary)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127635">
                        <a:lnSpc>
                          <a:spcPct val="104200"/>
                        </a:lnSpc>
                        <a:spcBef>
                          <a:spcPts val="3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(Proficient)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119380">
                        <a:lnSpc>
                          <a:spcPct val="104200"/>
                        </a:lnSpc>
                        <a:spcBef>
                          <a:spcPts val="3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(Developing)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 marR="89535">
                        <a:lnSpc>
                          <a:spcPct val="104200"/>
                        </a:lnSpc>
                        <a:spcBef>
                          <a:spcPts val="3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(Beginning)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2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670" marR="139700" indent="-635" algn="ctr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Understandi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20%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 marR="175260" indent="-635" algn="ctr">
                        <a:lnSpc>
                          <a:spcPts val="1250"/>
                        </a:lnSpc>
                        <a:spcBef>
                          <a:spcPts val="38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Clearly interprets problem,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identifies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all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parameters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requirement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accurately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3985" marR="112395" indent="-635" algn="just">
                        <a:lnSpc>
                          <a:spcPts val="1200"/>
                        </a:lnSpc>
                        <a:tabLst>
                          <a:tab pos="74676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Understan 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s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33985" marR="99060" algn="just">
                        <a:lnSpc>
                          <a:spcPts val="1200"/>
                        </a:lnSpc>
                      </a:pPr>
                      <a:r>
                        <a:rPr sz="1100" spc="18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100" spc="3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minor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gaps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73355" marR="156210" indent="-1270" algn="ctr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Partial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understandi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ng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57480" marR="139065" algn="ctr">
                        <a:lnSpc>
                          <a:spcPts val="12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;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misses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key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elements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9065" marR="118745" indent="-635" algn="ctr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Misinterpre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unable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understand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problem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6385" marR="183515" indent="53975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Method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Selection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20%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 marR="140970" algn="ctr">
                        <a:lnSpc>
                          <a:spcPts val="1250"/>
                        </a:lnSpc>
                        <a:spcBef>
                          <a:spcPts val="38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Selects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most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appropriate method/ formul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strong justification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 marR="148590" indent="2540" algn="ctr">
                        <a:lnSpc>
                          <a:spcPts val="12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Selects correct method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minor errors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 marR="149225" algn="ctr">
                        <a:lnSpc>
                          <a:spcPts val="1200"/>
                        </a:lnSpc>
                        <a:spcBef>
                          <a:spcPts val="42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Inappropriat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1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partially correct method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89230" marR="167640" algn="ctr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Unable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select method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1310" marR="353060" indent="-635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Soluti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on Proce ss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25%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965" marR="213995" algn="ctr">
                        <a:lnSpc>
                          <a:spcPts val="1250"/>
                        </a:lnSpc>
                        <a:spcBef>
                          <a:spcPts val="38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Logical, systematic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steps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correct approach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throughout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 marR="158750" indent="8255" algn="ctr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Mostly correct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steps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minor mistakes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0170" marR="73025" algn="ctr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Disorganized steps;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multiple errors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8925" marR="312420" indent="-15875">
                        <a:lnSpc>
                          <a:spcPts val="12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No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clear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proce ss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28600" marR="203200" indent="-19685">
                        <a:lnSpc>
                          <a:spcPts val="12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Accuracy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of Calculatio 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20%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055" marR="180340" indent="-635" algn="ctr">
                        <a:lnSpc>
                          <a:spcPts val="1250"/>
                        </a:lnSpc>
                        <a:spcBef>
                          <a:spcPts val="3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All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calculations accurate;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correct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final answer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104" marR="191135" indent="-1270" algn="ctr">
                        <a:lnSpc>
                          <a:spcPts val="12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Minor calculati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errors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 marR="145415" indent="-635" algn="ctr">
                        <a:lnSpc>
                          <a:spcPts val="1250"/>
                        </a:lnSpc>
                        <a:spcBef>
                          <a:spcPts val="38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Frequent errors; incorrect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final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answer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8275" marR="61594" indent="112395">
                        <a:lnSpc>
                          <a:spcPts val="12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valid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calculations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1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3525" marR="65405" indent="-100965">
                        <a:lnSpc>
                          <a:spcPts val="120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Interpretation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Results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15%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182880" algn="ctr">
                        <a:lnSpc>
                          <a:spcPts val="1260"/>
                        </a:lnSpc>
                        <a:spcBef>
                          <a:spcPts val="45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Clearly interprets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results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units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engineering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relevance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142875" indent="-635" algn="ctr">
                        <a:lnSpc>
                          <a:spcPts val="12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Basic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interpretati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1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minor omissions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08915" marR="191770" algn="ctr">
                        <a:lnSpc>
                          <a:spcPts val="12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unclear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interpretati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0020" marR="139700" indent="-3175" algn="ctr">
                        <a:lnSpc>
                          <a:spcPts val="12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No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interpretati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1981</Words>
  <Application>Microsoft Office PowerPoint</Application>
  <PresentationFormat>Custom</PresentationFormat>
  <Paragraphs>241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CSA0706_CO2_AT1_ANALYTICAL PROBLEM.docx</dc:title>
  <cp:lastModifiedBy>harshit pasupuleti</cp:lastModifiedBy>
  <cp:revision>2</cp:revision>
  <dcterms:created xsi:type="dcterms:W3CDTF">2026-07-25T03:57:32Z</dcterms:created>
  <dcterms:modified xsi:type="dcterms:W3CDTF">2026-07-25T04:48:59Z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2026-07-25T00:00:00Z</vt:filetime>
  </property>
  <property fmtid="{D5CDD505-2E9C-101B-9397-08002B2CF9AE}" pid="4" name="Creator">
    <vt:lpwstr>Pages</vt:lpwstr>
  </property>
  <property fmtid="{D5CDD505-2E9C-101B-9397-08002B2CF9AE}" pid="5" name="LastSaved">
    <vt:filetime>2026-07-25T00:00:00Z</vt:filetime>
  </property>
  <property fmtid="{D5CDD505-2E9C-101B-9397-08002B2CF9AE}" pid="6" name="Producer">
    <vt:lpwstr>macOS Version 26.4.1 (Build 25E253) Quartz PDFContext</vt:lpwstr>
  </property>
</Properties>
</file>